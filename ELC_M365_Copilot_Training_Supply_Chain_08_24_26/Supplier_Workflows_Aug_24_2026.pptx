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68" r:id="rId15"/>
    <p:sldId id="278" r:id="rId16"/>
    <p:sldId id="269" r:id="rId17"/>
    <p:sldId id="279" r:id="rId18"/>
    <p:sldId id="270" r:id="rId19"/>
    <p:sldId id="280" r:id="rId20"/>
    <p:sldId id="271" r:id="rId21"/>
    <p:sldId id="281" r:id="rId22"/>
    <p:sldId id="272" r:id="rId23"/>
    <p:sldId id="282" r:id="rId24"/>
    <p:sldId id="273" r:id="rId25"/>
    <p:sldId id="283" r:id="rId26"/>
    <p:sldId id="274" r:id="rId27"/>
    <p:sldId id="275" r:id="rId28"/>
    <p:sldId id="276"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683563-D3E5-44FA-B78E-8094E7DC9776}" v="1" dt="2026-08-18T23:12:10.6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Rea" userId="d8639818-8097-4ceb-a926-1c095acca351" providerId="ADAL" clId="{C15E03E2-7D12-4832-BF7D-E2BDD5B62504}"/>
    <pc:docChg chg="custSel modSld modNotesMaster">
      <pc:chgData name="John Rea" userId="d8639818-8097-4ceb-a926-1c095acca351" providerId="ADAL" clId="{C15E03E2-7D12-4832-BF7D-E2BDD5B62504}" dt="2026-08-19T00:58:35.653" v="70" actId="478"/>
      <pc:docMkLst>
        <pc:docMk/>
      </pc:docMkLst>
      <pc:sldChg chg="delSp modSp mod modNotes">
        <pc:chgData name="John Rea" userId="d8639818-8097-4ceb-a926-1c095acca351" providerId="ADAL" clId="{C15E03E2-7D12-4832-BF7D-E2BDD5B62504}" dt="2026-08-18T23:16:20.630" v="45" actId="26606"/>
        <pc:sldMkLst>
          <pc:docMk/>
          <pc:sldMk cId="0" sldId="256"/>
        </pc:sldMkLst>
        <pc:spChg chg="mod">
          <ac:chgData name="John Rea" userId="d8639818-8097-4ceb-a926-1c095acca351" providerId="ADAL" clId="{C15E03E2-7D12-4832-BF7D-E2BDD5B62504}" dt="2026-08-18T23:12:10.728" v="2" actId="27636"/>
          <ac:spMkLst>
            <pc:docMk/>
            <pc:sldMk cId="0" sldId="256"/>
            <ac:spMk id="5" creationId="{00000000-0000-0000-0000-000000000000}"/>
          </ac:spMkLst>
        </pc:spChg>
        <pc:spChg chg="del">
          <ac:chgData name="John Rea" userId="d8639818-8097-4ceb-a926-1c095acca351" providerId="ADAL" clId="{C15E03E2-7D12-4832-BF7D-E2BDD5B62504}" dt="2026-08-18T23:11:51.801" v="0" actId="478"/>
          <ac:spMkLst>
            <pc:docMk/>
            <pc:sldMk cId="0" sldId="256"/>
            <ac:spMk id="7" creationId="{00000000-0000-0000-0000-000000000000}"/>
          </ac:spMkLst>
        </pc:spChg>
        <pc:spChg chg="del">
          <ac:chgData name="John Rea" userId="d8639818-8097-4ceb-a926-1c095acca351" providerId="ADAL" clId="{C15E03E2-7D12-4832-BF7D-E2BDD5B62504}" dt="2026-08-18T23:11:54.349" v="1" actId="478"/>
          <ac:spMkLst>
            <pc:docMk/>
            <pc:sldMk cId="0" sldId="256"/>
            <ac:spMk id="8" creationId="{00000000-0000-0000-0000-000000000000}"/>
          </ac:spMkLst>
        </pc:spChg>
        <pc:spChg chg="mod">
          <ac:chgData name="John Rea" userId="d8639818-8097-4ceb-a926-1c095acca351" providerId="ADAL" clId="{C15E03E2-7D12-4832-BF7D-E2BDD5B62504}" dt="2026-08-18T23:12:58.146" v="40" actId="113"/>
          <ac:spMkLst>
            <pc:docMk/>
            <pc:sldMk cId="0" sldId="256"/>
            <ac:spMk id="9" creationId="{00000000-0000-0000-0000-000000000000}"/>
          </ac:spMkLst>
        </pc:spChg>
      </pc:sldChg>
      <pc:sldChg chg="delSp modSp mod">
        <pc:chgData name="John Rea" userId="d8639818-8097-4ceb-a926-1c095acca351" providerId="ADAL" clId="{C15E03E2-7D12-4832-BF7D-E2BDD5B62504}" dt="2026-08-18T23:16:20.630" v="45" actId="26606"/>
        <pc:sldMkLst>
          <pc:docMk/>
          <pc:sldMk cId="0" sldId="257"/>
        </pc:sldMkLst>
        <pc:spChg chg="del">
          <ac:chgData name="John Rea" userId="d8639818-8097-4ceb-a926-1c095acca351" providerId="ADAL" clId="{C15E03E2-7D12-4832-BF7D-E2BDD5B62504}" dt="2026-08-18T23:13:13.154" v="41" actId="478"/>
          <ac:spMkLst>
            <pc:docMk/>
            <pc:sldMk cId="0" sldId="257"/>
            <ac:spMk id="6" creationId="{00000000-0000-0000-0000-000000000000}"/>
          </ac:spMkLst>
        </pc:spChg>
        <pc:spChg chg="del">
          <ac:chgData name="John Rea" userId="d8639818-8097-4ceb-a926-1c095acca351" providerId="ADAL" clId="{C15E03E2-7D12-4832-BF7D-E2BDD5B62504}" dt="2026-08-18T23:13:15.260" v="42" actId="478"/>
          <ac:spMkLst>
            <pc:docMk/>
            <pc:sldMk cId="0" sldId="257"/>
            <ac:spMk id="10" creationId="{00000000-0000-0000-0000-000000000000}"/>
          </ac:spMkLst>
        </pc:spChg>
        <pc:spChg chg="del">
          <ac:chgData name="John Rea" userId="d8639818-8097-4ceb-a926-1c095acca351" providerId="ADAL" clId="{C15E03E2-7D12-4832-BF7D-E2BDD5B62504}" dt="2026-08-18T23:13:16.679" v="43" actId="478"/>
          <ac:spMkLst>
            <pc:docMk/>
            <pc:sldMk cId="0" sldId="257"/>
            <ac:spMk id="14" creationId="{00000000-0000-0000-0000-000000000000}"/>
          </ac:spMkLst>
        </pc:spChg>
        <pc:spChg chg="del">
          <ac:chgData name="John Rea" userId="d8639818-8097-4ceb-a926-1c095acca351" providerId="ADAL" clId="{C15E03E2-7D12-4832-BF7D-E2BDD5B62504}" dt="2026-08-18T23:13:18.542" v="44" actId="478"/>
          <ac:spMkLst>
            <pc:docMk/>
            <pc:sldMk cId="0" sldId="257"/>
            <ac:spMk id="18" creationId="{00000000-0000-0000-0000-000000000000}"/>
          </ac:spMkLst>
        </pc:spChg>
        <pc:spChg chg="mod">
          <ac:chgData name="John Rea" userId="d8639818-8097-4ceb-a926-1c095acca351" providerId="ADAL" clId="{C15E03E2-7D12-4832-BF7D-E2BDD5B62504}" dt="2026-08-18T23:16:20.630" v="45" actId="26606"/>
          <ac:spMkLst>
            <pc:docMk/>
            <pc:sldMk cId="0" sldId="257"/>
            <ac:spMk id="23"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58"/>
        </pc:sldMkLst>
        <pc:spChg chg="mod">
          <ac:chgData name="John Rea" userId="d8639818-8097-4ceb-a926-1c095acca351" providerId="ADAL" clId="{C15E03E2-7D12-4832-BF7D-E2BDD5B62504}" dt="2026-08-18T23:16:20.630" v="45" actId="26606"/>
          <ac:spMkLst>
            <pc:docMk/>
            <pc:sldMk cId="0" sldId="258"/>
            <ac:spMk id="2" creationId="{00000000-0000-0000-0000-000000000000}"/>
          </ac:spMkLst>
        </pc:spChg>
        <pc:spChg chg="mod">
          <ac:chgData name="John Rea" userId="d8639818-8097-4ceb-a926-1c095acca351" providerId="ADAL" clId="{C15E03E2-7D12-4832-BF7D-E2BDD5B62504}" dt="2026-08-18T23:16:20.630" v="45" actId="26606"/>
          <ac:spMkLst>
            <pc:docMk/>
            <pc:sldMk cId="0" sldId="258"/>
            <ac:spMk id="20"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59"/>
        </pc:sldMkLst>
        <pc:spChg chg="mod">
          <ac:chgData name="John Rea" userId="d8639818-8097-4ceb-a926-1c095acca351" providerId="ADAL" clId="{C15E03E2-7D12-4832-BF7D-E2BDD5B62504}" dt="2026-08-18T23:16:20.630" v="45" actId="26606"/>
          <ac:spMkLst>
            <pc:docMk/>
            <pc:sldMk cId="0" sldId="259"/>
            <ac:spMk id="2" creationId="{00000000-0000-0000-0000-000000000000}"/>
          </ac:spMkLst>
        </pc:spChg>
        <pc:spChg chg="mod">
          <ac:chgData name="John Rea" userId="d8639818-8097-4ceb-a926-1c095acca351" providerId="ADAL" clId="{C15E03E2-7D12-4832-BF7D-E2BDD5B62504}" dt="2026-08-18T23:16:20.630" v="45" actId="26606"/>
          <ac:spMkLst>
            <pc:docMk/>
            <pc:sldMk cId="0" sldId="259"/>
            <ac:spMk id="20"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0"/>
        </pc:sldMkLst>
        <pc:spChg chg="mod">
          <ac:chgData name="John Rea" userId="d8639818-8097-4ceb-a926-1c095acca351" providerId="ADAL" clId="{C15E03E2-7D12-4832-BF7D-E2BDD5B62504}" dt="2026-08-18T23:16:20.630" v="45" actId="26606"/>
          <ac:spMkLst>
            <pc:docMk/>
            <pc:sldMk cId="0" sldId="260"/>
            <ac:spMk id="2" creationId="{00000000-0000-0000-0000-000000000000}"/>
          </ac:spMkLst>
        </pc:spChg>
        <pc:spChg chg="mod">
          <ac:chgData name="John Rea" userId="d8639818-8097-4ceb-a926-1c095acca351" providerId="ADAL" clId="{C15E03E2-7D12-4832-BF7D-E2BDD5B62504}" dt="2026-08-18T23:16:20.630" v="45" actId="26606"/>
          <ac:spMkLst>
            <pc:docMk/>
            <pc:sldMk cId="0" sldId="260"/>
            <ac:spMk id="20" creationId="{00000000-0000-0000-0000-000000000000}"/>
          </ac:spMkLst>
        </pc:spChg>
      </pc:sldChg>
      <pc:sldChg chg="modSp mod modTransition modNotes">
        <pc:chgData name="John Rea" userId="d8639818-8097-4ceb-a926-1c095acca351" providerId="ADAL" clId="{C15E03E2-7D12-4832-BF7D-E2BDD5B62504}" dt="2026-08-19T00:14:59.139" v="49" actId="26606"/>
        <pc:sldMkLst>
          <pc:docMk/>
          <pc:sldMk cId="0" sldId="261"/>
        </pc:sldMkLst>
        <pc:spChg chg="mod">
          <ac:chgData name="John Rea" userId="d8639818-8097-4ceb-a926-1c095acca351" providerId="ADAL" clId="{C15E03E2-7D12-4832-BF7D-E2BDD5B62504}" dt="2026-08-18T23:16:20.630" v="45" actId="26606"/>
          <ac:spMkLst>
            <pc:docMk/>
            <pc:sldMk cId="0" sldId="261"/>
            <ac:spMk id="4" creationId="{00000000-0000-0000-0000-000000000000}"/>
          </ac:spMkLst>
        </pc:spChg>
        <pc:spChg chg="mod">
          <ac:chgData name="John Rea" userId="d8639818-8097-4ceb-a926-1c095acca351" providerId="ADAL" clId="{C15E03E2-7D12-4832-BF7D-E2BDD5B62504}" dt="2026-08-18T23:16:20.630" v="45" actId="26606"/>
          <ac:spMkLst>
            <pc:docMk/>
            <pc:sldMk cId="0" sldId="261"/>
            <ac:spMk id="20"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2"/>
        </pc:sldMkLst>
        <pc:spChg chg="mod">
          <ac:chgData name="John Rea" userId="d8639818-8097-4ceb-a926-1c095acca351" providerId="ADAL" clId="{C15E03E2-7D12-4832-BF7D-E2BDD5B62504}" dt="2026-08-18T23:16:20.630" v="45" actId="26606"/>
          <ac:spMkLst>
            <pc:docMk/>
            <pc:sldMk cId="0" sldId="262"/>
            <ac:spMk id="31"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3"/>
        </pc:sldMkLst>
        <pc:spChg chg="mod">
          <ac:chgData name="John Rea" userId="d8639818-8097-4ceb-a926-1c095acca351" providerId="ADAL" clId="{C15E03E2-7D12-4832-BF7D-E2BDD5B62504}" dt="2026-08-18T23:16:20.630" v="45" actId="26606"/>
          <ac:spMkLst>
            <pc:docMk/>
            <pc:sldMk cId="0" sldId="263"/>
            <ac:spMk id="31"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4"/>
        </pc:sldMkLst>
        <pc:spChg chg="mod">
          <ac:chgData name="John Rea" userId="d8639818-8097-4ceb-a926-1c095acca351" providerId="ADAL" clId="{C15E03E2-7D12-4832-BF7D-E2BDD5B62504}" dt="2026-08-18T23:16:20.630" v="45" actId="26606"/>
          <ac:spMkLst>
            <pc:docMk/>
            <pc:sldMk cId="0" sldId="264"/>
            <ac:spMk id="31"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5"/>
        </pc:sldMkLst>
        <pc:spChg chg="mod">
          <ac:chgData name="John Rea" userId="d8639818-8097-4ceb-a926-1c095acca351" providerId="ADAL" clId="{C15E03E2-7D12-4832-BF7D-E2BDD5B62504}" dt="2026-08-18T23:16:20.630" v="45" actId="26606"/>
          <ac:spMkLst>
            <pc:docMk/>
            <pc:sldMk cId="0" sldId="265"/>
            <ac:spMk id="31"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6"/>
        </pc:sldMkLst>
        <pc:spChg chg="mod">
          <ac:chgData name="John Rea" userId="d8639818-8097-4ceb-a926-1c095acca351" providerId="ADAL" clId="{C15E03E2-7D12-4832-BF7D-E2BDD5B62504}" dt="2026-08-18T23:16:20.630" v="45" actId="26606"/>
          <ac:spMkLst>
            <pc:docMk/>
            <pc:sldMk cId="0" sldId="266"/>
            <ac:spMk id="35"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7"/>
        </pc:sldMkLst>
        <pc:spChg chg="mod">
          <ac:chgData name="John Rea" userId="d8639818-8097-4ceb-a926-1c095acca351" providerId="ADAL" clId="{C15E03E2-7D12-4832-BF7D-E2BDD5B62504}" dt="2026-08-18T23:16:20.630" v="45" actId="26606"/>
          <ac:spMkLst>
            <pc:docMk/>
            <pc:sldMk cId="0" sldId="267"/>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8"/>
        </pc:sldMkLst>
        <pc:spChg chg="mod">
          <ac:chgData name="John Rea" userId="d8639818-8097-4ceb-a926-1c095acca351" providerId="ADAL" clId="{C15E03E2-7D12-4832-BF7D-E2BDD5B62504}" dt="2026-08-18T23:16:20.630" v="45" actId="26606"/>
          <ac:spMkLst>
            <pc:docMk/>
            <pc:sldMk cId="0" sldId="268"/>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69"/>
        </pc:sldMkLst>
        <pc:spChg chg="mod">
          <ac:chgData name="John Rea" userId="d8639818-8097-4ceb-a926-1c095acca351" providerId="ADAL" clId="{C15E03E2-7D12-4832-BF7D-E2BDD5B62504}" dt="2026-08-18T23:16:20.630" v="45" actId="26606"/>
          <ac:spMkLst>
            <pc:docMk/>
            <pc:sldMk cId="0" sldId="269"/>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0"/>
        </pc:sldMkLst>
        <pc:spChg chg="mod">
          <ac:chgData name="John Rea" userId="d8639818-8097-4ceb-a926-1c095acca351" providerId="ADAL" clId="{C15E03E2-7D12-4832-BF7D-E2BDD5B62504}" dt="2026-08-18T23:16:20.630" v="45" actId="26606"/>
          <ac:spMkLst>
            <pc:docMk/>
            <pc:sldMk cId="0" sldId="270"/>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1"/>
        </pc:sldMkLst>
        <pc:spChg chg="mod">
          <ac:chgData name="John Rea" userId="d8639818-8097-4ceb-a926-1c095acca351" providerId="ADAL" clId="{C15E03E2-7D12-4832-BF7D-E2BDD5B62504}" dt="2026-08-18T23:12:10.753" v="3" actId="27636"/>
          <ac:spMkLst>
            <pc:docMk/>
            <pc:sldMk cId="0" sldId="271"/>
            <ac:spMk id="12" creationId="{00000000-0000-0000-0000-000000000000}"/>
          </ac:spMkLst>
        </pc:spChg>
        <pc:spChg chg="mod">
          <ac:chgData name="John Rea" userId="d8639818-8097-4ceb-a926-1c095acca351" providerId="ADAL" clId="{C15E03E2-7D12-4832-BF7D-E2BDD5B62504}" dt="2026-08-18T23:16:20.630" v="45" actId="26606"/>
          <ac:spMkLst>
            <pc:docMk/>
            <pc:sldMk cId="0" sldId="271"/>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2"/>
        </pc:sldMkLst>
        <pc:spChg chg="mod">
          <ac:chgData name="John Rea" userId="d8639818-8097-4ceb-a926-1c095acca351" providerId="ADAL" clId="{C15E03E2-7D12-4832-BF7D-E2BDD5B62504}" dt="2026-08-18T23:16:20.630" v="45" actId="26606"/>
          <ac:spMkLst>
            <pc:docMk/>
            <pc:sldMk cId="0" sldId="272"/>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3"/>
        </pc:sldMkLst>
        <pc:spChg chg="mod">
          <ac:chgData name="John Rea" userId="d8639818-8097-4ceb-a926-1c095acca351" providerId="ADAL" clId="{C15E03E2-7D12-4832-BF7D-E2BDD5B62504}" dt="2026-08-18T23:16:20.630" v="45" actId="26606"/>
          <ac:spMkLst>
            <pc:docMk/>
            <pc:sldMk cId="0" sldId="273"/>
            <ac:spMk id="27"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4"/>
        </pc:sldMkLst>
        <pc:spChg chg="mod">
          <ac:chgData name="John Rea" userId="d8639818-8097-4ceb-a926-1c095acca351" providerId="ADAL" clId="{C15E03E2-7D12-4832-BF7D-E2BDD5B62504}" dt="2026-08-18T23:16:20.630" v="45" actId="26606"/>
          <ac:spMkLst>
            <pc:docMk/>
            <pc:sldMk cId="0" sldId="274"/>
            <ac:spMk id="2" creationId="{00000000-0000-0000-0000-000000000000}"/>
          </ac:spMkLst>
        </pc:spChg>
      </pc:sldChg>
      <pc:sldChg chg="modSp mod">
        <pc:chgData name="John Rea" userId="d8639818-8097-4ceb-a926-1c095acca351" providerId="ADAL" clId="{C15E03E2-7D12-4832-BF7D-E2BDD5B62504}" dt="2026-08-18T23:16:20.630" v="45" actId="26606"/>
        <pc:sldMkLst>
          <pc:docMk/>
          <pc:sldMk cId="0" sldId="275"/>
        </pc:sldMkLst>
        <pc:spChg chg="mod">
          <ac:chgData name="John Rea" userId="d8639818-8097-4ceb-a926-1c095acca351" providerId="ADAL" clId="{C15E03E2-7D12-4832-BF7D-E2BDD5B62504}" dt="2026-08-18T23:16:20.630" v="45" actId="26606"/>
          <ac:spMkLst>
            <pc:docMk/>
            <pc:sldMk cId="0" sldId="275"/>
            <ac:spMk id="4" creationId="{00000000-0000-0000-0000-000000000000}"/>
          </ac:spMkLst>
        </pc:spChg>
        <pc:spChg chg="mod">
          <ac:chgData name="John Rea" userId="d8639818-8097-4ceb-a926-1c095acca351" providerId="ADAL" clId="{C15E03E2-7D12-4832-BF7D-E2BDD5B62504}" dt="2026-08-18T23:16:20.630" v="45" actId="26606"/>
          <ac:spMkLst>
            <pc:docMk/>
            <pc:sldMk cId="0" sldId="275"/>
            <ac:spMk id="13" creationId="{00000000-0000-0000-0000-000000000000}"/>
          </ac:spMkLst>
        </pc:spChg>
      </pc:sldChg>
      <pc:sldChg chg="delSp modSp mod">
        <pc:chgData name="John Rea" userId="d8639818-8097-4ceb-a926-1c095acca351" providerId="ADAL" clId="{C15E03E2-7D12-4832-BF7D-E2BDD5B62504}" dt="2026-08-19T00:58:35.653" v="70" actId="478"/>
        <pc:sldMkLst>
          <pc:docMk/>
          <pc:sldMk cId="0" sldId="277"/>
        </pc:sldMkLst>
        <pc:spChg chg="del">
          <ac:chgData name="John Rea" userId="d8639818-8097-4ceb-a926-1c095acca351" providerId="ADAL" clId="{C15E03E2-7D12-4832-BF7D-E2BDD5B62504}" dt="2026-08-19T00:58:35.653" v="70" actId="478"/>
          <ac:spMkLst>
            <pc:docMk/>
            <pc:sldMk cId="0" sldId="277"/>
            <ac:spMk id="16" creationId="{00000000-0000-0000-0000-000000000000}"/>
          </ac:spMkLst>
        </pc:spChg>
        <pc:spChg chg="del">
          <ac:chgData name="John Rea" userId="d8639818-8097-4ceb-a926-1c095acca351" providerId="ADAL" clId="{C15E03E2-7D12-4832-BF7D-E2BDD5B62504}" dt="2026-08-19T00:58:34.112" v="69" actId="478"/>
          <ac:spMkLst>
            <pc:docMk/>
            <pc:sldMk cId="0" sldId="277"/>
            <ac:spMk id="17" creationId="{00000000-0000-0000-0000-000000000000}"/>
          </ac:spMkLst>
        </pc:spChg>
        <pc:spChg chg="del">
          <ac:chgData name="John Rea" userId="d8639818-8097-4ceb-a926-1c095acca351" providerId="ADAL" clId="{C15E03E2-7D12-4832-BF7D-E2BDD5B62504}" dt="2026-08-19T00:58:32.042" v="68" actId="478"/>
          <ac:spMkLst>
            <pc:docMk/>
            <pc:sldMk cId="0" sldId="277"/>
            <ac:spMk id="18" creationId="{00000000-0000-0000-0000-000000000000}"/>
          </ac:spMkLst>
        </pc:spChg>
        <pc:spChg chg="mod">
          <ac:chgData name="John Rea" userId="d8639818-8097-4ceb-a926-1c095acca351" providerId="ADAL" clId="{C15E03E2-7D12-4832-BF7D-E2BDD5B62504}" dt="2026-08-18T23:16:20.630" v="45" actId="26606"/>
          <ac:spMkLst>
            <pc:docMk/>
            <pc:sldMk cId="0" sldId="277"/>
            <ac:spMk id="28" creationId="{00000000-0000-0000-0000-000000000000}"/>
          </ac:spMkLst>
        </pc:spChg>
      </pc:sldChg>
      <pc:sldChg chg="delSp modSp mod">
        <pc:chgData name="John Rea" userId="d8639818-8097-4ceb-a926-1c095acca351" providerId="ADAL" clId="{C15E03E2-7D12-4832-BF7D-E2BDD5B62504}" dt="2026-08-19T00:58:27.381" v="67" actId="478"/>
        <pc:sldMkLst>
          <pc:docMk/>
          <pc:sldMk cId="0" sldId="278"/>
        </pc:sldMkLst>
        <pc:spChg chg="del">
          <ac:chgData name="John Rea" userId="d8639818-8097-4ceb-a926-1c095acca351" providerId="ADAL" clId="{C15E03E2-7D12-4832-BF7D-E2BDD5B62504}" dt="2026-08-19T00:58:27.381" v="67" actId="478"/>
          <ac:spMkLst>
            <pc:docMk/>
            <pc:sldMk cId="0" sldId="278"/>
            <ac:spMk id="16" creationId="{00000000-0000-0000-0000-000000000000}"/>
          </ac:spMkLst>
        </pc:spChg>
        <pc:spChg chg="del">
          <ac:chgData name="John Rea" userId="d8639818-8097-4ceb-a926-1c095acca351" providerId="ADAL" clId="{C15E03E2-7D12-4832-BF7D-E2BDD5B62504}" dt="2026-08-19T00:58:25.970" v="66" actId="478"/>
          <ac:spMkLst>
            <pc:docMk/>
            <pc:sldMk cId="0" sldId="278"/>
            <ac:spMk id="17" creationId="{00000000-0000-0000-0000-000000000000}"/>
          </ac:spMkLst>
        </pc:spChg>
        <pc:spChg chg="del">
          <ac:chgData name="John Rea" userId="d8639818-8097-4ceb-a926-1c095acca351" providerId="ADAL" clId="{C15E03E2-7D12-4832-BF7D-E2BDD5B62504}" dt="2026-08-19T00:58:23.870" v="65" actId="478"/>
          <ac:spMkLst>
            <pc:docMk/>
            <pc:sldMk cId="0" sldId="278"/>
            <ac:spMk id="18" creationId="{00000000-0000-0000-0000-000000000000}"/>
          </ac:spMkLst>
        </pc:spChg>
        <pc:spChg chg="mod">
          <ac:chgData name="John Rea" userId="d8639818-8097-4ceb-a926-1c095acca351" providerId="ADAL" clId="{C15E03E2-7D12-4832-BF7D-E2BDD5B62504}" dt="2026-08-18T23:16:20.630" v="45" actId="26606"/>
          <ac:spMkLst>
            <pc:docMk/>
            <pc:sldMk cId="0" sldId="278"/>
            <ac:spMk id="28" creationId="{00000000-0000-0000-0000-000000000000}"/>
          </ac:spMkLst>
        </pc:spChg>
      </pc:sldChg>
      <pc:sldChg chg="delSp modSp mod">
        <pc:chgData name="John Rea" userId="d8639818-8097-4ceb-a926-1c095acca351" providerId="ADAL" clId="{C15E03E2-7D12-4832-BF7D-E2BDD5B62504}" dt="2026-08-19T00:58:18.388" v="64" actId="478"/>
        <pc:sldMkLst>
          <pc:docMk/>
          <pc:sldMk cId="0" sldId="279"/>
        </pc:sldMkLst>
        <pc:spChg chg="del">
          <ac:chgData name="John Rea" userId="d8639818-8097-4ceb-a926-1c095acca351" providerId="ADAL" clId="{C15E03E2-7D12-4832-BF7D-E2BDD5B62504}" dt="2026-08-19T00:58:15.374" v="63" actId="478"/>
          <ac:spMkLst>
            <pc:docMk/>
            <pc:sldMk cId="0" sldId="279"/>
            <ac:spMk id="16" creationId="{00000000-0000-0000-0000-000000000000}"/>
          </ac:spMkLst>
        </pc:spChg>
        <pc:spChg chg="del">
          <ac:chgData name="John Rea" userId="d8639818-8097-4ceb-a926-1c095acca351" providerId="ADAL" clId="{C15E03E2-7D12-4832-BF7D-E2BDD5B62504}" dt="2026-08-19T00:58:18.388" v="64" actId="478"/>
          <ac:spMkLst>
            <pc:docMk/>
            <pc:sldMk cId="0" sldId="279"/>
            <ac:spMk id="17" creationId="{00000000-0000-0000-0000-000000000000}"/>
          </ac:spMkLst>
        </pc:spChg>
        <pc:spChg chg="del">
          <ac:chgData name="John Rea" userId="d8639818-8097-4ceb-a926-1c095acca351" providerId="ADAL" clId="{C15E03E2-7D12-4832-BF7D-E2BDD5B62504}" dt="2026-08-19T00:58:13.861" v="62" actId="478"/>
          <ac:spMkLst>
            <pc:docMk/>
            <pc:sldMk cId="0" sldId="279"/>
            <ac:spMk id="18" creationId="{00000000-0000-0000-0000-000000000000}"/>
          </ac:spMkLst>
        </pc:spChg>
        <pc:spChg chg="mod">
          <ac:chgData name="John Rea" userId="d8639818-8097-4ceb-a926-1c095acca351" providerId="ADAL" clId="{C15E03E2-7D12-4832-BF7D-E2BDD5B62504}" dt="2026-08-18T23:16:20.630" v="45" actId="26606"/>
          <ac:spMkLst>
            <pc:docMk/>
            <pc:sldMk cId="0" sldId="279"/>
            <ac:spMk id="28" creationId="{00000000-0000-0000-0000-000000000000}"/>
          </ac:spMkLst>
        </pc:spChg>
      </pc:sldChg>
      <pc:sldChg chg="delSp modSp mod">
        <pc:chgData name="John Rea" userId="d8639818-8097-4ceb-a926-1c095acca351" providerId="ADAL" clId="{C15E03E2-7D12-4832-BF7D-E2BDD5B62504}" dt="2026-08-19T00:58:05.756" v="61" actId="478"/>
        <pc:sldMkLst>
          <pc:docMk/>
          <pc:sldMk cId="0" sldId="280"/>
        </pc:sldMkLst>
        <pc:spChg chg="del">
          <ac:chgData name="John Rea" userId="d8639818-8097-4ceb-a926-1c095acca351" providerId="ADAL" clId="{C15E03E2-7D12-4832-BF7D-E2BDD5B62504}" dt="2026-08-19T00:58:04.168" v="60" actId="478"/>
          <ac:spMkLst>
            <pc:docMk/>
            <pc:sldMk cId="0" sldId="280"/>
            <ac:spMk id="16" creationId="{00000000-0000-0000-0000-000000000000}"/>
          </ac:spMkLst>
        </pc:spChg>
        <pc:spChg chg="del">
          <ac:chgData name="John Rea" userId="d8639818-8097-4ceb-a926-1c095acca351" providerId="ADAL" clId="{C15E03E2-7D12-4832-BF7D-E2BDD5B62504}" dt="2026-08-19T00:58:05.756" v="61" actId="478"/>
          <ac:spMkLst>
            <pc:docMk/>
            <pc:sldMk cId="0" sldId="280"/>
            <ac:spMk id="17" creationId="{00000000-0000-0000-0000-000000000000}"/>
          </ac:spMkLst>
        </pc:spChg>
        <pc:spChg chg="del">
          <ac:chgData name="John Rea" userId="d8639818-8097-4ceb-a926-1c095acca351" providerId="ADAL" clId="{C15E03E2-7D12-4832-BF7D-E2BDD5B62504}" dt="2026-08-19T00:58:02.040" v="59" actId="478"/>
          <ac:spMkLst>
            <pc:docMk/>
            <pc:sldMk cId="0" sldId="280"/>
            <ac:spMk id="18" creationId="{00000000-0000-0000-0000-000000000000}"/>
          </ac:spMkLst>
        </pc:spChg>
        <pc:spChg chg="mod">
          <ac:chgData name="John Rea" userId="d8639818-8097-4ceb-a926-1c095acca351" providerId="ADAL" clId="{C15E03E2-7D12-4832-BF7D-E2BDD5B62504}" dt="2026-08-18T23:16:20.630" v="45" actId="26606"/>
          <ac:spMkLst>
            <pc:docMk/>
            <pc:sldMk cId="0" sldId="280"/>
            <ac:spMk id="28" creationId="{00000000-0000-0000-0000-000000000000}"/>
          </ac:spMkLst>
        </pc:spChg>
      </pc:sldChg>
      <pc:sldChg chg="delSp modSp mod">
        <pc:chgData name="John Rea" userId="d8639818-8097-4ceb-a926-1c095acca351" providerId="ADAL" clId="{C15E03E2-7D12-4832-BF7D-E2BDD5B62504}" dt="2026-08-19T00:57:55.769" v="58" actId="478"/>
        <pc:sldMkLst>
          <pc:docMk/>
          <pc:sldMk cId="0" sldId="281"/>
        </pc:sldMkLst>
        <pc:spChg chg="del">
          <ac:chgData name="John Rea" userId="d8639818-8097-4ceb-a926-1c095acca351" providerId="ADAL" clId="{C15E03E2-7D12-4832-BF7D-E2BDD5B62504}" dt="2026-08-19T00:57:53.249" v="57" actId="478"/>
          <ac:spMkLst>
            <pc:docMk/>
            <pc:sldMk cId="0" sldId="281"/>
            <ac:spMk id="16" creationId="{00000000-0000-0000-0000-000000000000}"/>
          </ac:spMkLst>
        </pc:spChg>
        <pc:spChg chg="del">
          <ac:chgData name="John Rea" userId="d8639818-8097-4ceb-a926-1c095acca351" providerId="ADAL" clId="{C15E03E2-7D12-4832-BF7D-E2BDD5B62504}" dt="2026-08-19T00:57:55.769" v="58" actId="478"/>
          <ac:spMkLst>
            <pc:docMk/>
            <pc:sldMk cId="0" sldId="281"/>
            <ac:spMk id="17" creationId="{00000000-0000-0000-0000-000000000000}"/>
          </ac:spMkLst>
        </pc:spChg>
        <pc:spChg chg="del">
          <ac:chgData name="John Rea" userId="d8639818-8097-4ceb-a926-1c095acca351" providerId="ADAL" clId="{C15E03E2-7D12-4832-BF7D-E2BDD5B62504}" dt="2026-08-19T00:57:51.738" v="56" actId="478"/>
          <ac:spMkLst>
            <pc:docMk/>
            <pc:sldMk cId="0" sldId="281"/>
            <ac:spMk id="18" creationId="{00000000-0000-0000-0000-000000000000}"/>
          </ac:spMkLst>
        </pc:spChg>
        <pc:spChg chg="mod">
          <ac:chgData name="John Rea" userId="d8639818-8097-4ceb-a926-1c095acca351" providerId="ADAL" clId="{C15E03E2-7D12-4832-BF7D-E2BDD5B62504}" dt="2026-08-18T23:16:20.630" v="45" actId="26606"/>
          <ac:spMkLst>
            <pc:docMk/>
            <pc:sldMk cId="0" sldId="281"/>
            <ac:spMk id="28" creationId="{00000000-0000-0000-0000-000000000000}"/>
          </ac:spMkLst>
        </pc:spChg>
      </pc:sldChg>
      <pc:sldChg chg="delSp modSp mod">
        <pc:chgData name="John Rea" userId="d8639818-8097-4ceb-a926-1c095acca351" providerId="ADAL" clId="{C15E03E2-7D12-4832-BF7D-E2BDD5B62504}" dt="2026-08-19T00:57:46.114" v="55" actId="478"/>
        <pc:sldMkLst>
          <pc:docMk/>
          <pc:sldMk cId="0" sldId="282"/>
        </pc:sldMkLst>
        <pc:spChg chg="del">
          <ac:chgData name="John Rea" userId="d8639818-8097-4ceb-a926-1c095acca351" providerId="ADAL" clId="{C15E03E2-7D12-4832-BF7D-E2BDD5B62504}" dt="2026-08-19T00:57:41.973" v="53" actId="478"/>
          <ac:spMkLst>
            <pc:docMk/>
            <pc:sldMk cId="0" sldId="282"/>
            <ac:spMk id="16" creationId="{00000000-0000-0000-0000-000000000000}"/>
          </ac:spMkLst>
        </pc:spChg>
        <pc:spChg chg="del">
          <ac:chgData name="John Rea" userId="d8639818-8097-4ceb-a926-1c095acca351" providerId="ADAL" clId="{C15E03E2-7D12-4832-BF7D-E2BDD5B62504}" dt="2026-08-19T00:57:46.114" v="55" actId="478"/>
          <ac:spMkLst>
            <pc:docMk/>
            <pc:sldMk cId="0" sldId="282"/>
            <ac:spMk id="17" creationId="{00000000-0000-0000-0000-000000000000}"/>
          </ac:spMkLst>
        </pc:spChg>
        <pc:spChg chg="del">
          <ac:chgData name="John Rea" userId="d8639818-8097-4ceb-a926-1c095acca351" providerId="ADAL" clId="{C15E03E2-7D12-4832-BF7D-E2BDD5B62504}" dt="2026-08-19T00:57:43.518" v="54" actId="478"/>
          <ac:spMkLst>
            <pc:docMk/>
            <pc:sldMk cId="0" sldId="282"/>
            <ac:spMk id="18" creationId="{00000000-0000-0000-0000-000000000000}"/>
          </ac:spMkLst>
        </pc:spChg>
        <pc:spChg chg="mod">
          <ac:chgData name="John Rea" userId="d8639818-8097-4ceb-a926-1c095acca351" providerId="ADAL" clId="{C15E03E2-7D12-4832-BF7D-E2BDD5B62504}" dt="2026-08-18T23:16:20.630" v="45" actId="26606"/>
          <ac:spMkLst>
            <pc:docMk/>
            <pc:sldMk cId="0" sldId="282"/>
            <ac:spMk id="28" creationId="{00000000-0000-0000-0000-000000000000}"/>
          </ac:spMkLst>
        </pc:spChg>
      </pc:sldChg>
      <pc:sldChg chg="delSp modSp mod">
        <pc:chgData name="John Rea" userId="d8639818-8097-4ceb-a926-1c095acca351" providerId="ADAL" clId="{C15E03E2-7D12-4832-BF7D-E2BDD5B62504}" dt="2026-08-19T00:57:32.403" v="52" actId="478"/>
        <pc:sldMkLst>
          <pc:docMk/>
          <pc:sldMk cId="0" sldId="283"/>
        </pc:sldMkLst>
        <pc:spChg chg="del">
          <ac:chgData name="John Rea" userId="d8639818-8097-4ceb-a926-1c095acca351" providerId="ADAL" clId="{C15E03E2-7D12-4832-BF7D-E2BDD5B62504}" dt="2026-08-19T00:57:28.373" v="50" actId="478"/>
          <ac:spMkLst>
            <pc:docMk/>
            <pc:sldMk cId="0" sldId="283"/>
            <ac:spMk id="16" creationId="{00000000-0000-0000-0000-000000000000}"/>
          </ac:spMkLst>
        </pc:spChg>
        <pc:spChg chg="del">
          <ac:chgData name="John Rea" userId="d8639818-8097-4ceb-a926-1c095acca351" providerId="ADAL" clId="{C15E03E2-7D12-4832-BF7D-E2BDD5B62504}" dt="2026-08-19T00:57:32.403" v="52" actId="478"/>
          <ac:spMkLst>
            <pc:docMk/>
            <pc:sldMk cId="0" sldId="283"/>
            <ac:spMk id="17" creationId="{00000000-0000-0000-0000-000000000000}"/>
          </ac:spMkLst>
        </pc:spChg>
        <pc:spChg chg="del">
          <ac:chgData name="John Rea" userId="d8639818-8097-4ceb-a926-1c095acca351" providerId="ADAL" clId="{C15E03E2-7D12-4832-BF7D-E2BDD5B62504}" dt="2026-08-19T00:57:30.730" v="51" actId="478"/>
          <ac:spMkLst>
            <pc:docMk/>
            <pc:sldMk cId="0" sldId="283"/>
            <ac:spMk id="18" creationId="{00000000-0000-0000-0000-000000000000}"/>
          </ac:spMkLst>
        </pc:spChg>
        <pc:spChg chg="mod">
          <ac:chgData name="John Rea" userId="d8639818-8097-4ceb-a926-1c095acca351" providerId="ADAL" clId="{C15E03E2-7D12-4832-BF7D-E2BDD5B62504}" dt="2026-08-18T23:16:20.630" v="45" actId="26606"/>
          <ac:spMkLst>
            <pc:docMk/>
            <pc:sldMk cId="0" sldId="283"/>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08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Frame this as one connected workflow, not seven unrelated features. The external disruption and tariff facts are current as of August 17, 2026 and are cited in the source brief.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six demos and one bonus, but the real learning objective is the repeatable workflow. Ask attendees to notice the review checkpoints, not just the generated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shipping. Be precise: risk and rerouting, not a claim that Suez is closed.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tariffs. Emphasize that a tariff headline is not an approved cost claim.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launch dependence. This is why the right answer is not simply reject the increase. The category manager must trade commercial value for risk protection.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companies and the five provided files. Explain that the workbook contains deliberate traps: an expired 10% surcharge, a full-invoice-value aluminum claim, possible freight duplication, and portfolio allocation without itemization.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stage 1. Separate facts, assertions, calculations, and assumptions. Keep the same shape geometry across the sequence so Morph reinforces the workflow.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stage 2. Test the claim against evidence, contract, dates, and duplication. Keep the same shape geometry across the sequence so Morph reinforces the workflow.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stage 3. Build a give-get ladder that protects launch and precedent. Keep the same shape geometry across the sequence so Morph reinforces the workflow.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stage 4. Define thresholds, owners, and leadership decisions. Keep the same shape geometry across the sequence so Morph reinforces the workflow.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navigation map. The HTML guide contains all copy-ready prompts and source-file instructions. The deck is for facilitation and framing, not for reading prompts aloud.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01: Build the Verified Signal Room. Compress a volatile situation without mixing verified facts, supplier assertions, calculations, and assumptions. Open the HTML guide and use the provided files. Run the starting prompt, then the two follow-ups in the same thread. Pause on the surprise beat: The surprise is not the summary. It is the evidence ledger that exposes which dramatic claims are not yet decision-grade.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02: Audit the Pass-Through. Test every freight and tariff line against evidence, effective dates, contract terms, and possible double recovery. Open the HTML guide and use the provided files. Run the starting prompt, then the two follow-ups in the same thread. Pause on the surprise beat: Copilot should discover the expired 10% surcharge and the full-invoice-value aluminum calculation—not merely total the request.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03: Build the Negotiation Control Tower. Move from positions to a give-get ladder with targets, authority limits, and no unconditional concessions. Open the HTML guide and use the provided files. Run the starting prompt, then the two follow-ups in the same thread. Pause on the surprise beat: The visible shift is from 'fight the increase' to a structured exchange: verified cost for allocation, auditability, resets, and resilience.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04: Turn Clauses into a Decision Map. Interpret the business implications of pricing, duties, mitigation, notice, audit, and force majeure—without pretending Copilot is counsel. Open the HTML guide and use the provided files. Run the starting prompt, then the two follow-ups in the same thread. Pause on the surprise beat: Instead of a clause summary, the output maps each supplier claim to a business action, missing evidence, and a clear escalation boundary.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05: Convert Risk into Tripwires. Replace a static red-amber-green heatmap with thresholds that trigger action, ownership, and escalation. Open the HTML guide and use the provided files. Run the starting prompt, then the two follow-ups in the same thread. Pause on the surprise beat: The risk assessment becomes operational: '&gt;7 days' triggers reallocation; '&lt;95% allocation' triggers escalation; unverified lines over $25K trigger a hold.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06: Create the Decision Update. Build a concise procurement-leadership story with traceable numbers, one recommendation, and explicit decision asks. Open the HTML guide and use the provided files. Run the starting prompt, then the two follow-ups in the same thread. Pause on the surprise beat: This is not 'make slides.' It is a governed transformation from evidence to a decision narrative with confidence and source tags.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BONUS: Turn the Win into a Team Resource. Capture the reusable intake standard, prompt pattern, decision checks, and escalation map so the next category manager starts ahead. Open the HTML guide and use the provided files. Run the starting prompt, then the two follow-ups in the same thread. Pause on the surprise beat: The final output is not another transcript. It is a governed, reusable team asset with blanks, ownership, and review rules.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debrief. Ask the room which traps Copilot found and which had to be checked by a person. Reinforce that the output quality depends on the source pack and the explicit evidence standard in the prompt.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imply that Copilot can make legal or customs determinations. It can organize clauses and evidence, but qualified functions own those decisions. Use only approved data locations and obey sensitivity labels.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repeatable behavior, not on a feature list. Ask each attendee to choose one supplier workflow where they will apply the Verify–Challenge–Trade–Trigger loop this week.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23B"/>
        </a:solidFill>
        <a:effectLst/>
      </p:bgPr>
    </p:bg>
    <p:spTree>
      <p:nvGrpSpPr>
        <p:cNvPr id="1" name=""/>
        <p:cNvGrpSpPr/>
        <p:nvPr/>
      </p:nvGrpSpPr>
      <p:grpSpPr>
        <a:xfrm>
          <a:off x="0" y="0"/>
          <a:ext cx="0" cy="0"/>
          <a:chOff x="0" y="0"/>
          <a:chExt cx="0" cy="0"/>
        </a:xfrm>
      </p:grpSpPr>
      <p:sp>
        <p:nvSpPr>
          <p:cNvPr id="2" name="Shape 0"/>
          <p:cNvSpPr/>
          <p:nvPr/>
        </p:nvSpPr>
        <p:spPr>
          <a:xfrm rot="1320000">
            <a:off x="7863840" y="-1280160"/>
            <a:ext cx="6035040" cy="6035040"/>
          </a:xfrm>
          <a:prstGeom prst="arc">
            <a:avLst/>
          </a:prstGeom>
          <a:solidFill>
            <a:srgbClr val="06123B">
              <a:alpha val="0"/>
            </a:srgbClr>
          </a:solidFill>
          <a:ln w="13970">
            <a:solidFill>
              <a:srgbClr val="9EAFFF">
                <a:alpha val="32000"/>
              </a:srgbClr>
            </a:solidFill>
            <a:prstDash val="solid"/>
          </a:ln>
        </p:spPr>
        <p:txBody>
          <a:bodyPr/>
          <a:lstStyle/>
          <a:p>
            <a:endParaRPr lang="en-US"/>
          </a:p>
        </p:txBody>
      </p:sp>
      <p:sp>
        <p:nvSpPr>
          <p:cNvPr id="3" name="Shape 1"/>
          <p:cNvSpPr/>
          <p:nvPr/>
        </p:nvSpPr>
        <p:spPr>
          <a:xfrm rot="1320000">
            <a:off x="8595360" y="-548640"/>
            <a:ext cx="4389120" cy="4389120"/>
          </a:xfrm>
          <a:prstGeom prst="arc">
            <a:avLst/>
          </a:prstGeom>
          <a:solidFill>
            <a:srgbClr val="06123B">
              <a:alpha val="0"/>
            </a:srgbClr>
          </a:solidFill>
          <a:ln w="13970">
            <a:solidFill>
              <a:srgbClr val="B6955B">
                <a:alpha val="55000"/>
              </a:srgbClr>
            </a:solidFill>
            <a:prstDash val="solid"/>
          </a:ln>
        </p:spPr>
        <p:txBody>
          <a:bodyPr/>
          <a:lstStyle/>
          <a:p>
            <a:endParaRPr lang="en-US"/>
          </a:p>
        </p:txBody>
      </p:sp>
      <p:sp>
        <p:nvSpPr>
          <p:cNvPr id="4" name="Text 2"/>
          <p:cNvSpPr/>
          <p:nvPr/>
        </p:nvSpPr>
        <p:spPr>
          <a:xfrm>
            <a:off x="777240" y="731520"/>
            <a:ext cx="7772400" cy="274320"/>
          </a:xfrm>
          <a:prstGeom prst="rect">
            <a:avLst/>
          </a:prstGeom>
          <a:noFill/>
          <a:ln/>
        </p:spPr>
        <p:txBody>
          <a:bodyPr wrap="square" lIns="0" tIns="0" rIns="0" bIns="0" rtlCol="0" anchor="ctr"/>
          <a:lstStyle/>
          <a:p>
            <a:pPr marL="0" indent="0">
              <a:buNone/>
            </a:pPr>
            <a:r>
              <a:rPr lang="en-US" sz="1000" b="1" kern="0" spc="210" dirty="0">
                <a:solidFill>
                  <a:srgbClr val="9EAFFF"/>
                </a:solidFill>
                <a:latin typeface="Aptos" pitchFamily="34" charset="0"/>
                <a:ea typeface="Aptos" pitchFamily="34" charset="-122"/>
                <a:cs typeface="Aptos" pitchFamily="34" charset="-120"/>
              </a:rPr>
              <a:t>COPILOT FOR GLOBAL SUPPLIER MANAGEMENT</a:t>
            </a:r>
            <a:endParaRPr lang="en-US" sz="1000" dirty="0"/>
          </a:p>
        </p:txBody>
      </p:sp>
      <p:sp>
        <p:nvSpPr>
          <p:cNvPr id="5" name="Text 3"/>
          <p:cNvSpPr/>
          <p:nvPr/>
        </p:nvSpPr>
        <p:spPr>
          <a:xfrm>
            <a:off x="777240" y="1371600"/>
            <a:ext cx="7863840" cy="1508760"/>
          </a:xfrm>
          <a:prstGeom prst="rect">
            <a:avLst/>
          </a:prstGeom>
          <a:noFill/>
          <a:ln/>
        </p:spPr>
        <p:txBody>
          <a:bodyPr wrap="square" lIns="0" tIns="0" rIns="0" bIns="0" rtlCol="0" anchor="ctr">
            <a:normAutofit lnSpcReduction="10000"/>
          </a:bodyPr>
          <a:lstStyle/>
          <a:p>
            <a:pPr marL="0" indent="0">
              <a:buNone/>
            </a:pPr>
            <a:r>
              <a:rPr lang="en-US" sz="5000" b="1" dirty="0">
                <a:solidFill>
                  <a:srgbClr val="FFFFFF"/>
                </a:solidFill>
                <a:latin typeface="Georgia" pitchFamily="34" charset="0"/>
                <a:ea typeface="Georgia" pitchFamily="34" charset="-122"/>
                <a:cs typeface="Georgia" pitchFamily="34" charset="-120"/>
              </a:rPr>
              <a:t>The Supplier</a:t>
            </a:r>
            <a:endParaRPr lang="en-US" sz="5000" dirty="0"/>
          </a:p>
          <a:p>
            <a:pPr marL="0" indent="0">
              <a:buNone/>
            </a:pPr>
            <a:r>
              <a:rPr lang="en-US" sz="5000" b="1" dirty="0">
                <a:solidFill>
                  <a:srgbClr val="FFFFFF"/>
                </a:solidFill>
                <a:latin typeface="Georgia" pitchFamily="34" charset="0"/>
                <a:ea typeface="Georgia" pitchFamily="34" charset="-122"/>
                <a:cs typeface="Georgia" pitchFamily="34" charset="-120"/>
              </a:rPr>
              <a:t>Shock Room</a:t>
            </a:r>
            <a:endParaRPr lang="en-US" sz="5000" dirty="0"/>
          </a:p>
        </p:txBody>
      </p:sp>
      <p:sp>
        <p:nvSpPr>
          <p:cNvPr id="6" name="Text 4"/>
          <p:cNvSpPr/>
          <p:nvPr/>
        </p:nvSpPr>
        <p:spPr>
          <a:xfrm>
            <a:off x="822960" y="3246120"/>
            <a:ext cx="7772400" cy="658368"/>
          </a:xfrm>
          <a:prstGeom prst="rect">
            <a:avLst/>
          </a:prstGeom>
          <a:noFill/>
          <a:ln/>
        </p:spPr>
        <p:txBody>
          <a:bodyPr wrap="square" lIns="0" tIns="0" rIns="0" bIns="0" rtlCol="0" anchor="ctr"/>
          <a:lstStyle/>
          <a:p>
            <a:pPr marL="0" indent="0">
              <a:buNone/>
            </a:pPr>
            <a:r>
              <a:rPr lang="en-US" sz="2100" i="1" dirty="0">
                <a:solidFill>
                  <a:srgbClr val="DDE2FF"/>
                </a:solidFill>
                <a:latin typeface="Georgia" pitchFamily="34" charset="0"/>
                <a:ea typeface="Georgia" pitchFamily="34" charset="-122"/>
                <a:cs typeface="Georgia" pitchFamily="34" charset="-120"/>
              </a:rPr>
              <a:t>From disruption signal to negotiation, risk action, and leadership decision.</a:t>
            </a:r>
            <a:endParaRPr lang="en-US" sz="2100" dirty="0"/>
          </a:p>
        </p:txBody>
      </p:sp>
      <p:sp>
        <p:nvSpPr>
          <p:cNvPr id="9" name="Text 7"/>
          <p:cNvSpPr/>
          <p:nvPr/>
        </p:nvSpPr>
        <p:spPr>
          <a:xfrm>
            <a:off x="822960" y="5989320"/>
            <a:ext cx="6858000" cy="256032"/>
          </a:xfrm>
          <a:prstGeom prst="rect">
            <a:avLst/>
          </a:prstGeom>
          <a:noFill/>
          <a:ln/>
        </p:spPr>
        <p:txBody>
          <a:bodyPr wrap="square" lIns="0" tIns="0" rIns="0" bIns="0" rtlCol="0" anchor="ctr"/>
          <a:lstStyle/>
          <a:p>
            <a:pPr marL="0" indent="0">
              <a:buNone/>
            </a:pPr>
            <a:r>
              <a:rPr lang="en-US" sz="1600" b="1" dirty="0">
                <a:solidFill>
                  <a:schemeClr val="accent1">
                    <a:lumMod val="75000"/>
                  </a:schemeClr>
                </a:solidFill>
                <a:latin typeface="Aptos" pitchFamily="34" charset="0"/>
                <a:ea typeface="Aptos" pitchFamily="34" charset="-122"/>
                <a:cs typeface="Aptos" pitchFamily="34" charset="-120"/>
              </a:rPr>
              <a:t>John Rea</a:t>
            </a:r>
            <a:br>
              <a:rPr lang="en-US" sz="1600" b="1" dirty="0">
                <a:solidFill>
                  <a:schemeClr val="accent1">
                    <a:lumMod val="75000"/>
                  </a:schemeClr>
                </a:solidFill>
                <a:latin typeface="Aptos" pitchFamily="34" charset="0"/>
                <a:ea typeface="Aptos" pitchFamily="34" charset="-122"/>
                <a:cs typeface="Aptos" pitchFamily="34" charset="-120"/>
              </a:rPr>
            </a:br>
            <a:r>
              <a:rPr lang="en-US" sz="1600" b="1" dirty="0">
                <a:solidFill>
                  <a:schemeClr val="accent1">
                    <a:lumMod val="75000"/>
                  </a:schemeClr>
                </a:solidFill>
                <a:latin typeface="Aptos" pitchFamily="34" charset="0"/>
                <a:ea typeface="Aptos" pitchFamily="34" charset="-122"/>
                <a:cs typeface="Aptos" pitchFamily="34" charset="-120"/>
              </a:rPr>
              <a:t>Sr CSA | Microsoft</a:t>
            </a:r>
            <a:br>
              <a:rPr lang="en-US" sz="1600" b="1" dirty="0">
                <a:solidFill>
                  <a:schemeClr val="accent1">
                    <a:lumMod val="75000"/>
                  </a:schemeClr>
                </a:solidFill>
                <a:latin typeface="Aptos" pitchFamily="34" charset="0"/>
                <a:ea typeface="Aptos" pitchFamily="34" charset="-122"/>
                <a:cs typeface="Aptos" pitchFamily="34" charset="-120"/>
              </a:rPr>
            </a:br>
            <a:fld id="{28D5D6D2-3B2F-4549-AE08-3E300CA6F668}" type="datetime2">
              <a:rPr lang="en-US" sz="1600" b="1" smtClean="0">
                <a:solidFill>
                  <a:schemeClr val="accent1">
                    <a:lumMod val="75000"/>
                  </a:schemeClr>
                </a:solidFill>
                <a:latin typeface="Aptos" pitchFamily="34" charset="0"/>
                <a:ea typeface="Aptos" pitchFamily="34" charset="-122"/>
                <a:cs typeface="Aptos" pitchFamily="34" charset="-120"/>
              </a:rPr>
              <a:t>Tuesday, August 18, 2026</a:t>
            </a:fld>
            <a:endParaRPr lang="en-US" sz="1600" b="1"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TODAY'S OUTCOME</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Leave with a repeatable supplier-decision workflow</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The category manager remains accountable; Copilot accelerates evidence handling, option design, and communication.</a:t>
            </a:r>
            <a:endParaRPr lang="en-US" sz="1300" dirty="0"/>
          </a:p>
        </p:txBody>
      </p:sp>
      <p:sp>
        <p:nvSpPr>
          <p:cNvPr id="5" name="Shape 3"/>
          <p:cNvSpPr/>
          <p:nvPr/>
        </p:nvSpPr>
        <p:spPr>
          <a:xfrm>
            <a:off x="731520" y="1874520"/>
            <a:ext cx="10698480" cy="804672"/>
          </a:xfrm>
          <a:prstGeom prst="roundRect">
            <a:avLst>
              <a:gd name="adj" fmla="val 4545"/>
            </a:avLst>
          </a:prstGeom>
          <a:solidFill>
            <a:srgbClr val="FFFFFF"/>
          </a:solidFill>
          <a:ln w="8890">
            <a:solidFill>
              <a:srgbClr val="D9DAE5"/>
            </a:solidFill>
            <a:prstDash val="solid"/>
          </a:ln>
        </p:spPr>
        <p:txBody>
          <a:bodyPr/>
          <a:lstStyle/>
          <a:p>
            <a:endParaRPr lang="en-US"/>
          </a:p>
        </p:txBody>
      </p:sp>
      <p:sp>
        <p:nvSpPr>
          <p:cNvPr id="7" name="Text 5"/>
          <p:cNvSpPr/>
          <p:nvPr/>
        </p:nvSpPr>
        <p:spPr>
          <a:xfrm>
            <a:off x="2057400" y="2020824"/>
            <a:ext cx="2377440" cy="365760"/>
          </a:xfrm>
          <a:prstGeom prst="rect">
            <a:avLst/>
          </a:prstGeom>
          <a:noFill/>
          <a:ln/>
        </p:spPr>
        <p:txBody>
          <a:bodyPr wrap="square" lIns="0" tIns="0" rIns="0" bIns="0" rtlCol="0" anchor="ctr"/>
          <a:lstStyle/>
          <a:p>
            <a:pPr marL="0" indent="0">
              <a:buNone/>
            </a:pPr>
            <a:r>
              <a:rPr lang="en-US" sz="1700" b="1" dirty="0">
                <a:solidFill>
                  <a:srgbClr val="06123B"/>
                </a:solidFill>
                <a:latin typeface="Georgia" pitchFamily="34" charset="0"/>
                <a:ea typeface="Georgia" pitchFamily="34" charset="-122"/>
                <a:cs typeface="Georgia" pitchFamily="34" charset="-120"/>
              </a:rPr>
              <a:t>Frame the shock</a:t>
            </a:r>
            <a:endParaRPr lang="en-US" sz="1700" dirty="0"/>
          </a:p>
        </p:txBody>
      </p:sp>
      <p:sp>
        <p:nvSpPr>
          <p:cNvPr id="8" name="Text 6"/>
          <p:cNvSpPr/>
          <p:nvPr/>
        </p:nvSpPr>
        <p:spPr>
          <a:xfrm>
            <a:off x="4572000" y="2057400"/>
            <a:ext cx="6309360" cy="310896"/>
          </a:xfrm>
          <a:prstGeom prst="rect">
            <a:avLst/>
          </a:prstGeom>
          <a:noFill/>
          <a:ln/>
        </p:spPr>
        <p:txBody>
          <a:bodyPr wrap="square" lIns="0" tIns="0" rIns="0" bIns="0" rtlCol="0" anchor="ctr"/>
          <a:lstStyle/>
          <a:p>
            <a:pPr marL="0" indent="0">
              <a:buNone/>
            </a:pPr>
            <a:r>
              <a:rPr lang="en-US" sz="1250" dirty="0">
                <a:solidFill>
                  <a:srgbClr val="17182B"/>
                </a:solidFill>
                <a:latin typeface="Aptos" pitchFamily="34" charset="0"/>
                <a:ea typeface="Aptos" pitchFamily="34" charset="-122"/>
                <a:cs typeface="Aptos" pitchFamily="34" charset="-120"/>
              </a:rPr>
              <a:t>Verified facts versus supplier claims</a:t>
            </a:r>
            <a:endParaRPr lang="en-US" sz="1250" dirty="0"/>
          </a:p>
        </p:txBody>
      </p:sp>
      <p:sp>
        <p:nvSpPr>
          <p:cNvPr id="9" name="Shape 7"/>
          <p:cNvSpPr/>
          <p:nvPr/>
        </p:nvSpPr>
        <p:spPr>
          <a:xfrm>
            <a:off x="731520" y="2898648"/>
            <a:ext cx="10698480" cy="804672"/>
          </a:xfrm>
          <a:prstGeom prst="roundRect">
            <a:avLst>
              <a:gd name="adj" fmla="val 4545"/>
            </a:avLst>
          </a:prstGeom>
          <a:solidFill>
            <a:srgbClr val="E8EBFF"/>
          </a:solidFill>
          <a:ln w="8890">
            <a:solidFill>
              <a:srgbClr val="D9DAE5"/>
            </a:solidFill>
            <a:prstDash val="solid"/>
          </a:ln>
        </p:spPr>
        <p:txBody>
          <a:bodyPr/>
          <a:lstStyle/>
          <a:p>
            <a:endParaRPr lang="en-US"/>
          </a:p>
        </p:txBody>
      </p:sp>
      <p:sp>
        <p:nvSpPr>
          <p:cNvPr id="11" name="Text 9"/>
          <p:cNvSpPr/>
          <p:nvPr/>
        </p:nvSpPr>
        <p:spPr>
          <a:xfrm>
            <a:off x="2057400" y="3044952"/>
            <a:ext cx="2377440" cy="365760"/>
          </a:xfrm>
          <a:prstGeom prst="rect">
            <a:avLst/>
          </a:prstGeom>
          <a:noFill/>
          <a:ln/>
        </p:spPr>
        <p:txBody>
          <a:bodyPr wrap="square" lIns="0" tIns="0" rIns="0" bIns="0" rtlCol="0" anchor="ctr"/>
          <a:lstStyle/>
          <a:p>
            <a:pPr marL="0" indent="0">
              <a:buNone/>
            </a:pPr>
            <a:r>
              <a:rPr lang="en-US" sz="1700" b="1" dirty="0">
                <a:solidFill>
                  <a:srgbClr val="06123B"/>
                </a:solidFill>
                <a:latin typeface="Georgia" pitchFamily="34" charset="0"/>
                <a:ea typeface="Georgia" pitchFamily="34" charset="-122"/>
                <a:cs typeface="Georgia" pitchFamily="34" charset="-120"/>
              </a:rPr>
              <a:t>Work the decision</a:t>
            </a:r>
            <a:endParaRPr lang="en-US" sz="1700" dirty="0"/>
          </a:p>
        </p:txBody>
      </p:sp>
      <p:sp>
        <p:nvSpPr>
          <p:cNvPr id="12" name="Text 10"/>
          <p:cNvSpPr/>
          <p:nvPr/>
        </p:nvSpPr>
        <p:spPr>
          <a:xfrm>
            <a:off x="4572000" y="3081528"/>
            <a:ext cx="6309360" cy="310896"/>
          </a:xfrm>
          <a:prstGeom prst="rect">
            <a:avLst/>
          </a:prstGeom>
          <a:noFill/>
          <a:ln/>
        </p:spPr>
        <p:txBody>
          <a:bodyPr wrap="square" lIns="0" tIns="0" rIns="0" bIns="0" rtlCol="0" anchor="ctr"/>
          <a:lstStyle/>
          <a:p>
            <a:pPr marL="0" indent="0">
              <a:buNone/>
            </a:pPr>
            <a:r>
              <a:rPr lang="en-US" sz="1250" dirty="0">
                <a:solidFill>
                  <a:srgbClr val="17182B"/>
                </a:solidFill>
                <a:latin typeface="Aptos" pitchFamily="34" charset="0"/>
                <a:ea typeface="Aptos" pitchFamily="34" charset="-122"/>
                <a:cs typeface="Aptos" pitchFamily="34" charset="-120"/>
              </a:rPr>
              <a:t>Claims, clauses, negotiation, and tripwires</a:t>
            </a:r>
            <a:endParaRPr lang="en-US" sz="1250" dirty="0"/>
          </a:p>
        </p:txBody>
      </p:sp>
      <p:sp>
        <p:nvSpPr>
          <p:cNvPr id="13" name="Shape 11"/>
          <p:cNvSpPr/>
          <p:nvPr/>
        </p:nvSpPr>
        <p:spPr>
          <a:xfrm>
            <a:off x="731520" y="3922776"/>
            <a:ext cx="10698480" cy="804672"/>
          </a:xfrm>
          <a:prstGeom prst="roundRect">
            <a:avLst>
              <a:gd name="adj" fmla="val 4545"/>
            </a:avLst>
          </a:prstGeom>
          <a:solidFill>
            <a:srgbClr val="FFFFFF"/>
          </a:solidFill>
          <a:ln w="8890">
            <a:solidFill>
              <a:srgbClr val="D9DAE5"/>
            </a:solidFill>
            <a:prstDash val="solid"/>
          </a:ln>
        </p:spPr>
        <p:txBody>
          <a:bodyPr/>
          <a:lstStyle/>
          <a:p>
            <a:endParaRPr lang="en-US"/>
          </a:p>
        </p:txBody>
      </p:sp>
      <p:sp>
        <p:nvSpPr>
          <p:cNvPr id="15" name="Text 13"/>
          <p:cNvSpPr/>
          <p:nvPr/>
        </p:nvSpPr>
        <p:spPr>
          <a:xfrm>
            <a:off x="2057400" y="4069080"/>
            <a:ext cx="2377440" cy="365760"/>
          </a:xfrm>
          <a:prstGeom prst="rect">
            <a:avLst/>
          </a:prstGeom>
          <a:noFill/>
          <a:ln/>
        </p:spPr>
        <p:txBody>
          <a:bodyPr wrap="square" lIns="0" tIns="0" rIns="0" bIns="0" rtlCol="0" anchor="ctr"/>
          <a:lstStyle/>
          <a:p>
            <a:pPr marL="0" indent="0">
              <a:buNone/>
            </a:pPr>
            <a:r>
              <a:rPr lang="en-US" sz="1700" b="1" dirty="0">
                <a:solidFill>
                  <a:srgbClr val="06123B"/>
                </a:solidFill>
                <a:latin typeface="Georgia" pitchFamily="34" charset="0"/>
                <a:ea typeface="Georgia" pitchFamily="34" charset="-122"/>
                <a:cs typeface="Georgia" pitchFamily="34" charset="-120"/>
              </a:rPr>
              <a:t>Tell the story</a:t>
            </a:r>
            <a:endParaRPr lang="en-US" sz="1700" dirty="0"/>
          </a:p>
        </p:txBody>
      </p:sp>
      <p:sp>
        <p:nvSpPr>
          <p:cNvPr id="16" name="Text 14"/>
          <p:cNvSpPr/>
          <p:nvPr/>
        </p:nvSpPr>
        <p:spPr>
          <a:xfrm>
            <a:off x="4572000" y="4105656"/>
            <a:ext cx="6309360" cy="310896"/>
          </a:xfrm>
          <a:prstGeom prst="rect">
            <a:avLst/>
          </a:prstGeom>
          <a:noFill/>
          <a:ln/>
        </p:spPr>
        <p:txBody>
          <a:bodyPr wrap="square" lIns="0" tIns="0" rIns="0" bIns="0" rtlCol="0" anchor="ctr"/>
          <a:lstStyle/>
          <a:p>
            <a:pPr marL="0" indent="0">
              <a:buNone/>
            </a:pPr>
            <a:r>
              <a:rPr lang="en-US" sz="1250" dirty="0">
                <a:solidFill>
                  <a:srgbClr val="17182B"/>
                </a:solidFill>
                <a:latin typeface="Aptos" pitchFamily="34" charset="0"/>
                <a:ea typeface="Aptos" pitchFamily="34" charset="-122"/>
                <a:cs typeface="Aptos" pitchFamily="34" charset="-120"/>
              </a:rPr>
              <a:t>Leadership update and challenge questions</a:t>
            </a:r>
            <a:endParaRPr lang="en-US" sz="1250" dirty="0"/>
          </a:p>
        </p:txBody>
      </p:sp>
      <p:sp>
        <p:nvSpPr>
          <p:cNvPr id="17" name="Shape 15"/>
          <p:cNvSpPr/>
          <p:nvPr/>
        </p:nvSpPr>
        <p:spPr>
          <a:xfrm>
            <a:off x="731520" y="4946904"/>
            <a:ext cx="10698480" cy="804672"/>
          </a:xfrm>
          <a:prstGeom prst="roundRect">
            <a:avLst>
              <a:gd name="adj" fmla="val 4545"/>
            </a:avLst>
          </a:prstGeom>
          <a:solidFill>
            <a:srgbClr val="FFFFFF"/>
          </a:solidFill>
          <a:ln w="8890">
            <a:solidFill>
              <a:srgbClr val="D9DAE5"/>
            </a:solidFill>
            <a:prstDash val="solid"/>
          </a:ln>
        </p:spPr>
        <p:txBody>
          <a:bodyPr/>
          <a:lstStyle/>
          <a:p>
            <a:endParaRPr lang="en-US"/>
          </a:p>
        </p:txBody>
      </p:sp>
      <p:sp>
        <p:nvSpPr>
          <p:cNvPr id="19" name="Text 17"/>
          <p:cNvSpPr/>
          <p:nvPr/>
        </p:nvSpPr>
        <p:spPr>
          <a:xfrm>
            <a:off x="2057400" y="5093208"/>
            <a:ext cx="2377440" cy="365760"/>
          </a:xfrm>
          <a:prstGeom prst="rect">
            <a:avLst/>
          </a:prstGeom>
          <a:noFill/>
          <a:ln/>
        </p:spPr>
        <p:txBody>
          <a:bodyPr wrap="square" lIns="0" tIns="0" rIns="0" bIns="0" rtlCol="0" anchor="ctr"/>
          <a:lstStyle/>
          <a:p>
            <a:pPr marL="0" indent="0">
              <a:buNone/>
            </a:pPr>
            <a:r>
              <a:rPr lang="en-US" sz="1700" b="1" dirty="0">
                <a:solidFill>
                  <a:srgbClr val="06123B"/>
                </a:solidFill>
                <a:latin typeface="Georgia" pitchFamily="34" charset="0"/>
                <a:ea typeface="Georgia" pitchFamily="34" charset="-122"/>
                <a:cs typeface="Georgia" pitchFamily="34" charset="-120"/>
              </a:rPr>
              <a:t>Make it reusable</a:t>
            </a:r>
            <a:endParaRPr lang="en-US" sz="1700" dirty="0"/>
          </a:p>
        </p:txBody>
      </p:sp>
      <p:sp>
        <p:nvSpPr>
          <p:cNvPr id="20" name="Text 18"/>
          <p:cNvSpPr/>
          <p:nvPr/>
        </p:nvSpPr>
        <p:spPr>
          <a:xfrm>
            <a:off x="4572000" y="5129784"/>
            <a:ext cx="6309360" cy="310896"/>
          </a:xfrm>
          <a:prstGeom prst="rect">
            <a:avLst/>
          </a:prstGeom>
          <a:noFill/>
          <a:ln/>
        </p:spPr>
        <p:txBody>
          <a:bodyPr wrap="square" lIns="0" tIns="0" rIns="0" bIns="0" rtlCol="0" anchor="ctr"/>
          <a:lstStyle/>
          <a:p>
            <a:pPr marL="0" indent="0">
              <a:buNone/>
            </a:pPr>
            <a:r>
              <a:rPr lang="en-US" sz="1250" dirty="0">
                <a:solidFill>
                  <a:srgbClr val="17182B"/>
                </a:solidFill>
                <a:latin typeface="Aptos" pitchFamily="34" charset="0"/>
                <a:ea typeface="Aptos" pitchFamily="34" charset="-122"/>
                <a:cs typeface="Aptos" pitchFamily="34" charset="-120"/>
              </a:rPr>
              <a:t>Team resource and governance</a:t>
            </a:r>
            <a:endParaRPr lang="en-US" sz="1250" dirty="0"/>
          </a:p>
        </p:txBody>
      </p:sp>
      <p:sp>
        <p:nvSpPr>
          <p:cNvPr id="22" name="Shape 19"/>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3" name="Text 20"/>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4" name="Text 21"/>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WHY THIS </a:t>
            </a:r>
            <a:r>
              <a:rPr lang="en-US" sz="950" b="1" kern="0" spc="160">
                <a:solidFill>
                  <a:srgbClr val="2E3A72"/>
                </a:solidFill>
                <a:latin typeface="Aptos" pitchFamily="34" charset="0"/>
                <a:ea typeface="Aptos" pitchFamily="34" charset="-122"/>
                <a:cs typeface="Aptos" pitchFamily="34" charset="-120"/>
              </a:rPr>
              <a:t>MATTERS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Three pressures. One supplier conversation.</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Dimmed cards are intentionally revealed across the Morph sequence.</a:t>
            </a:r>
            <a:endParaRPr lang="en-US" sz="1300" dirty="0"/>
          </a:p>
        </p:txBody>
      </p:sp>
      <p:sp>
        <p:nvSpPr>
          <p:cNvPr id="5" name="Shape 3"/>
          <p:cNvSpPr/>
          <p:nvPr/>
        </p:nvSpPr>
        <p:spPr>
          <a:xfrm>
            <a:off x="731520" y="1920240"/>
            <a:ext cx="3429000" cy="3063240"/>
          </a:xfrm>
          <a:prstGeom prst="roundRect">
            <a:avLst>
              <a:gd name="adj" fmla="val 1493"/>
            </a:avLst>
          </a:prstGeom>
          <a:solidFill>
            <a:srgbClr val="FFFFFF"/>
          </a:solidFill>
          <a:ln w="20320">
            <a:solidFill>
              <a:srgbClr val="2E3A72"/>
            </a:solidFill>
            <a:prstDash val="solid"/>
          </a:ln>
        </p:spPr>
        <p:txBody>
          <a:bodyPr/>
          <a:lstStyle/>
          <a:p>
            <a:endParaRPr lang="en-US"/>
          </a:p>
        </p:txBody>
      </p:sp>
      <p:sp>
        <p:nvSpPr>
          <p:cNvPr id="6" name="Text 4"/>
          <p:cNvSpPr/>
          <p:nvPr/>
        </p:nvSpPr>
        <p:spPr>
          <a:xfrm>
            <a:off x="960120" y="2176272"/>
            <a:ext cx="512064" cy="512064"/>
          </a:xfrm>
          <a:prstGeom prst="rect">
            <a:avLst/>
          </a:prstGeom>
          <a:solidFill>
            <a:srgbClr val="2E3A72"/>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96012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Route volatility</a:t>
            </a:r>
            <a:endParaRPr lang="en-US" sz="1900" dirty="0"/>
          </a:p>
        </p:txBody>
      </p:sp>
      <p:sp>
        <p:nvSpPr>
          <p:cNvPr id="8" name="Text 6"/>
          <p:cNvSpPr/>
          <p:nvPr/>
        </p:nvSpPr>
        <p:spPr>
          <a:xfrm>
            <a:off x="96012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Red Sea security risk can lengthen journeys and disrupt schedules. Suez is not 'closed'; route and carrier evidence matter.</a:t>
            </a:r>
            <a:endParaRPr lang="en-US" sz="1200" dirty="0"/>
          </a:p>
        </p:txBody>
      </p:sp>
      <p:sp>
        <p:nvSpPr>
          <p:cNvPr id="9" name="Shape 7"/>
          <p:cNvSpPr/>
          <p:nvPr/>
        </p:nvSpPr>
        <p:spPr>
          <a:xfrm>
            <a:off x="4434840" y="1920240"/>
            <a:ext cx="3429000" cy="3063240"/>
          </a:xfrm>
          <a:prstGeom prst="roundRect">
            <a:avLst>
              <a:gd name="adj" fmla="val 1493"/>
            </a:avLst>
          </a:prstGeom>
          <a:solidFill>
            <a:srgbClr val="EEEFF4">
              <a:alpha val="65000"/>
            </a:srgbClr>
          </a:solidFill>
          <a:ln w="8890">
            <a:solidFill>
              <a:srgbClr val="D9DAE5"/>
            </a:solidFill>
            <a:prstDash val="solid"/>
          </a:ln>
        </p:spPr>
        <p:txBody>
          <a:bodyPr/>
          <a:lstStyle/>
          <a:p>
            <a:endParaRPr lang="en-US"/>
          </a:p>
        </p:txBody>
      </p:sp>
      <p:sp>
        <p:nvSpPr>
          <p:cNvPr id="10" name="Text 8"/>
          <p:cNvSpPr/>
          <p:nvPr/>
        </p:nvSpPr>
        <p:spPr>
          <a:xfrm>
            <a:off x="4663440" y="2176272"/>
            <a:ext cx="512064" cy="512064"/>
          </a:xfrm>
          <a:prstGeom prst="rect">
            <a:avLst/>
          </a:prstGeom>
          <a:solidFill>
            <a:srgbClr val="D8D9E1"/>
          </a:solidFill>
          <a:ln/>
        </p:spPr>
        <p:txBody>
          <a:bodyPr wrap="square" lIns="0" tIns="0" rIns="0" bIns="0" rtlCol="0" anchor="ctr"/>
          <a:lstStyle/>
          <a:p>
            <a:pPr marL="0" indent="0" algn="ctr">
              <a:buNone/>
            </a:pPr>
            <a:r>
              <a:rPr lang="en-US" sz="2200" b="1" dirty="0">
                <a:solidFill>
                  <a:srgbClr val="A5A7B3"/>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4663440" y="2907792"/>
            <a:ext cx="2926080" cy="411480"/>
          </a:xfrm>
          <a:prstGeom prst="rect">
            <a:avLst/>
          </a:prstGeom>
          <a:noFill/>
          <a:ln/>
        </p:spPr>
        <p:txBody>
          <a:bodyPr wrap="square" lIns="0" tIns="0" rIns="0" bIns="0" rtlCol="0" anchor="ctr"/>
          <a:lstStyle/>
          <a:p>
            <a:pPr marL="0" indent="0">
              <a:buNone/>
            </a:pPr>
            <a:r>
              <a:rPr lang="en-US" sz="1900" b="1" dirty="0">
                <a:solidFill>
                  <a:srgbClr val="9698A4"/>
                </a:solidFill>
                <a:latin typeface="Georgia" pitchFamily="34" charset="0"/>
                <a:ea typeface="Georgia" pitchFamily="34" charset="-122"/>
                <a:cs typeface="Georgia" pitchFamily="34" charset="-120"/>
              </a:rPr>
              <a:t>Tariff complexity</a:t>
            </a:r>
            <a:endParaRPr lang="en-US" sz="1900" dirty="0"/>
          </a:p>
        </p:txBody>
      </p:sp>
      <p:sp>
        <p:nvSpPr>
          <p:cNvPr id="12" name="Text 10"/>
          <p:cNvSpPr/>
          <p:nvPr/>
        </p:nvSpPr>
        <p:spPr>
          <a:xfrm>
            <a:off x="466344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A5A7B3"/>
                </a:solidFill>
                <a:latin typeface="Aptos" pitchFamily="34" charset="0"/>
                <a:ea typeface="Aptos" pitchFamily="34" charset="-122"/>
                <a:cs typeface="Aptos" pitchFamily="34" charset="-120"/>
              </a:rPr>
              <a:t>Section 232 and Section 301 may apply, but classification, origin, value, date, and exclusions determine the actual impact.</a:t>
            </a:r>
            <a:endParaRPr lang="en-US" sz="1200" dirty="0"/>
          </a:p>
        </p:txBody>
      </p:sp>
      <p:sp>
        <p:nvSpPr>
          <p:cNvPr id="13" name="Shape 11"/>
          <p:cNvSpPr/>
          <p:nvPr/>
        </p:nvSpPr>
        <p:spPr>
          <a:xfrm>
            <a:off x="8138160" y="1920240"/>
            <a:ext cx="3429000" cy="3063240"/>
          </a:xfrm>
          <a:prstGeom prst="roundRect">
            <a:avLst>
              <a:gd name="adj" fmla="val 1493"/>
            </a:avLst>
          </a:prstGeom>
          <a:solidFill>
            <a:srgbClr val="EEEFF4">
              <a:alpha val="65000"/>
            </a:srgbClr>
          </a:solidFill>
          <a:ln w="8890">
            <a:solidFill>
              <a:srgbClr val="D9DAE5"/>
            </a:solidFill>
            <a:prstDash val="solid"/>
          </a:ln>
        </p:spPr>
        <p:txBody>
          <a:bodyPr/>
          <a:lstStyle/>
          <a:p>
            <a:endParaRPr lang="en-US"/>
          </a:p>
        </p:txBody>
      </p:sp>
      <p:sp>
        <p:nvSpPr>
          <p:cNvPr id="14" name="Text 12"/>
          <p:cNvSpPr/>
          <p:nvPr/>
        </p:nvSpPr>
        <p:spPr>
          <a:xfrm>
            <a:off x="8366760" y="2176272"/>
            <a:ext cx="512064" cy="512064"/>
          </a:xfrm>
          <a:prstGeom prst="rect">
            <a:avLst/>
          </a:prstGeom>
          <a:solidFill>
            <a:srgbClr val="D8D9E1"/>
          </a:solidFill>
          <a:ln/>
        </p:spPr>
        <p:txBody>
          <a:bodyPr wrap="square" lIns="0" tIns="0" rIns="0" bIns="0" rtlCol="0" anchor="ctr"/>
          <a:lstStyle/>
          <a:p>
            <a:pPr marL="0" indent="0" algn="ctr">
              <a:buNone/>
            </a:pPr>
            <a:r>
              <a:rPr lang="en-US" sz="2200" b="1" dirty="0">
                <a:solidFill>
                  <a:srgbClr val="A5A7B3"/>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8366760" y="2907792"/>
            <a:ext cx="2926080" cy="411480"/>
          </a:xfrm>
          <a:prstGeom prst="rect">
            <a:avLst/>
          </a:prstGeom>
          <a:noFill/>
          <a:ln/>
        </p:spPr>
        <p:txBody>
          <a:bodyPr wrap="square" lIns="0" tIns="0" rIns="0" bIns="0" rtlCol="0" anchor="ctr"/>
          <a:lstStyle/>
          <a:p>
            <a:pPr marL="0" indent="0">
              <a:buNone/>
            </a:pPr>
            <a:r>
              <a:rPr lang="en-US" sz="1900" b="1" dirty="0">
                <a:solidFill>
                  <a:srgbClr val="9698A4"/>
                </a:solidFill>
                <a:latin typeface="Georgia" pitchFamily="34" charset="0"/>
                <a:ea typeface="Georgia" pitchFamily="34" charset="-122"/>
                <a:cs typeface="Georgia" pitchFamily="34" charset="-120"/>
              </a:rPr>
              <a:t>Launch dependence</a:t>
            </a:r>
            <a:endParaRPr lang="en-US" sz="1900" dirty="0"/>
          </a:p>
        </p:txBody>
      </p:sp>
      <p:sp>
        <p:nvSpPr>
          <p:cNvPr id="16" name="Text 14"/>
          <p:cNvSpPr/>
          <p:nvPr/>
        </p:nvSpPr>
        <p:spPr>
          <a:xfrm>
            <a:off x="836676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A5A7B3"/>
                </a:solidFill>
                <a:latin typeface="Aptos" pitchFamily="34" charset="0"/>
                <a:ea typeface="Aptos" pitchFamily="34" charset="-122"/>
                <a:cs typeface="Aptos" pitchFamily="34" charset="-120"/>
              </a:rPr>
              <a:t>Three launch-critical SKUs sit below eight weeks of supply, and one has no qualified alternate until November.</a:t>
            </a:r>
            <a:endParaRPr lang="en-US" sz="1200" dirty="0"/>
          </a:p>
        </p:txBody>
      </p:sp>
      <p:sp>
        <p:nvSpPr>
          <p:cNvPr id="17" name="Text 15"/>
          <p:cNvSpPr/>
          <p:nvPr/>
        </p:nvSpPr>
        <p:spPr>
          <a:xfrm>
            <a:off x="914400" y="5577840"/>
            <a:ext cx="10241280" cy="411480"/>
          </a:xfrm>
          <a:prstGeom prst="rect">
            <a:avLst/>
          </a:prstGeom>
          <a:noFill/>
          <a:ln/>
        </p:spPr>
        <p:txBody>
          <a:bodyPr wrap="square" lIns="0" tIns="0" rIns="0" bIns="0" rtlCol="0" anchor="ctr"/>
          <a:lstStyle/>
          <a:p>
            <a:pPr marL="0" indent="0" algn="ctr">
              <a:buNone/>
            </a:pPr>
            <a:r>
              <a:rPr lang="en-US" sz="2000" i="1" dirty="0">
                <a:solidFill>
                  <a:srgbClr val="606277"/>
                </a:solidFill>
                <a:latin typeface="Georgia" pitchFamily="34" charset="0"/>
                <a:ea typeface="Georgia" pitchFamily="34" charset="-122"/>
                <a:cs typeface="Georgia" pitchFamily="34" charset="-120"/>
              </a:rPr>
              <a:t>Build the context one pressure at a time.</a:t>
            </a:r>
            <a:endParaRPr lang="en-US" sz="2000" dirty="0"/>
          </a:p>
        </p:txBody>
      </p:sp>
      <p:sp>
        <p:nvSpPr>
          <p:cNvPr id="19" name="Shape 16"/>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0" name="Text 17"/>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1" name="Text 18"/>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WHY THIS </a:t>
            </a:r>
            <a:r>
              <a:rPr lang="en-US" sz="950" b="1" kern="0" spc="160">
                <a:solidFill>
                  <a:srgbClr val="2E3A72"/>
                </a:solidFill>
                <a:latin typeface="Aptos" pitchFamily="34" charset="0"/>
                <a:ea typeface="Aptos" pitchFamily="34" charset="-122"/>
                <a:cs typeface="Aptos" pitchFamily="34" charset="-120"/>
              </a:rPr>
              <a:t>MATTERS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Three pressures. One supplier conversation.</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Dimmed cards are intentionally revealed across the Morph sequence.</a:t>
            </a:r>
            <a:endParaRPr lang="en-US" sz="1300" dirty="0"/>
          </a:p>
        </p:txBody>
      </p:sp>
      <p:sp>
        <p:nvSpPr>
          <p:cNvPr id="5" name="Shape 3"/>
          <p:cNvSpPr/>
          <p:nvPr/>
        </p:nvSpPr>
        <p:spPr>
          <a:xfrm>
            <a:off x="731520" y="1920240"/>
            <a:ext cx="3429000" cy="3063240"/>
          </a:xfrm>
          <a:prstGeom prst="roundRect">
            <a:avLst>
              <a:gd name="adj" fmla="val 1493"/>
            </a:avLst>
          </a:prstGeom>
          <a:solidFill>
            <a:srgbClr val="FFFFFF"/>
          </a:solidFill>
          <a:ln w="20320">
            <a:solidFill>
              <a:srgbClr val="2E3A72"/>
            </a:solidFill>
            <a:prstDash val="solid"/>
          </a:ln>
        </p:spPr>
        <p:txBody>
          <a:bodyPr/>
          <a:lstStyle/>
          <a:p>
            <a:endParaRPr lang="en-US"/>
          </a:p>
        </p:txBody>
      </p:sp>
      <p:sp>
        <p:nvSpPr>
          <p:cNvPr id="6" name="Text 4"/>
          <p:cNvSpPr/>
          <p:nvPr/>
        </p:nvSpPr>
        <p:spPr>
          <a:xfrm>
            <a:off x="960120" y="2176272"/>
            <a:ext cx="512064" cy="512064"/>
          </a:xfrm>
          <a:prstGeom prst="rect">
            <a:avLst/>
          </a:prstGeom>
          <a:solidFill>
            <a:srgbClr val="2E3A72"/>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96012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Route volatility</a:t>
            </a:r>
            <a:endParaRPr lang="en-US" sz="1900" dirty="0"/>
          </a:p>
        </p:txBody>
      </p:sp>
      <p:sp>
        <p:nvSpPr>
          <p:cNvPr id="8" name="Text 6"/>
          <p:cNvSpPr/>
          <p:nvPr/>
        </p:nvSpPr>
        <p:spPr>
          <a:xfrm>
            <a:off x="96012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Red Sea security risk can lengthen journeys and disrupt schedules. Suez is not 'closed'; route and carrier evidence matter.</a:t>
            </a:r>
            <a:endParaRPr lang="en-US" sz="1200" dirty="0"/>
          </a:p>
        </p:txBody>
      </p:sp>
      <p:sp>
        <p:nvSpPr>
          <p:cNvPr id="9" name="Shape 7"/>
          <p:cNvSpPr/>
          <p:nvPr/>
        </p:nvSpPr>
        <p:spPr>
          <a:xfrm>
            <a:off x="4434840" y="1920240"/>
            <a:ext cx="3429000" cy="3063240"/>
          </a:xfrm>
          <a:prstGeom prst="roundRect">
            <a:avLst>
              <a:gd name="adj" fmla="val 1493"/>
            </a:avLst>
          </a:prstGeom>
          <a:solidFill>
            <a:srgbClr val="FFFFFF"/>
          </a:solidFill>
          <a:ln w="20320">
            <a:solidFill>
              <a:srgbClr val="B6955B"/>
            </a:solidFill>
            <a:prstDash val="solid"/>
          </a:ln>
        </p:spPr>
        <p:txBody>
          <a:bodyPr/>
          <a:lstStyle/>
          <a:p>
            <a:endParaRPr lang="en-US"/>
          </a:p>
        </p:txBody>
      </p:sp>
      <p:sp>
        <p:nvSpPr>
          <p:cNvPr id="10" name="Text 8"/>
          <p:cNvSpPr/>
          <p:nvPr/>
        </p:nvSpPr>
        <p:spPr>
          <a:xfrm>
            <a:off x="4663440" y="2176272"/>
            <a:ext cx="512064" cy="512064"/>
          </a:xfrm>
          <a:prstGeom prst="rect">
            <a:avLst/>
          </a:prstGeom>
          <a:solidFill>
            <a:srgbClr val="B6955B"/>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466344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Tariff complexity</a:t>
            </a:r>
            <a:endParaRPr lang="en-US" sz="1900" dirty="0"/>
          </a:p>
        </p:txBody>
      </p:sp>
      <p:sp>
        <p:nvSpPr>
          <p:cNvPr id="12" name="Text 10"/>
          <p:cNvSpPr/>
          <p:nvPr/>
        </p:nvSpPr>
        <p:spPr>
          <a:xfrm>
            <a:off x="466344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Section 232 and Section 301 may apply, but classification, origin, value, date, and exclusions determine the actual impact.</a:t>
            </a:r>
            <a:endParaRPr lang="en-US" sz="1200" dirty="0"/>
          </a:p>
        </p:txBody>
      </p:sp>
      <p:sp>
        <p:nvSpPr>
          <p:cNvPr id="13" name="Shape 11"/>
          <p:cNvSpPr/>
          <p:nvPr/>
        </p:nvSpPr>
        <p:spPr>
          <a:xfrm>
            <a:off x="8138160" y="1920240"/>
            <a:ext cx="3429000" cy="3063240"/>
          </a:xfrm>
          <a:prstGeom prst="roundRect">
            <a:avLst>
              <a:gd name="adj" fmla="val 1493"/>
            </a:avLst>
          </a:prstGeom>
          <a:solidFill>
            <a:srgbClr val="EEEFF4">
              <a:alpha val="65000"/>
            </a:srgbClr>
          </a:solidFill>
          <a:ln w="8890">
            <a:solidFill>
              <a:srgbClr val="D9DAE5"/>
            </a:solidFill>
            <a:prstDash val="solid"/>
          </a:ln>
        </p:spPr>
        <p:txBody>
          <a:bodyPr/>
          <a:lstStyle/>
          <a:p>
            <a:endParaRPr lang="en-US"/>
          </a:p>
        </p:txBody>
      </p:sp>
      <p:sp>
        <p:nvSpPr>
          <p:cNvPr id="14" name="Text 12"/>
          <p:cNvSpPr/>
          <p:nvPr/>
        </p:nvSpPr>
        <p:spPr>
          <a:xfrm>
            <a:off x="8366760" y="2176272"/>
            <a:ext cx="512064" cy="512064"/>
          </a:xfrm>
          <a:prstGeom prst="rect">
            <a:avLst/>
          </a:prstGeom>
          <a:solidFill>
            <a:srgbClr val="D8D9E1"/>
          </a:solidFill>
          <a:ln/>
        </p:spPr>
        <p:txBody>
          <a:bodyPr wrap="square" lIns="0" tIns="0" rIns="0" bIns="0" rtlCol="0" anchor="ctr"/>
          <a:lstStyle/>
          <a:p>
            <a:pPr marL="0" indent="0" algn="ctr">
              <a:buNone/>
            </a:pPr>
            <a:r>
              <a:rPr lang="en-US" sz="2200" b="1" dirty="0">
                <a:solidFill>
                  <a:srgbClr val="A5A7B3"/>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8366760" y="2907792"/>
            <a:ext cx="2926080" cy="411480"/>
          </a:xfrm>
          <a:prstGeom prst="rect">
            <a:avLst/>
          </a:prstGeom>
          <a:noFill/>
          <a:ln/>
        </p:spPr>
        <p:txBody>
          <a:bodyPr wrap="square" lIns="0" tIns="0" rIns="0" bIns="0" rtlCol="0" anchor="ctr"/>
          <a:lstStyle/>
          <a:p>
            <a:pPr marL="0" indent="0">
              <a:buNone/>
            </a:pPr>
            <a:r>
              <a:rPr lang="en-US" sz="1900" b="1" dirty="0">
                <a:solidFill>
                  <a:srgbClr val="9698A4"/>
                </a:solidFill>
                <a:latin typeface="Georgia" pitchFamily="34" charset="0"/>
                <a:ea typeface="Georgia" pitchFamily="34" charset="-122"/>
                <a:cs typeface="Georgia" pitchFamily="34" charset="-120"/>
              </a:rPr>
              <a:t>Launch dependence</a:t>
            </a:r>
            <a:endParaRPr lang="en-US" sz="1900" dirty="0"/>
          </a:p>
        </p:txBody>
      </p:sp>
      <p:sp>
        <p:nvSpPr>
          <p:cNvPr id="16" name="Text 14"/>
          <p:cNvSpPr/>
          <p:nvPr/>
        </p:nvSpPr>
        <p:spPr>
          <a:xfrm>
            <a:off x="836676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A5A7B3"/>
                </a:solidFill>
                <a:latin typeface="Aptos" pitchFamily="34" charset="0"/>
                <a:ea typeface="Aptos" pitchFamily="34" charset="-122"/>
                <a:cs typeface="Aptos" pitchFamily="34" charset="-120"/>
              </a:rPr>
              <a:t>Three launch-critical SKUs sit below eight weeks of supply, and one has no qualified alternate until November.</a:t>
            </a:r>
            <a:endParaRPr lang="en-US" sz="1200" dirty="0"/>
          </a:p>
        </p:txBody>
      </p:sp>
      <p:sp>
        <p:nvSpPr>
          <p:cNvPr id="17" name="Text 15"/>
          <p:cNvSpPr/>
          <p:nvPr/>
        </p:nvSpPr>
        <p:spPr>
          <a:xfrm>
            <a:off x="914400" y="5577840"/>
            <a:ext cx="10241280" cy="411480"/>
          </a:xfrm>
          <a:prstGeom prst="rect">
            <a:avLst/>
          </a:prstGeom>
          <a:noFill/>
          <a:ln/>
        </p:spPr>
        <p:txBody>
          <a:bodyPr wrap="square" lIns="0" tIns="0" rIns="0" bIns="0" rtlCol="0" anchor="ctr"/>
          <a:lstStyle/>
          <a:p>
            <a:pPr marL="0" indent="0" algn="ctr">
              <a:buNone/>
            </a:pPr>
            <a:r>
              <a:rPr lang="en-US" sz="2000" i="1" dirty="0">
                <a:solidFill>
                  <a:srgbClr val="606277"/>
                </a:solidFill>
                <a:latin typeface="Georgia" pitchFamily="34" charset="0"/>
                <a:ea typeface="Georgia" pitchFamily="34" charset="-122"/>
                <a:cs typeface="Georgia" pitchFamily="34" charset="-120"/>
              </a:rPr>
              <a:t>Build the context one pressure at a time.</a:t>
            </a:r>
            <a:endParaRPr lang="en-US" sz="2000" dirty="0"/>
          </a:p>
        </p:txBody>
      </p:sp>
      <p:sp>
        <p:nvSpPr>
          <p:cNvPr id="19" name="Shape 16"/>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0" name="Text 17"/>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1" name="Text 18"/>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4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WHY THIS </a:t>
            </a:r>
            <a:r>
              <a:rPr lang="en-US" sz="950" b="1" kern="0" spc="160">
                <a:solidFill>
                  <a:srgbClr val="2E3A72"/>
                </a:solidFill>
                <a:latin typeface="Aptos" pitchFamily="34" charset="0"/>
                <a:ea typeface="Aptos" pitchFamily="34" charset="-122"/>
                <a:cs typeface="Aptos" pitchFamily="34" charset="-120"/>
              </a:rPr>
              <a:t>MATTERS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Three pressures. One supplier conversation.</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Dimmed cards are intentionally revealed across the Morph sequence.</a:t>
            </a:r>
            <a:endParaRPr lang="en-US" sz="1300" dirty="0"/>
          </a:p>
        </p:txBody>
      </p:sp>
      <p:sp>
        <p:nvSpPr>
          <p:cNvPr id="5" name="Shape 3"/>
          <p:cNvSpPr/>
          <p:nvPr/>
        </p:nvSpPr>
        <p:spPr>
          <a:xfrm>
            <a:off x="731520" y="1920240"/>
            <a:ext cx="3429000" cy="3063240"/>
          </a:xfrm>
          <a:prstGeom prst="roundRect">
            <a:avLst>
              <a:gd name="adj" fmla="val 1493"/>
            </a:avLst>
          </a:prstGeom>
          <a:solidFill>
            <a:srgbClr val="FFFFFF"/>
          </a:solidFill>
          <a:ln w="20320">
            <a:solidFill>
              <a:srgbClr val="2E3A72"/>
            </a:solidFill>
            <a:prstDash val="solid"/>
          </a:ln>
        </p:spPr>
        <p:txBody>
          <a:bodyPr/>
          <a:lstStyle/>
          <a:p>
            <a:endParaRPr lang="en-US"/>
          </a:p>
        </p:txBody>
      </p:sp>
      <p:sp>
        <p:nvSpPr>
          <p:cNvPr id="6" name="Text 4"/>
          <p:cNvSpPr/>
          <p:nvPr/>
        </p:nvSpPr>
        <p:spPr>
          <a:xfrm>
            <a:off x="960120" y="2176272"/>
            <a:ext cx="512064" cy="512064"/>
          </a:xfrm>
          <a:prstGeom prst="rect">
            <a:avLst/>
          </a:prstGeom>
          <a:solidFill>
            <a:srgbClr val="2E3A72"/>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96012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Route volatility</a:t>
            </a:r>
            <a:endParaRPr lang="en-US" sz="1900" dirty="0"/>
          </a:p>
        </p:txBody>
      </p:sp>
      <p:sp>
        <p:nvSpPr>
          <p:cNvPr id="8" name="Text 6"/>
          <p:cNvSpPr/>
          <p:nvPr/>
        </p:nvSpPr>
        <p:spPr>
          <a:xfrm>
            <a:off x="96012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Red Sea security risk can lengthen journeys and disrupt schedules. Suez is not 'closed'; route and carrier evidence matter.</a:t>
            </a:r>
            <a:endParaRPr lang="en-US" sz="1200" dirty="0"/>
          </a:p>
        </p:txBody>
      </p:sp>
      <p:sp>
        <p:nvSpPr>
          <p:cNvPr id="9" name="Shape 7"/>
          <p:cNvSpPr/>
          <p:nvPr/>
        </p:nvSpPr>
        <p:spPr>
          <a:xfrm>
            <a:off x="4434840" y="1920240"/>
            <a:ext cx="3429000" cy="3063240"/>
          </a:xfrm>
          <a:prstGeom prst="roundRect">
            <a:avLst>
              <a:gd name="adj" fmla="val 1493"/>
            </a:avLst>
          </a:prstGeom>
          <a:solidFill>
            <a:srgbClr val="FFFFFF"/>
          </a:solidFill>
          <a:ln w="20320">
            <a:solidFill>
              <a:srgbClr val="B6955B"/>
            </a:solidFill>
            <a:prstDash val="solid"/>
          </a:ln>
        </p:spPr>
        <p:txBody>
          <a:bodyPr/>
          <a:lstStyle/>
          <a:p>
            <a:endParaRPr lang="en-US"/>
          </a:p>
        </p:txBody>
      </p:sp>
      <p:sp>
        <p:nvSpPr>
          <p:cNvPr id="10" name="Text 8"/>
          <p:cNvSpPr/>
          <p:nvPr/>
        </p:nvSpPr>
        <p:spPr>
          <a:xfrm>
            <a:off x="4663440" y="2176272"/>
            <a:ext cx="512064" cy="512064"/>
          </a:xfrm>
          <a:prstGeom prst="rect">
            <a:avLst/>
          </a:prstGeom>
          <a:solidFill>
            <a:srgbClr val="B6955B"/>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466344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Tariff complexity</a:t>
            </a:r>
            <a:endParaRPr lang="en-US" sz="1900" dirty="0"/>
          </a:p>
        </p:txBody>
      </p:sp>
      <p:sp>
        <p:nvSpPr>
          <p:cNvPr id="12" name="Text 10"/>
          <p:cNvSpPr/>
          <p:nvPr/>
        </p:nvSpPr>
        <p:spPr>
          <a:xfrm>
            <a:off x="466344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Section 232 and Section 301 may apply, but classification, origin, value, date, and exclusions determine the actual impact.</a:t>
            </a:r>
            <a:endParaRPr lang="en-US" sz="1200" dirty="0"/>
          </a:p>
        </p:txBody>
      </p:sp>
      <p:sp>
        <p:nvSpPr>
          <p:cNvPr id="13" name="Shape 11"/>
          <p:cNvSpPr/>
          <p:nvPr/>
        </p:nvSpPr>
        <p:spPr>
          <a:xfrm>
            <a:off x="8138160" y="1920240"/>
            <a:ext cx="3429000" cy="3063240"/>
          </a:xfrm>
          <a:prstGeom prst="roundRect">
            <a:avLst>
              <a:gd name="adj" fmla="val 1493"/>
            </a:avLst>
          </a:prstGeom>
          <a:solidFill>
            <a:srgbClr val="FFFFFF"/>
          </a:solidFill>
          <a:ln w="20320">
            <a:solidFill>
              <a:srgbClr val="B11F4B"/>
            </a:solidFill>
            <a:prstDash val="solid"/>
          </a:ln>
        </p:spPr>
        <p:txBody>
          <a:bodyPr/>
          <a:lstStyle/>
          <a:p>
            <a:endParaRPr lang="en-US"/>
          </a:p>
        </p:txBody>
      </p:sp>
      <p:sp>
        <p:nvSpPr>
          <p:cNvPr id="14" name="Text 12"/>
          <p:cNvSpPr/>
          <p:nvPr/>
        </p:nvSpPr>
        <p:spPr>
          <a:xfrm>
            <a:off x="8366760" y="2176272"/>
            <a:ext cx="512064" cy="512064"/>
          </a:xfrm>
          <a:prstGeom prst="rect">
            <a:avLst/>
          </a:prstGeom>
          <a:solidFill>
            <a:srgbClr val="B11F4B"/>
          </a:solid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8366760" y="2907792"/>
            <a:ext cx="2926080" cy="411480"/>
          </a:xfrm>
          <a:prstGeom prst="rect">
            <a:avLst/>
          </a:prstGeom>
          <a:noFill/>
          <a:ln/>
        </p:spPr>
        <p:txBody>
          <a:bodyPr wrap="square" lIns="0" tIns="0" rIns="0" bIns="0" rtlCol="0" anchor="ctr"/>
          <a:lstStyle/>
          <a:p>
            <a:pPr marL="0" indent="0">
              <a:buNone/>
            </a:pPr>
            <a:r>
              <a:rPr lang="en-US" sz="1900" b="1" dirty="0">
                <a:solidFill>
                  <a:srgbClr val="06123B"/>
                </a:solidFill>
                <a:latin typeface="Georgia" pitchFamily="34" charset="0"/>
                <a:ea typeface="Georgia" pitchFamily="34" charset="-122"/>
                <a:cs typeface="Georgia" pitchFamily="34" charset="-120"/>
              </a:rPr>
              <a:t>Launch dependence</a:t>
            </a:r>
            <a:endParaRPr lang="en-US" sz="1900" dirty="0"/>
          </a:p>
        </p:txBody>
      </p:sp>
      <p:sp>
        <p:nvSpPr>
          <p:cNvPr id="16" name="Text 14"/>
          <p:cNvSpPr/>
          <p:nvPr/>
        </p:nvSpPr>
        <p:spPr>
          <a:xfrm>
            <a:off x="8366760" y="3547872"/>
            <a:ext cx="2926080" cy="1051560"/>
          </a:xfrm>
          <a:prstGeom prst="rect">
            <a:avLst/>
          </a:prstGeom>
          <a:noFill/>
          <a:ln/>
        </p:spPr>
        <p:txBody>
          <a:bodyPr wrap="square" lIns="0" tIns="0" rIns="0" bIns="0" rtlCol="0" anchor="ctr">
            <a:normAutofit/>
          </a:bodyPr>
          <a:lstStyle/>
          <a:p>
            <a:pPr marL="0" indent="0">
              <a:buNone/>
            </a:pPr>
            <a:r>
              <a:rPr lang="en-US" sz="1200" dirty="0">
                <a:solidFill>
                  <a:srgbClr val="17182B"/>
                </a:solidFill>
                <a:latin typeface="Aptos" pitchFamily="34" charset="0"/>
                <a:ea typeface="Aptos" pitchFamily="34" charset="-122"/>
                <a:cs typeface="Aptos" pitchFamily="34" charset="-120"/>
              </a:rPr>
              <a:t>Three launch-critical SKUs sit below eight weeks of supply, and one has no qualified alternate until November.</a:t>
            </a:r>
            <a:endParaRPr lang="en-US" sz="1200" dirty="0"/>
          </a:p>
        </p:txBody>
      </p:sp>
      <p:sp>
        <p:nvSpPr>
          <p:cNvPr id="17" name="Text 15"/>
          <p:cNvSpPr/>
          <p:nvPr/>
        </p:nvSpPr>
        <p:spPr>
          <a:xfrm>
            <a:off x="914400" y="5577840"/>
            <a:ext cx="10241280" cy="411480"/>
          </a:xfrm>
          <a:prstGeom prst="rect">
            <a:avLst/>
          </a:prstGeom>
          <a:noFill/>
          <a:ln/>
        </p:spPr>
        <p:txBody>
          <a:bodyPr wrap="square" lIns="0" tIns="0" rIns="0" bIns="0" rtlCol="0" anchor="ctr"/>
          <a:lstStyle/>
          <a:p>
            <a:pPr marL="0" indent="0" algn="ctr">
              <a:buNone/>
            </a:pPr>
            <a:r>
              <a:rPr lang="en-US" sz="2000" i="1" dirty="0">
                <a:solidFill>
                  <a:srgbClr val="B11F4B"/>
                </a:solidFill>
                <a:latin typeface="Georgia" pitchFamily="34" charset="0"/>
                <a:ea typeface="Georgia" pitchFamily="34" charset="-122"/>
                <a:cs typeface="Georgia" pitchFamily="34" charset="-120"/>
              </a:rPr>
              <a:t>The mistake: negotiating the headline instead of the evidence.</a:t>
            </a:r>
            <a:endParaRPr lang="en-US" sz="2000" dirty="0"/>
          </a:p>
        </p:txBody>
      </p:sp>
      <p:sp>
        <p:nvSpPr>
          <p:cNvPr id="19" name="Shape 16"/>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0" name="Text 17"/>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1" name="Text 18"/>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5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SCENARIO</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Aurelia Beauty Group × Orion Luxe Components</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 prestige-beauty launch </a:t>
            </a:r>
            <a:r>
              <a:rPr lang="en-US" sz="1300">
                <a:solidFill>
                  <a:srgbClr val="606277"/>
                </a:solidFill>
                <a:latin typeface="Aptos" pitchFamily="34" charset="0"/>
                <a:ea typeface="Aptos" pitchFamily="34" charset="-122"/>
                <a:cs typeface="Aptos" pitchFamily="34" charset="-120"/>
              </a:rPr>
              <a:t>scenario that </a:t>
            </a:r>
            <a:r>
              <a:rPr lang="en-US" sz="1300" dirty="0">
                <a:solidFill>
                  <a:srgbClr val="606277"/>
                </a:solidFill>
                <a:latin typeface="Aptos" pitchFamily="34" charset="0"/>
                <a:ea typeface="Aptos" pitchFamily="34" charset="-122"/>
                <a:cs typeface="Aptos" pitchFamily="34" charset="-120"/>
              </a:rPr>
              <a:t>creates a realistic supplier decision without </a:t>
            </a:r>
            <a:r>
              <a:rPr lang="en-US" sz="1300">
                <a:solidFill>
                  <a:srgbClr val="606277"/>
                </a:solidFill>
                <a:latin typeface="Aptos" pitchFamily="34" charset="0"/>
                <a:ea typeface="Aptos" pitchFamily="34" charset="-122"/>
                <a:cs typeface="Aptos" pitchFamily="34" charset="-120"/>
              </a:rPr>
              <a:t>exposing</a:t>
            </a:r>
            <a:r>
              <a:rPr lang="en-US" sz="1300" dirty="0">
                <a:solidFill>
                  <a:srgbClr val="606277"/>
                </a:solidFill>
                <a:latin typeface="Aptos" pitchFamily="34" charset="0"/>
                <a:ea typeface="Aptos" pitchFamily="34" charset="-122"/>
                <a:cs typeface="Aptos" pitchFamily="34" charset="-120"/>
              </a:rPr>
              <a:t> confidential data.</a:t>
            </a:r>
            <a:endParaRPr lang="en-US" sz="1300" dirty="0"/>
          </a:p>
        </p:txBody>
      </p:sp>
      <p:sp>
        <p:nvSpPr>
          <p:cNvPr id="5" name="Shape 3"/>
          <p:cNvSpPr/>
          <p:nvPr/>
        </p:nvSpPr>
        <p:spPr>
          <a:xfrm>
            <a:off x="731520" y="1828800"/>
            <a:ext cx="3291840" cy="3566160"/>
          </a:xfrm>
          <a:prstGeom prst="roundRect">
            <a:avLst>
              <a:gd name="adj" fmla="val 2222"/>
            </a:avLst>
          </a:prstGeom>
          <a:solidFill>
            <a:srgbClr val="FFFFFF"/>
          </a:solidFill>
          <a:ln w="8890">
            <a:solidFill>
              <a:srgbClr val="D9DAE5"/>
            </a:solidFill>
            <a:prstDash val="solid"/>
          </a:ln>
          <a:effectLst>
            <a:outerShdw blurRad="12700" dist="50800" dir="2700000" algn="bl" rotWithShape="0">
              <a:srgbClr val="000000">
                <a:alpha val="8000"/>
              </a:srgbClr>
            </a:outerShdw>
          </a:effectLst>
        </p:spPr>
        <p:txBody>
          <a:bodyPr/>
          <a:lstStyle/>
          <a:p>
            <a:endParaRPr lang="en-US"/>
          </a:p>
        </p:txBody>
      </p:sp>
      <p:sp>
        <p:nvSpPr>
          <p:cNvPr id="6" name="Shape 4"/>
          <p:cNvSpPr/>
          <p:nvPr/>
        </p:nvSpPr>
        <p:spPr>
          <a:xfrm>
            <a:off x="731520" y="1828800"/>
            <a:ext cx="73152" cy="3566160"/>
          </a:xfrm>
          <a:prstGeom prst="rect">
            <a:avLst/>
          </a:prstGeom>
          <a:solidFill>
            <a:srgbClr val="B11F4B"/>
          </a:solidFill>
          <a:ln w="12700">
            <a:solidFill>
              <a:srgbClr val="B11F4B"/>
            </a:solidFill>
            <a:prstDash val="solid"/>
          </a:ln>
        </p:spPr>
        <p:txBody>
          <a:bodyPr/>
          <a:lstStyle/>
          <a:p>
            <a:endParaRPr lang="en-US"/>
          </a:p>
        </p:txBody>
      </p:sp>
      <p:sp>
        <p:nvSpPr>
          <p:cNvPr id="7" name="Text 5"/>
          <p:cNvSpPr/>
          <p:nvPr/>
        </p:nvSpPr>
        <p:spPr>
          <a:xfrm>
            <a:off x="960120" y="1993392"/>
            <a:ext cx="288036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What Orion wants</a:t>
            </a:r>
            <a:endParaRPr lang="en-US" sz="1500" dirty="0"/>
          </a:p>
        </p:txBody>
      </p:sp>
      <p:sp>
        <p:nvSpPr>
          <p:cNvPr id="8" name="Text 6"/>
          <p:cNvSpPr/>
          <p:nvPr/>
        </p:nvSpPr>
        <p:spPr>
          <a:xfrm>
            <a:off x="960120" y="2414016"/>
            <a:ext cx="2880360" cy="2816352"/>
          </a:xfrm>
          <a:prstGeom prst="rect">
            <a:avLst/>
          </a:prstGeom>
          <a:noFill/>
          <a:ln/>
        </p:spPr>
        <p:txBody>
          <a:bodyPr wrap="square" lIns="0" tIns="0" rIns="0" bIns="0" rtlCol="0" anchor="t">
            <a:normAutofit/>
          </a:bodyPr>
          <a:lstStyle/>
          <a:p>
            <a:pPr marL="0" indent="0">
              <a:buNone/>
            </a:pPr>
            <a:r>
              <a:rPr lang="en-US" sz="1150" dirty="0">
                <a:solidFill>
                  <a:srgbClr val="17182B"/>
                </a:solidFill>
                <a:latin typeface="Aptos" pitchFamily="34" charset="0"/>
                <a:ea typeface="Aptos" pitchFamily="34" charset="-122"/>
                <a:cs typeface="Aptos" pitchFamily="34" charset="-120"/>
              </a:rPr>
              <a:t>A 7.9% blended temporary increase covering freight, tariffs, and capacity reservation—with a six-month floor and no audit.</a:t>
            </a:r>
            <a:endParaRPr lang="en-US" sz="1150" dirty="0"/>
          </a:p>
        </p:txBody>
      </p:sp>
      <p:sp>
        <p:nvSpPr>
          <p:cNvPr id="9" name="Shape 7"/>
          <p:cNvSpPr/>
          <p:nvPr/>
        </p:nvSpPr>
        <p:spPr>
          <a:xfrm>
            <a:off x="4434840" y="1828800"/>
            <a:ext cx="3291840" cy="3566160"/>
          </a:xfrm>
          <a:prstGeom prst="roundRect">
            <a:avLst>
              <a:gd name="adj" fmla="val 2222"/>
            </a:avLst>
          </a:prstGeom>
          <a:solidFill>
            <a:srgbClr val="FFFFFF"/>
          </a:solidFill>
          <a:ln w="8890">
            <a:solidFill>
              <a:srgbClr val="D9DAE5"/>
            </a:solidFill>
            <a:prstDash val="solid"/>
          </a:ln>
          <a:effectLst>
            <a:outerShdw blurRad="12700" dist="50800" dir="2700000" algn="bl" rotWithShape="0">
              <a:srgbClr val="000000">
                <a:alpha val="8000"/>
              </a:srgbClr>
            </a:outerShdw>
          </a:effectLst>
        </p:spPr>
        <p:txBody>
          <a:bodyPr/>
          <a:lstStyle/>
          <a:p>
            <a:endParaRPr lang="en-US"/>
          </a:p>
        </p:txBody>
      </p:sp>
      <p:sp>
        <p:nvSpPr>
          <p:cNvPr id="10" name="Shape 8"/>
          <p:cNvSpPr/>
          <p:nvPr/>
        </p:nvSpPr>
        <p:spPr>
          <a:xfrm>
            <a:off x="4434840" y="1828800"/>
            <a:ext cx="73152" cy="3566160"/>
          </a:xfrm>
          <a:prstGeom prst="rect">
            <a:avLst/>
          </a:prstGeom>
          <a:solidFill>
            <a:srgbClr val="2E3A72"/>
          </a:solidFill>
          <a:ln w="12700">
            <a:solidFill>
              <a:srgbClr val="2E3A72"/>
            </a:solidFill>
            <a:prstDash val="solid"/>
          </a:ln>
        </p:spPr>
        <p:txBody>
          <a:bodyPr/>
          <a:lstStyle/>
          <a:p>
            <a:endParaRPr lang="en-US"/>
          </a:p>
        </p:txBody>
      </p:sp>
      <p:sp>
        <p:nvSpPr>
          <p:cNvPr id="11" name="Text 9"/>
          <p:cNvSpPr/>
          <p:nvPr/>
        </p:nvSpPr>
        <p:spPr>
          <a:xfrm>
            <a:off x="4663440" y="1993392"/>
            <a:ext cx="288036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What Aurelia needs</a:t>
            </a:r>
            <a:endParaRPr lang="en-US" sz="1500" dirty="0"/>
          </a:p>
        </p:txBody>
      </p:sp>
      <p:sp>
        <p:nvSpPr>
          <p:cNvPr id="12" name="Text 10"/>
          <p:cNvSpPr/>
          <p:nvPr/>
        </p:nvSpPr>
        <p:spPr>
          <a:xfrm>
            <a:off x="4663440" y="2414016"/>
            <a:ext cx="2880360" cy="2816352"/>
          </a:xfrm>
          <a:prstGeom prst="rect">
            <a:avLst/>
          </a:prstGeom>
          <a:noFill/>
          <a:ln/>
        </p:spPr>
        <p:txBody>
          <a:bodyPr wrap="square" lIns="0" tIns="0" rIns="0" bIns="0" rtlCol="0" anchor="t">
            <a:normAutofit/>
          </a:bodyPr>
          <a:lstStyle/>
          <a:p>
            <a:pPr marL="0" indent="0">
              <a:buNone/>
            </a:pPr>
            <a:r>
              <a:rPr lang="en-US" sz="1150" dirty="0">
                <a:solidFill>
                  <a:srgbClr val="17182B"/>
                </a:solidFill>
                <a:latin typeface="Aptos" pitchFamily="34" charset="0"/>
                <a:ea typeface="Aptos" pitchFamily="34" charset="-122"/>
                <a:cs typeface="Aptos" pitchFamily="34" charset="-120"/>
              </a:rPr>
              <a:t>Launch allocation, verified SKU-level recovery only, a two-way reset, audit rights, mitigation, and a qualified alternate.</a:t>
            </a:r>
            <a:endParaRPr lang="en-US" sz="1150" dirty="0"/>
          </a:p>
        </p:txBody>
      </p:sp>
      <p:sp>
        <p:nvSpPr>
          <p:cNvPr id="13" name="Shape 11"/>
          <p:cNvSpPr/>
          <p:nvPr/>
        </p:nvSpPr>
        <p:spPr>
          <a:xfrm>
            <a:off x="8138160" y="1828800"/>
            <a:ext cx="3291840" cy="3566160"/>
          </a:xfrm>
          <a:prstGeom prst="roundRect">
            <a:avLst>
              <a:gd name="adj" fmla="val 2222"/>
            </a:avLst>
          </a:prstGeom>
          <a:solidFill>
            <a:srgbClr val="FFFFFF"/>
          </a:solidFill>
          <a:ln w="8890">
            <a:solidFill>
              <a:srgbClr val="D9DAE5"/>
            </a:solidFill>
            <a:prstDash val="solid"/>
          </a:ln>
          <a:effectLst>
            <a:outerShdw blurRad="12700" dist="50800" dir="2700000" algn="bl" rotWithShape="0">
              <a:srgbClr val="000000">
                <a:alpha val="8000"/>
              </a:srgbClr>
            </a:outerShdw>
          </a:effectLst>
        </p:spPr>
        <p:txBody>
          <a:bodyPr/>
          <a:lstStyle/>
          <a:p>
            <a:endParaRPr lang="en-US"/>
          </a:p>
        </p:txBody>
      </p:sp>
      <p:sp>
        <p:nvSpPr>
          <p:cNvPr id="14" name="Shape 12"/>
          <p:cNvSpPr/>
          <p:nvPr/>
        </p:nvSpPr>
        <p:spPr>
          <a:xfrm>
            <a:off x="8138160" y="1828800"/>
            <a:ext cx="73152" cy="3566160"/>
          </a:xfrm>
          <a:prstGeom prst="rect">
            <a:avLst/>
          </a:prstGeom>
          <a:solidFill>
            <a:srgbClr val="B6955B"/>
          </a:solidFill>
          <a:ln w="12700">
            <a:solidFill>
              <a:srgbClr val="B6955B"/>
            </a:solidFill>
            <a:prstDash val="solid"/>
          </a:ln>
        </p:spPr>
        <p:txBody>
          <a:bodyPr/>
          <a:lstStyle/>
          <a:p>
            <a:endParaRPr lang="en-US"/>
          </a:p>
        </p:txBody>
      </p:sp>
      <p:sp>
        <p:nvSpPr>
          <p:cNvPr id="15" name="Text 13"/>
          <p:cNvSpPr/>
          <p:nvPr/>
        </p:nvSpPr>
        <p:spPr>
          <a:xfrm>
            <a:off x="8366760" y="1993392"/>
            <a:ext cx="288036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What makes it hard</a:t>
            </a:r>
            <a:endParaRPr lang="en-US" sz="1500" dirty="0"/>
          </a:p>
        </p:txBody>
      </p:sp>
      <p:sp>
        <p:nvSpPr>
          <p:cNvPr id="16" name="Text 14"/>
          <p:cNvSpPr/>
          <p:nvPr/>
        </p:nvSpPr>
        <p:spPr>
          <a:xfrm>
            <a:off x="8366760" y="2414016"/>
            <a:ext cx="2880360" cy="2816352"/>
          </a:xfrm>
          <a:prstGeom prst="rect">
            <a:avLst/>
          </a:prstGeom>
          <a:noFill/>
          <a:ln/>
        </p:spPr>
        <p:txBody>
          <a:bodyPr wrap="square" lIns="0" tIns="0" rIns="0" bIns="0" rtlCol="0" anchor="t">
            <a:normAutofit/>
          </a:bodyPr>
          <a:lstStyle/>
          <a:p>
            <a:pPr marL="0" indent="0">
              <a:buNone/>
            </a:pPr>
            <a:r>
              <a:rPr lang="en-US" sz="1150" dirty="0">
                <a:solidFill>
                  <a:srgbClr val="17182B"/>
                </a:solidFill>
                <a:latin typeface="Aptos" pitchFamily="34" charset="0"/>
                <a:ea typeface="Aptos" pitchFamily="34" charset="-122"/>
                <a:cs typeface="Aptos" pitchFamily="34" charset="-120"/>
              </a:rPr>
              <a:t>Some costs are plausible. Some are unsupported. One surcharge is expired. Rejecting everything could increase launch risk.</a:t>
            </a:r>
            <a:endParaRPr lang="en-US" sz="1150" dirty="0"/>
          </a:p>
        </p:txBody>
      </p:sp>
      <p:sp>
        <p:nvSpPr>
          <p:cNvPr id="17" name="Text 15"/>
          <p:cNvSpPr/>
          <p:nvPr/>
        </p:nvSpPr>
        <p:spPr>
          <a:xfrm>
            <a:off x="822960" y="5806440"/>
            <a:ext cx="10515600" cy="384048"/>
          </a:xfrm>
          <a:prstGeom prst="rect">
            <a:avLst/>
          </a:prstGeom>
          <a:noFill/>
          <a:ln/>
        </p:spPr>
        <p:txBody>
          <a:bodyPr wrap="square" lIns="0" tIns="0" rIns="0" bIns="0" rtlCol="0" anchor="ctr"/>
          <a:lstStyle/>
          <a:p>
            <a:pPr marL="0" indent="0" algn="ctr">
              <a:buNone/>
            </a:pPr>
            <a:r>
              <a:rPr lang="en-US" sz="2000" b="1" dirty="0">
                <a:solidFill>
                  <a:srgbClr val="06123B"/>
                </a:solidFill>
                <a:latin typeface="Georgia" pitchFamily="34" charset="0"/>
                <a:ea typeface="Georgia" pitchFamily="34" charset="-122"/>
                <a:cs typeface="Georgia" pitchFamily="34" charset="-120"/>
              </a:rPr>
              <a:t>The decision is not yes or no. It is what to trade, verify, cap, and trigger.</a:t>
            </a:r>
            <a:endParaRPr lang="en-US" sz="2000" dirty="0"/>
          </a:p>
        </p:txBody>
      </p:sp>
      <p:sp>
        <p:nvSpPr>
          <p:cNvPr id="19" name="Shape 16"/>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0" name="Text 17"/>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1" name="Text 18"/>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6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REPEATABLE WORKFLOW</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Verify → Challenge → Trade → Trigger</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 four-stage supplier decision loop that can be reused across categories.</a:t>
            </a:r>
            <a:endParaRPr lang="en-US" sz="1300" dirty="0"/>
          </a:p>
        </p:txBody>
      </p:sp>
      <p:sp>
        <p:nvSpPr>
          <p:cNvPr id="5" name="Shape 3"/>
          <p:cNvSpPr/>
          <p:nvPr/>
        </p:nvSpPr>
        <p:spPr>
          <a:xfrm>
            <a:off x="594360" y="2103120"/>
            <a:ext cx="2487168" cy="2514600"/>
          </a:xfrm>
          <a:prstGeom prst="roundRect">
            <a:avLst>
              <a:gd name="adj" fmla="val 2206"/>
            </a:avLst>
          </a:prstGeom>
          <a:solidFill>
            <a:srgbClr val="FFFFFF"/>
          </a:solidFill>
          <a:ln w="19050">
            <a:solidFill>
              <a:srgbClr val="2E3A72"/>
            </a:solidFill>
            <a:prstDash val="solid"/>
          </a:ln>
        </p:spPr>
        <p:txBody>
          <a:bodyPr/>
          <a:lstStyle/>
          <a:p>
            <a:endParaRPr lang="en-US"/>
          </a:p>
        </p:txBody>
      </p:sp>
      <p:sp>
        <p:nvSpPr>
          <p:cNvPr id="6" name="Shape 4"/>
          <p:cNvSpPr/>
          <p:nvPr/>
        </p:nvSpPr>
        <p:spPr>
          <a:xfrm>
            <a:off x="1371600" y="2395728"/>
            <a:ext cx="914400" cy="914400"/>
          </a:xfrm>
          <a:prstGeom prst="ellipse">
            <a:avLst/>
          </a:prstGeom>
          <a:solidFill>
            <a:srgbClr val="2E3A72"/>
          </a:solidFill>
          <a:ln w="12700">
            <a:solidFill>
              <a:srgbClr val="2E3A72"/>
            </a:solidFill>
            <a:prstDash val="solid"/>
          </a:ln>
        </p:spPr>
        <p:txBody>
          <a:bodyPr/>
          <a:lstStyle/>
          <a:p>
            <a:endParaRPr lang="en-US"/>
          </a:p>
        </p:txBody>
      </p:sp>
      <p:sp>
        <p:nvSpPr>
          <p:cNvPr id="7" name="Text 5"/>
          <p:cNvSpPr/>
          <p:nvPr/>
        </p:nvSpPr>
        <p:spPr>
          <a:xfrm>
            <a:off x="137160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77724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2E3A72"/>
                </a:solidFill>
                <a:latin typeface="Aptos" pitchFamily="34" charset="0"/>
                <a:ea typeface="Aptos" pitchFamily="34" charset="-122"/>
                <a:cs typeface="Aptos" pitchFamily="34" charset="-120"/>
              </a:rPr>
              <a:t>VERIFY</a:t>
            </a:r>
            <a:endParaRPr lang="en-US" sz="1200" dirty="0"/>
          </a:p>
        </p:txBody>
      </p:sp>
      <p:sp>
        <p:nvSpPr>
          <p:cNvPr id="9" name="Text 7"/>
          <p:cNvSpPr/>
          <p:nvPr/>
        </p:nvSpPr>
        <p:spPr>
          <a:xfrm>
            <a:off x="79552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Separate facts, assertions, calculations, and assumptions.</a:t>
            </a:r>
            <a:endParaRPr lang="en-US" sz="1050" dirty="0"/>
          </a:p>
        </p:txBody>
      </p:sp>
      <p:sp>
        <p:nvSpPr>
          <p:cNvPr id="10" name="Text 8"/>
          <p:cNvSpPr/>
          <p:nvPr/>
        </p:nvSpPr>
        <p:spPr>
          <a:xfrm>
            <a:off x="311810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347472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12" name="Shape 10"/>
          <p:cNvSpPr/>
          <p:nvPr/>
        </p:nvSpPr>
        <p:spPr>
          <a:xfrm>
            <a:off x="425196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13" name="Text 11"/>
          <p:cNvSpPr/>
          <p:nvPr/>
        </p:nvSpPr>
        <p:spPr>
          <a:xfrm>
            <a:off x="425196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365760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CHALLENGE</a:t>
            </a:r>
            <a:endParaRPr lang="en-US" sz="1200" dirty="0"/>
          </a:p>
        </p:txBody>
      </p:sp>
      <p:sp>
        <p:nvSpPr>
          <p:cNvPr id="15" name="Text 13"/>
          <p:cNvSpPr/>
          <p:nvPr/>
        </p:nvSpPr>
        <p:spPr>
          <a:xfrm>
            <a:off x="367588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Test the claim against evidence, contract, dates, and duplication.</a:t>
            </a:r>
            <a:endParaRPr lang="en-US" sz="1050" dirty="0"/>
          </a:p>
        </p:txBody>
      </p:sp>
      <p:sp>
        <p:nvSpPr>
          <p:cNvPr id="16" name="Text 14"/>
          <p:cNvSpPr/>
          <p:nvPr/>
        </p:nvSpPr>
        <p:spPr>
          <a:xfrm>
            <a:off x="599846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635508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18" name="Shape 16"/>
          <p:cNvSpPr/>
          <p:nvPr/>
        </p:nvSpPr>
        <p:spPr>
          <a:xfrm>
            <a:off x="713232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19" name="Text 17"/>
          <p:cNvSpPr/>
          <p:nvPr/>
        </p:nvSpPr>
        <p:spPr>
          <a:xfrm>
            <a:off x="713232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3</a:t>
            </a:r>
            <a:endParaRPr lang="en-US" sz="2600" dirty="0"/>
          </a:p>
        </p:txBody>
      </p:sp>
      <p:sp>
        <p:nvSpPr>
          <p:cNvPr id="20" name="Text 18"/>
          <p:cNvSpPr/>
          <p:nvPr/>
        </p:nvSpPr>
        <p:spPr>
          <a:xfrm>
            <a:off x="653796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TRADE</a:t>
            </a:r>
            <a:endParaRPr lang="en-US" sz="1200" dirty="0"/>
          </a:p>
        </p:txBody>
      </p:sp>
      <p:sp>
        <p:nvSpPr>
          <p:cNvPr id="21" name="Text 19"/>
          <p:cNvSpPr/>
          <p:nvPr/>
        </p:nvSpPr>
        <p:spPr>
          <a:xfrm>
            <a:off x="655624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Build a give-get ladder that protects launch and precedent.</a:t>
            </a:r>
            <a:endParaRPr lang="en-US" sz="1050" dirty="0"/>
          </a:p>
        </p:txBody>
      </p:sp>
      <p:sp>
        <p:nvSpPr>
          <p:cNvPr id="22" name="Text 20"/>
          <p:cNvSpPr/>
          <p:nvPr/>
        </p:nvSpPr>
        <p:spPr>
          <a:xfrm>
            <a:off x="887882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23" name="Shape 21"/>
          <p:cNvSpPr/>
          <p:nvPr/>
        </p:nvSpPr>
        <p:spPr>
          <a:xfrm>
            <a:off x="923544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24" name="Shape 22"/>
          <p:cNvSpPr/>
          <p:nvPr/>
        </p:nvSpPr>
        <p:spPr>
          <a:xfrm>
            <a:off x="1001268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25" name="Text 23"/>
          <p:cNvSpPr/>
          <p:nvPr/>
        </p:nvSpPr>
        <p:spPr>
          <a:xfrm>
            <a:off x="1001268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4</a:t>
            </a:r>
            <a:endParaRPr lang="en-US" sz="2600" dirty="0"/>
          </a:p>
        </p:txBody>
      </p:sp>
      <p:sp>
        <p:nvSpPr>
          <p:cNvPr id="26" name="Text 24"/>
          <p:cNvSpPr/>
          <p:nvPr/>
        </p:nvSpPr>
        <p:spPr>
          <a:xfrm>
            <a:off x="941832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TRIGGER</a:t>
            </a:r>
            <a:endParaRPr lang="en-US" sz="1200" dirty="0"/>
          </a:p>
        </p:txBody>
      </p:sp>
      <p:sp>
        <p:nvSpPr>
          <p:cNvPr id="27" name="Text 25"/>
          <p:cNvSpPr/>
          <p:nvPr/>
        </p:nvSpPr>
        <p:spPr>
          <a:xfrm>
            <a:off x="943660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Define thresholds, owners, and leadership decisions.</a:t>
            </a:r>
            <a:endParaRPr lang="en-US" sz="1050" dirty="0"/>
          </a:p>
        </p:txBody>
      </p:sp>
      <p:sp>
        <p:nvSpPr>
          <p:cNvPr id="28" name="Text 26"/>
          <p:cNvSpPr/>
          <p:nvPr/>
        </p:nvSpPr>
        <p:spPr>
          <a:xfrm>
            <a:off x="822960" y="5394960"/>
            <a:ext cx="10515600" cy="411480"/>
          </a:xfrm>
          <a:prstGeom prst="rect">
            <a:avLst/>
          </a:prstGeom>
          <a:noFill/>
          <a:ln/>
        </p:spPr>
        <p:txBody>
          <a:bodyPr wrap="square" lIns="0" tIns="0" rIns="0" bIns="0" rtlCol="0" anchor="ctr"/>
          <a:lstStyle/>
          <a:p>
            <a:pPr marL="0" indent="0" algn="ctr">
              <a:buNone/>
            </a:pPr>
            <a:r>
              <a:rPr lang="en-US" sz="1900" i="1" dirty="0">
                <a:solidFill>
                  <a:srgbClr val="606277"/>
                </a:solidFill>
                <a:latin typeface="Georgia" pitchFamily="34" charset="0"/>
                <a:ea typeface="Georgia" pitchFamily="34" charset="-122"/>
                <a:cs typeface="Georgia" pitchFamily="34" charset="-120"/>
              </a:rPr>
              <a:t>Stage 1 of 4</a:t>
            </a:r>
            <a:endParaRPr lang="en-US" sz="1900" dirty="0"/>
          </a:p>
        </p:txBody>
      </p:sp>
      <p:sp>
        <p:nvSpPr>
          <p:cNvPr id="30" name="Shape 27"/>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31" name="Text 28"/>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32" name="Text 29"/>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REPEATABLE WORKFLOW</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Verify → Challenge → Trade → Trigger</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 four-stage supplier decision loop that can be reused across categories.</a:t>
            </a:r>
            <a:endParaRPr lang="en-US" sz="1300" dirty="0"/>
          </a:p>
        </p:txBody>
      </p:sp>
      <p:sp>
        <p:nvSpPr>
          <p:cNvPr id="5" name="Shape 3"/>
          <p:cNvSpPr/>
          <p:nvPr/>
        </p:nvSpPr>
        <p:spPr>
          <a:xfrm>
            <a:off x="594360" y="2103120"/>
            <a:ext cx="2487168" cy="2514600"/>
          </a:xfrm>
          <a:prstGeom prst="roundRect">
            <a:avLst>
              <a:gd name="adj" fmla="val 2206"/>
            </a:avLst>
          </a:prstGeom>
          <a:solidFill>
            <a:srgbClr val="FFFFFF"/>
          </a:solidFill>
          <a:ln w="19050">
            <a:solidFill>
              <a:srgbClr val="2E3A72"/>
            </a:solidFill>
            <a:prstDash val="solid"/>
          </a:ln>
        </p:spPr>
        <p:txBody>
          <a:bodyPr/>
          <a:lstStyle/>
          <a:p>
            <a:endParaRPr lang="en-US"/>
          </a:p>
        </p:txBody>
      </p:sp>
      <p:sp>
        <p:nvSpPr>
          <p:cNvPr id="6" name="Shape 4"/>
          <p:cNvSpPr/>
          <p:nvPr/>
        </p:nvSpPr>
        <p:spPr>
          <a:xfrm>
            <a:off x="1371600" y="2395728"/>
            <a:ext cx="914400" cy="914400"/>
          </a:xfrm>
          <a:prstGeom prst="ellipse">
            <a:avLst/>
          </a:prstGeom>
          <a:solidFill>
            <a:srgbClr val="2E3A72"/>
          </a:solidFill>
          <a:ln w="12700">
            <a:solidFill>
              <a:srgbClr val="2E3A72"/>
            </a:solidFill>
            <a:prstDash val="solid"/>
          </a:ln>
        </p:spPr>
        <p:txBody>
          <a:bodyPr/>
          <a:lstStyle/>
          <a:p>
            <a:endParaRPr lang="en-US"/>
          </a:p>
        </p:txBody>
      </p:sp>
      <p:sp>
        <p:nvSpPr>
          <p:cNvPr id="7" name="Text 5"/>
          <p:cNvSpPr/>
          <p:nvPr/>
        </p:nvSpPr>
        <p:spPr>
          <a:xfrm>
            <a:off x="137160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77724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2E3A72"/>
                </a:solidFill>
                <a:latin typeface="Aptos" pitchFamily="34" charset="0"/>
                <a:ea typeface="Aptos" pitchFamily="34" charset="-122"/>
                <a:cs typeface="Aptos" pitchFamily="34" charset="-120"/>
              </a:rPr>
              <a:t>VERIFY</a:t>
            </a:r>
            <a:endParaRPr lang="en-US" sz="1200" dirty="0"/>
          </a:p>
        </p:txBody>
      </p:sp>
      <p:sp>
        <p:nvSpPr>
          <p:cNvPr id="9" name="Text 7"/>
          <p:cNvSpPr/>
          <p:nvPr/>
        </p:nvSpPr>
        <p:spPr>
          <a:xfrm>
            <a:off x="79552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Separate facts, assertions, calculations, and assumptions.</a:t>
            </a:r>
            <a:endParaRPr lang="en-US" sz="1050" dirty="0"/>
          </a:p>
        </p:txBody>
      </p:sp>
      <p:sp>
        <p:nvSpPr>
          <p:cNvPr id="10" name="Text 8"/>
          <p:cNvSpPr/>
          <p:nvPr/>
        </p:nvSpPr>
        <p:spPr>
          <a:xfrm>
            <a:off x="311810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3474720" y="2103120"/>
            <a:ext cx="2487168" cy="2514600"/>
          </a:xfrm>
          <a:prstGeom prst="roundRect">
            <a:avLst>
              <a:gd name="adj" fmla="val 2206"/>
            </a:avLst>
          </a:prstGeom>
          <a:solidFill>
            <a:srgbClr val="FFFFFF"/>
          </a:solidFill>
          <a:ln w="19050">
            <a:solidFill>
              <a:srgbClr val="B6955B"/>
            </a:solidFill>
            <a:prstDash val="solid"/>
          </a:ln>
        </p:spPr>
        <p:txBody>
          <a:bodyPr/>
          <a:lstStyle/>
          <a:p>
            <a:endParaRPr lang="en-US"/>
          </a:p>
        </p:txBody>
      </p:sp>
      <p:sp>
        <p:nvSpPr>
          <p:cNvPr id="12" name="Shape 10"/>
          <p:cNvSpPr/>
          <p:nvPr/>
        </p:nvSpPr>
        <p:spPr>
          <a:xfrm>
            <a:off x="4251960" y="2395728"/>
            <a:ext cx="914400" cy="914400"/>
          </a:xfrm>
          <a:prstGeom prst="ellipse">
            <a:avLst/>
          </a:prstGeom>
          <a:solidFill>
            <a:srgbClr val="B6955B"/>
          </a:solidFill>
          <a:ln w="12700">
            <a:solidFill>
              <a:srgbClr val="B6955B"/>
            </a:solidFill>
            <a:prstDash val="solid"/>
          </a:ln>
        </p:spPr>
        <p:txBody>
          <a:bodyPr/>
          <a:lstStyle/>
          <a:p>
            <a:endParaRPr lang="en-US"/>
          </a:p>
        </p:txBody>
      </p:sp>
      <p:sp>
        <p:nvSpPr>
          <p:cNvPr id="13" name="Text 11"/>
          <p:cNvSpPr/>
          <p:nvPr/>
        </p:nvSpPr>
        <p:spPr>
          <a:xfrm>
            <a:off x="425196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365760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B6955B"/>
                </a:solidFill>
                <a:latin typeface="Aptos" pitchFamily="34" charset="0"/>
                <a:ea typeface="Aptos" pitchFamily="34" charset="-122"/>
                <a:cs typeface="Aptos" pitchFamily="34" charset="-120"/>
              </a:rPr>
              <a:t>CHALLENGE</a:t>
            </a:r>
            <a:endParaRPr lang="en-US" sz="1200" dirty="0"/>
          </a:p>
        </p:txBody>
      </p:sp>
      <p:sp>
        <p:nvSpPr>
          <p:cNvPr id="15" name="Text 13"/>
          <p:cNvSpPr/>
          <p:nvPr/>
        </p:nvSpPr>
        <p:spPr>
          <a:xfrm>
            <a:off x="367588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Test the claim against evidence, contract, dates, and duplication.</a:t>
            </a:r>
            <a:endParaRPr lang="en-US" sz="1050" dirty="0"/>
          </a:p>
        </p:txBody>
      </p:sp>
      <p:sp>
        <p:nvSpPr>
          <p:cNvPr id="16" name="Text 14"/>
          <p:cNvSpPr/>
          <p:nvPr/>
        </p:nvSpPr>
        <p:spPr>
          <a:xfrm>
            <a:off x="599846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635508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18" name="Shape 16"/>
          <p:cNvSpPr/>
          <p:nvPr/>
        </p:nvSpPr>
        <p:spPr>
          <a:xfrm>
            <a:off x="713232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19" name="Text 17"/>
          <p:cNvSpPr/>
          <p:nvPr/>
        </p:nvSpPr>
        <p:spPr>
          <a:xfrm>
            <a:off x="713232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3</a:t>
            </a:r>
            <a:endParaRPr lang="en-US" sz="2600" dirty="0"/>
          </a:p>
        </p:txBody>
      </p:sp>
      <p:sp>
        <p:nvSpPr>
          <p:cNvPr id="20" name="Text 18"/>
          <p:cNvSpPr/>
          <p:nvPr/>
        </p:nvSpPr>
        <p:spPr>
          <a:xfrm>
            <a:off x="653796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TRADE</a:t>
            </a:r>
            <a:endParaRPr lang="en-US" sz="1200" dirty="0"/>
          </a:p>
        </p:txBody>
      </p:sp>
      <p:sp>
        <p:nvSpPr>
          <p:cNvPr id="21" name="Text 19"/>
          <p:cNvSpPr/>
          <p:nvPr/>
        </p:nvSpPr>
        <p:spPr>
          <a:xfrm>
            <a:off x="655624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Build a give-get ladder that protects launch and precedent.</a:t>
            </a:r>
            <a:endParaRPr lang="en-US" sz="1050" dirty="0"/>
          </a:p>
        </p:txBody>
      </p:sp>
      <p:sp>
        <p:nvSpPr>
          <p:cNvPr id="22" name="Text 20"/>
          <p:cNvSpPr/>
          <p:nvPr/>
        </p:nvSpPr>
        <p:spPr>
          <a:xfrm>
            <a:off x="887882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23" name="Shape 21"/>
          <p:cNvSpPr/>
          <p:nvPr/>
        </p:nvSpPr>
        <p:spPr>
          <a:xfrm>
            <a:off x="923544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24" name="Shape 22"/>
          <p:cNvSpPr/>
          <p:nvPr/>
        </p:nvSpPr>
        <p:spPr>
          <a:xfrm>
            <a:off x="1001268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25" name="Text 23"/>
          <p:cNvSpPr/>
          <p:nvPr/>
        </p:nvSpPr>
        <p:spPr>
          <a:xfrm>
            <a:off x="1001268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4</a:t>
            </a:r>
            <a:endParaRPr lang="en-US" sz="2600" dirty="0"/>
          </a:p>
        </p:txBody>
      </p:sp>
      <p:sp>
        <p:nvSpPr>
          <p:cNvPr id="26" name="Text 24"/>
          <p:cNvSpPr/>
          <p:nvPr/>
        </p:nvSpPr>
        <p:spPr>
          <a:xfrm>
            <a:off x="941832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TRIGGER</a:t>
            </a:r>
            <a:endParaRPr lang="en-US" sz="1200" dirty="0"/>
          </a:p>
        </p:txBody>
      </p:sp>
      <p:sp>
        <p:nvSpPr>
          <p:cNvPr id="27" name="Text 25"/>
          <p:cNvSpPr/>
          <p:nvPr/>
        </p:nvSpPr>
        <p:spPr>
          <a:xfrm>
            <a:off x="943660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Define thresholds, owners, and leadership decisions.</a:t>
            </a:r>
            <a:endParaRPr lang="en-US" sz="1050" dirty="0"/>
          </a:p>
        </p:txBody>
      </p:sp>
      <p:sp>
        <p:nvSpPr>
          <p:cNvPr id="28" name="Text 26"/>
          <p:cNvSpPr/>
          <p:nvPr/>
        </p:nvSpPr>
        <p:spPr>
          <a:xfrm>
            <a:off x="822960" y="5394960"/>
            <a:ext cx="10515600" cy="411480"/>
          </a:xfrm>
          <a:prstGeom prst="rect">
            <a:avLst/>
          </a:prstGeom>
          <a:noFill/>
          <a:ln/>
        </p:spPr>
        <p:txBody>
          <a:bodyPr wrap="square" lIns="0" tIns="0" rIns="0" bIns="0" rtlCol="0" anchor="ctr"/>
          <a:lstStyle/>
          <a:p>
            <a:pPr marL="0" indent="0" algn="ctr">
              <a:buNone/>
            </a:pPr>
            <a:r>
              <a:rPr lang="en-US" sz="1900" i="1" dirty="0">
                <a:solidFill>
                  <a:srgbClr val="606277"/>
                </a:solidFill>
                <a:latin typeface="Georgia" pitchFamily="34" charset="0"/>
                <a:ea typeface="Georgia" pitchFamily="34" charset="-122"/>
                <a:cs typeface="Georgia" pitchFamily="34" charset="-120"/>
              </a:rPr>
              <a:t>Stage 2 of 4</a:t>
            </a:r>
            <a:endParaRPr lang="en-US" sz="1900" dirty="0"/>
          </a:p>
        </p:txBody>
      </p:sp>
      <p:sp>
        <p:nvSpPr>
          <p:cNvPr id="30" name="Shape 27"/>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31" name="Text 28"/>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32" name="Text 29"/>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8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REPEATABLE WORKFLOW</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Verify → Challenge → Trade → Trigger</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 four-stage supplier decision loop that can be reused across categories.</a:t>
            </a:r>
            <a:endParaRPr lang="en-US" sz="1300" dirty="0"/>
          </a:p>
        </p:txBody>
      </p:sp>
      <p:sp>
        <p:nvSpPr>
          <p:cNvPr id="5" name="Shape 3"/>
          <p:cNvSpPr/>
          <p:nvPr/>
        </p:nvSpPr>
        <p:spPr>
          <a:xfrm>
            <a:off x="594360" y="2103120"/>
            <a:ext cx="2487168" cy="2514600"/>
          </a:xfrm>
          <a:prstGeom prst="roundRect">
            <a:avLst>
              <a:gd name="adj" fmla="val 2206"/>
            </a:avLst>
          </a:prstGeom>
          <a:solidFill>
            <a:srgbClr val="FFFFFF"/>
          </a:solidFill>
          <a:ln w="19050">
            <a:solidFill>
              <a:srgbClr val="2E3A72"/>
            </a:solidFill>
            <a:prstDash val="solid"/>
          </a:ln>
        </p:spPr>
        <p:txBody>
          <a:bodyPr/>
          <a:lstStyle/>
          <a:p>
            <a:endParaRPr lang="en-US"/>
          </a:p>
        </p:txBody>
      </p:sp>
      <p:sp>
        <p:nvSpPr>
          <p:cNvPr id="6" name="Shape 4"/>
          <p:cNvSpPr/>
          <p:nvPr/>
        </p:nvSpPr>
        <p:spPr>
          <a:xfrm>
            <a:off x="1371600" y="2395728"/>
            <a:ext cx="914400" cy="914400"/>
          </a:xfrm>
          <a:prstGeom prst="ellipse">
            <a:avLst/>
          </a:prstGeom>
          <a:solidFill>
            <a:srgbClr val="2E3A72"/>
          </a:solidFill>
          <a:ln w="12700">
            <a:solidFill>
              <a:srgbClr val="2E3A72"/>
            </a:solidFill>
            <a:prstDash val="solid"/>
          </a:ln>
        </p:spPr>
        <p:txBody>
          <a:bodyPr/>
          <a:lstStyle/>
          <a:p>
            <a:endParaRPr lang="en-US"/>
          </a:p>
        </p:txBody>
      </p:sp>
      <p:sp>
        <p:nvSpPr>
          <p:cNvPr id="7" name="Text 5"/>
          <p:cNvSpPr/>
          <p:nvPr/>
        </p:nvSpPr>
        <p:spPr>
          <a:xfrm>
            <a:off x="137160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77724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2E3A72"/>
                </a:solidFill>
                <a:latin typeface="Aptos" pitchFamily="34" charset="0"/>
                <a:ea typeface="Aptos" pitchFamily="34" charset="-122"/>
                <a:cs typeface="Aptos" pitchFamily="34" charset="-120"/>
              </a:rPr>
              <a:t>VERIFY</a:t>
            </a:r>
            <a:endParaRPr lang="en-US" sz="1200" dirty="0"/>
          </a:p>
        </p:txBody>
      </p:sp>
      <p:sp>
        <p:nvSpPr>
          <p:cNvPr id="9" name="Text 7"/>
          <p:cNvSpPr/>
          <p:nvPr/>
        </p:nvSpPr>
        <p:spPr>
          <a:xfrm>
            <a:off x="79552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Separate facts, assertions, calculations, and assumptions.</a:t>
            </a:r>
            <a:endParaRPr lang="en-US" sz="1050" dirty="0"/>
          </a:p>
        </p:txBody>
      </p:sp>
      <p:sp>
        <p:nvSpPr>
          <p:cNvPr id="10" name="Text 8"/>
          <p:cNvSpPr/>
          <p:nvPr/>
        </p:nvSpPr>
        <p:spPr>
          <a:xfrm>
            <a:off x="311810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3474720" y="2103120"/>
            <a:ext cx="2487168" cy="2514600"/>
          </a:xfrm>
          <a:prstGeom prst="roundRect">
            <a:avLst>
              <a:gd name="adj" fmla="val 2206"/>
            </a:avLst>
          </a:prstGeom>
          <a:solidFill>
            <a:srgbClr val="FFFFFF"/>
          </a:solidFill>
          <a:ln w="19050">
            <a:solidFill>
              <a:srgbClr val="B6955B"/>
            </a:solidFill>
            <a:prstDash val="solid"/>
          </a:ln>
        </p:spPr>
        <p:txBody>
          <a:bodyPr/>
          <a:lstStyle/>
          <a:p>
            <a:endParaRPr lang="en-US"/>
          </a:p>
        </p:txBody>
      </p:sp>
      <p:sp>
        <p:nvSpPr>
          <p:cNvPr id="12" name="Shape 10"/>
          <p:cNvSpPr/>
          <p:nvPr/>
        </p:nvSpPr>
        <p:spPr>
          <a:xfrm>
            <a:off x="4251960" y="2395728"/>
            <a:ext cx="914400" cy="914400"/>
          </a:xfrm>
          <a:prstGeom prst="ellipse">
            <a:avLst/>
          </a:prstGeom>
          <a:solidFill>
            <a:srgbClr val="B6955B"/>
          </a:solidFill>
          <a:ln w="12700">
            <a:solidFill>
              <a:srgbClr val="B6955B"/>
            </a:solidFill>
            <a:prstDash val="solid"/>
          </a:ln>
        </p:spPr>
        <p:txBody>
          <a:bodyPr/>
          <a:lstStyle/>
          <a:p>
            <a:endParaRPr lang="en-US"/>
          </a:p>
        </p:txBody>
      </p:sp>
      <p:sp>
        <p:nvSpPr>
          <p:cNvPr id="13" name="Text 11"/>
          <p:cNvSpPr/>
          <p:nvPr/>
        </p:nvSpPr>
        <p:spPr>
          <a:xfrm>
            <a:off x="425196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365760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B6955B"/>
                </a:solidFill>
                <a:latin typeface="Aptos" pitchFamily="34" charset="0"/>
                <a:ea typeface="Aptos" pitchFamily="34" charset="-122"/>
                <a:cs typeface="Aptos" pitchFamily="34" charset="-120"/>
              </a:rPr>
              <a:t>CHALLENGE</a:t>
            </a:r>
            <a:endParaRPr lang="en-US" sz="1200" dirty="0"/>
          </a:p>
        </p:txBody>
      </p:sp>
      <p:sp>
        <p:nvSpPr>
          <p:cNvPr id="15" name="Text 13"/>
          <p:cNvSpPr/>
          <p:nvPr/>
        </p:nvSpPr>
        <p:spPr>
          <a:xfrm>
            <a:off x="367588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Test the claim against evidence, contract, dates, and duplication.</a:t>
            </a:r>
            <a:endParaRPr lang="en-US" sz="1050" dirty="0"/>
          </a:p>
        </p:txBody>
      </p:sp>
      <p:sp>
        <p:nvSpPr>
          <p:cNvPr id="16" name="Text 14"/>
          <p:cNvSpPr/>
          <p:nvPr/>
        </p:nvSpPr>
        <p:spPr>
          <a:xfrm>
            <a:off x="599846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6355080" y="2103120"/>
            <a:ext cx="2487168" cy="2514600"/>
          </a:xfrm>
          <a:prstGeom prst="roundRect">
            <a:avLst>
              <a:gd name="adj" fmla="val 2206"/>
            </a:avLst>
          </a:prstGeom>
          <a:solidFill>
            <a:srgbClr val="FFFFFF"/>
          </a:solidFill>
          <a:ln w="19050">
            <a:solidFill>
              <a:srgbClr val="B11F4B"/>
            </a:solidFill>
            <a:prstDash val="solid"/>
          </a:ln>
        </p:spPr>
        <p:txBody>
          <a:bodyPr/>
          <a:lstStyle/>
          <a:p>
            <a:endParaRPr lang="en-US"/>
          </a:p>
        </p:txBody>
      </p:sp>
      <p:sp>
        <p:nvSpPr>
          <p:cNvPr id="18" name="Shape 16"/>
          <p:cNvSpPr/>
          <p:nvPr/>
        </p:nvSpPr>
        <p:spPr>
          <a:xfrm>
            <a:off x="7132320" y="2395728"/>
            <a:ext cx="914400" cy="914400"/>
          </a:xfrm>
          <a:prstGeom prst="ellipse">
            <a:avLst/>
          </a:prstGeom>
          <a:solidFill>
            <a:srgbClr val="B11F4B"/>
          </a:solidFill>
          <a:ln w="12700">
            <a:solidFill>
              <a:srgbClr val="B11F4B"/>
            </a:solidFill>
            <a:prstDash val="solid"/>
          </a:ln>
        </p:spPr>
        <p:txBody>
          <a:bodyPr/>
          <a:lstStyle/>
          <a:p>
            <a:endParaRPr lang="en-US"/>
          </a:p>
        </p:txBody>
      </p:sp>
      <p:sp>
        <p:nvSpPr>
          <p:cNvPr id="19" name="Text 17"/>
          <p:cNvSpPr/>
          <p:nvPr/>
        </p:nvSpPr>
        <p:spPr>
          <a:xfrm>
            <a:off x="713232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20" name="Text 18"/>
          <p:cNvSpPr/>
          <p:nvPr/>
        </p:nvSpPr>
        <p:spPr>
          <a:xfrm>
            <a:off x="653796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B11F4B"/>
                </a:solidFill>
                <a:latin typeface="Aptos" pitchFamily="34" charset="0"/>
                <a:ea typeface="Aptos" pitchFamily="34" charset="-122"/>
                <a:cs typeface="Aptos" pitchFamily="34" charset="-120"/>
              </a:rPr>
              <a:t>TRADE</a:t>
            </a:r>
            <a:endParaRPr lang="en-US" sz="1200" dirty="0"/>
          </a:p>
        </p:txBody>
      </p:sp>
      <p:sp>
        <p:nvSpPr>
          <p:cNvPr id="21" name="Text 19"/>
          <p:cNvSpPr/>
          <p:nvPr/>
        </p:nvSpPr>
        <p:spPr>
          <a:xfrm>
            <a:off x="655624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Build a give-get ladder that protects launch and precedent.</a:t>
            </a:r>
            <a:endParaRPr lang="en-US" sz="1050" dirty="0"/>
          </a:p>
        </p:txBody>
      </p:sp>
      <p:sp>
        <p:nvSpPr>
          <p:cNvPr id="22" name="Text 20"/>
          <p:cNvSpPr/>
          <p:nvPr/>
        </p:nvSpPr>
        <p:spPr>
          <a:xfrm>
            <a:off x="8878824" y="3127248"/>
            <a:ext cx="292608" cy="365760"/>
          </a:xfrm>
          <a:prstGeom prst="rect">
            <a:avLst/>
          </a:prstGeom>
          <a:noFill/>
          <a:ln/>
        </p:spPr>
        <p:txBody>
          <a:bodyPr wrap="square" lIns="0" tIns="0" rIns="0" bIns="0" rtlCol="0" anchor="ctr"/>
          <a:lstStyle/>
          <a:p>
            <a:pPr marL="0" indent="0" algn="ctr">
              <a:buNone/>
            </a:pPr>
            <a:r>
              <a:rPr lang="en-US" sz="2200" dirty="0">
                <a:solidFill>
                  <a:srgbClr val="C7C8D0"/>
                </a:solidFill>
                <a:latin typeface="Georgia" pitchFamily="34" charset="0"/>
                <a:ea typeface="Georgia" pitchFamily="34" charset="-122"/>
                <a:cs typeface="Georgia" pitchFamily="34" charset="-120"/>
              </a:rPr>
              <a:t>→</a:t>
            </a:r>
            <a:endParaRPr lang="en-US" sz="2200" dirty="0"/>
          </a:p>
        </p:txBody>
      </p:sp>
      <p:sp>
        <p:nvSpPr>
          <p:cNvPr id="23" name="Shape 21"/>
          <p:cNvSpPr/>
          <p:nvPr/>
        </p:nvSpPr>
        <p:spPr>
          <a:xfrm>
            <a:off x="9235440" y="2103120"/>
            <a:ext cx="2487168" cy="2514600"/>
          </a:xfrm>
          <a:prstGeom prst="roundRect">
            <a:avLst>
              <a:gd name="adj" fmla="val 2206"/>
            </a:avLst>
          </a:prstGeom>
          <a:solidFill>
            <a:srgbClr val="EEEFF4">
              <a:alpha val="65000"/>
            </a:srgbClr>
          </a:solidFill>
          <a:ln w="7620">
            <a:solidFill>
              <a:srgbClr val="D9DAE5"/>
            </a:solidFill>
            <a:prstDash val="solid"/>
          </a:ln>
        </p:spPr>
        <p:txBody>
          <a:bodyPr/>
          <a:lstStyle/>
          <a:p>
            <a:endParaRPr lang="en-US"/>
          </a:p>
        </p:txBody>
      </p:sp>
      <p:sp>
        <p:nvSpPr>
          <p:cNvPr id="24" name="Shape 22"/>
          <p:cNvSpPr/>
          <p:nvPr/>
        </p:nvSpPr>
        <p:spPr>
          <a:xfrm>
            <a:off x="10012680" y="2395728"/>
            <a:ext cx="914400" cy="914400"/>
          </a:xfrm>
          <a:prstGeom prst="ellipse">
            <a:avLst/>
          </a:prstGeom>
          <a:solidFill>
            <a:srgbClr val="D8D9E1"/>
          </a:solidFill>
          <a:ln w="12700">
            <a:solidFill>
              <a:srgbClr val="D8D9E1"/>
            </a:solidFill>
            <a:prstDash val="solid"/>
          </a:ln>
        </p:spPr>
        <p:txBody>
          <a:bodyPr/>
          <a:lstStyle/>
          <a:p>
            <a:endParaRPr lang="en-US"/>
          </a:p>
        </p:txBody>
      </p:sp>
      <p:sp>
        <p:nvSpPr>
          <p:cNvPr id="25" name="Text 23"/>
          <p:cNvSpPr/>
          <p:nvPr/>
        </p:nvSpPr>
        <p:spPr>
          <a:xfrm>
            <a:off x="10012680" y="2395728"/>
            <a:ext cx="914400" cy="914400"/>
          </a:xfrm>
          <a:prstGeom prst="rect">
            <a:avLst/>
          </a:prstGeom>
          <a:noFill/>
          <a:ln/>
        </p:spPr>
        <p:txBody>
          <a:bodyPr wrap="square" lIns="0" tIns="0" rIns="0" bIns="0" rtlCol="0" anchor="ctr"/>
          <a:lstStyle/>
          <a:p>
            <a:pPr marL="0" indent="0" algn="ctr">
              <a:buNone/>
            </a:pPr>
            <a:r>
              <a:rPr lang="en-US" sz="2600" b="1" dirty="0">
                <a:solidFill>
                  <a:srgbClr val="A5A7B3"/>
                </a:solidFill>
                <a:latin typeface="Georgia" pitchFamily="34" charset="0"/>
                <a:ea typeface="Georgia" pitchFamily="34" charset="-122"/>
                <a:cs typeface="Georgia" pitchFamily="34" charset="-120"/>
              </a:rPr>
              <a:t>4</a:t>
            </a:r>
            <a:endParaRPr lang="en-US" sz="2600" dirty="0"/>
          </a:p>
        </p:txBody>
      </p:sp>
      <p:sp>
        <p:nvSpPr>
          <p:cNvPr id="26" name="Text 24"/>
          <p:cNvSpPr/>
          <p:nvPr/>
        </p:nvSpPr>
        <p:spPr>
          <a:xfrm>
            <a:off x="941832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999BA7"/>
                </a:solidFill>
                <a:latin typeface="Aptos" pitchFamily="34" charset="0"/>
                <a:ea typeface="Aptos" pitchFamily="34" charset="-122"/>
                <a:cs typeface="Aptos" pitchFamily="34" charset="-120"/>
              </a:rPr>
              <a:t>TRIGGER</a:t>
            </a:r>
            <a:endParaRPr lang="en-US" sz="1200" dirty="0"/>
          </a:p>
        </p:txBody>
      </p:sp>
      <p:sp>
        <p:nvSpPr>
          <p:cNvPr id="27" name="Text 25"/>
          <p:cNvSpPr/>
          <p:nvPr/>
        </p:nvSpPr>
        <p:spPr>
          <a:xfrm>
            <a:off x="943660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A5A7B3"/>
                </a:solidFill>
                <a:latin typeface="Aptos" pitchFamily="34" charset="0"/>
                <a:ea typeface="Aptos" pitchFamily="34" charset="-122"/>
                <a:cs typeface="Aptos" pitchFamily="34" charset="-120"/>
              </a:rPr>
              <a:t>Define thresholds, owners, and leadership decisions.</a:t>
            </a:r>
            <a:endParaRPr lang="en-US" sz="1050" dirty="0"/>
          </a:p>
        </p:txBody>
      </p:sp>
      <p:sp>
        <p:nvSpPr>
          <p:cNvPr id="28" name="Text 26"/>
          <p:cNvSpPr/>
          <p:nvPr/>
        </p:nvSpPr>
        <p:spPr>
          <a:xfrm>
            <a:off x="822960" y="5394960"/>
            <a:ext cx="10515600" cy="411480"/>
          </a:xfrm>
          <a:prstGeom prst="rect">
            <a:avLst/>
          </a:prstGeom>
          <a:noFill/>
          <a:ln/>
        </p:spPr>
        <p:txBody>
          <a:bodyPr wrap="square" lIns="0" tIns="0" rIns="0" bIns="0" rtlCol="0" anchor="ctr"/>
          <a:lstStyle/>
          <a:p>
            <a:pPr marL="0" indent="0" algn="ctr">
              <a:buNone/>
            </a:pPr>
            <a:r>
              <a:rPr lang="en-US" sz="1900" i="1" dirty="0">
                <a:solidFill>
                  <a:srgbClr val="606277"/>
                </a:solidFill>
                <a:latin typeface="Georgia" pitchFamily="34" charset="0"/>
                <a:ea typeface="Georgia" pitchFamily="34" charset="-122"/>
                <a:cs typeface="Georgia" pitchFamily="34" charset="-120"/>
              </a:rPr>
              <a:t>Stage 3 of 4</a:t>
            </a:r>
            <a:endParaRPr lang="en-US" sz="1900" dirty="0"/>
          </a:p>
        </p:txBody>
      </p:sp>
      <p:sp>
        <p:nvSpPr>
          <p:cNvPr id="30" name="Shape 27"/>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31" name="Text 28"/>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32" name="Text 29"/>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9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REPEATABLE WORKFLOW</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Verify → Challenge → Trade → Trigger</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 four-stage supplier decision loop that can be reused across categories.</a:t>
            </a:r>
            <a:endParaRPr lang="en-US" sz="1300" dirty="0"/>
          </a:p>
        </p:txBody>
      </p:sp>
      <p:sp>
        <p:nvSpPr>
          <p:cNvPr id="5" name="Shape 3"/>
          <p:cNvSpPr/>
          <p:nvPr/>
        </p:nvSpPr>
        <p:spPr>
          <a:xfrm>
            <a:off x="594360" y="2103120"/>
            <a:ext cx="2487168" cy="2514600"/>
          </a:xfrm>
          <a:prstGeom prst="roundRect">
            <a:avLst>
              <a:gd name="adj" fmla="val 2206"/>
            </a:avLst>
          </a:prstGeom>
          <a:solidFill>
            <a:srgbClr val="FFFFFF"/>
          </a:solidFill>
          <a:ln w="19050">
            <a:solidFill>
              <a:srgbClr val="2E3A72"/>
            </a:solidFill>
            <a:prstDash val="solid"/>
          </a:ln>
        </p:spPr>
        <p:txBody>
          <a:bodyPr/>
          <a:lstStyle/>
          <a:p>
            <a:endParaRPr lang="en-US"/>
          </a:p>
        </p:txBody>
      </p:sp>
      <p:sp>
        <p:nvSpPr>
          <p:cNvPr id="6" name="Shape 4"/>
          <p:cNvSpPr/>
          <p:nvPr/>
        </p:nvSpPr>
        <p:spPr>
          <a:xfrm>
            <a:off x="1371600" y="2395728"/>
            <a:ext cx="914400" cy="914400"/>
          </a:xfrm>
          <a:prstGeom prst="ellipse">
            <a:avLst/>
          </a:prstGeom>
          <a:solidFill>
            <a:srgbClr val="2E3A72"/>
          </a:solidFill>
          <a:ln w="12700">
            <a:solidFill>
              <a:srgbClr val="2E3A72"/>
            </a:solidFill>
            <a:prstDash val="solid"/>
          </a:ln>
        </p:spPr>
        <p:txBody>
          <a:bodyPr/>
          <a:lstStyle/>
          <a:p>
            <a:endParaRPr lang="en-US"/>
          </a:p>
        </p:txBody>
      </p:sp>
      <p:sp>
        <p:nvSpPr>
          <p:cNvPr id="7" name="Text 5"/>
          <p:cNvSpPr/>
          <p:nvPr/>
        </p:nvSpPr>
        <p:spPr>
          <a:xfrm>
            <a:off x="137160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8" name="Text 6"/>
          <p:cNvSpPr/>
          <p:nvPr/>
        </p:nvSpPr>
        <p:spPr>
          <a:xfrm>
            <a:off x="77724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2E3A72"/>
                </a:solidFill>
                <a:latin typeface="Aptos" pitchFamily="34" charset="0"/>
                <a:ea typeface="Aptos" pitchFamily="34" charset="-122"/>
                <a:cs typeface="Aptos" pitchFamily="34" charset="-120"/>
              </a:rPr>
              <a:t>VERIFY</a:t>
            </a:r>
            <a:endParaRPr lang="en-US" sz="1200" dirty="0"/>
          </a:p>
        </p:txBody>
      </p:sp>
      <p:sp>
        <p:nvSpPr>
          <p:cNvPr id="9" name="Text 7"/>
          <p:cNvSpPr/>
          <p:nvPr/>
        </p:nvSpPr>
        <p:spPr>
          <a:xfrm>
            <a:off x="79552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Separate facts, assertions, calculations, and assumptions.</a:t>
            </a:r>
            <a:endParaRPr lang="en-US" sz="1050" dirty="0"/>
          </a:p>
        </p:txBody>
      </p:sp>
      <p:sp>
        <p:nvSpPr>
          <p:cNvPr id="10" name="Text 8"/>
          <p:cNvSpPr/>
          <p:nvPr/>
        </p:nvSpPr>
        <p:spPr>
          <a:xfrm>
            <a:off x="311810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11" name="Shape 9"/>
          <p:cNvSpPr/>
          <p:nvPr/>
        </p:nvSpPr>
        <p:spPr>
          <a:xfrm>
            <a:off x="3474720" y="2103120"/>
            <a:ext cx="2487168" cy="2514600"/>
          </a:xfrm>
          <a:prstGeom prst="roundRect">
            <a:avLst>
              <a:gd name="adj" fmla="val 2206"/>
            </a:avLst>
          </a:prstGeom>
          <a:solidFill>
            <a:srgbClr val="FFFFFF"/>
          </a:solidFill>
          <a:ln w="19050">
            <a:solidFill>
              <a:srgbClr val="B6955B"/>
            </a:solidFill>
            <a:prstDash val="solid"/>
          </a:ln>
        </p:spPr>
        <p:txBody>
          <a:bodyPr/>
          <a:lstStyle/>
          <a:p>
            <a:endParaRPr lang="en-US"/>
          </a:p>
        </p:txBody>
      </p:sp>
      <p:sp>
        <p:nvSpPr>
          <p:cNvPr id="12" name="Shape 10"/>
          <p:cNvSpPr/>
          <p:nvPr/>
        </p:nvSpPr>
        <p:spPr>
          <a:xfrm>
            <a:off x="4251960" y="2395728"/>
            <a:ext cx="914400" cy="914400"/>
          </a:xfrm>
          <a:prstGeom prst="ellipse">
            <a:avLst/>
          </a:prstGeom>
          <a:solidFill>
            <a:srgbClr val="B6955B"/>
          </a:solidFill>
          <a:ln w="12700">
            <a:solidFill>
              <a:srgbClr val="B6955B"/>
            </a:solidFill>
            <a:prstDash val="solid"/>
          </a:ln>
        </p:spPr>
        <p:txBody>
          <a:bodyPr/>
          <a:lstStyle/>
          <a:p>
            <a:endParaRPr lang="en-US"/>
          </a:p>
        </p:txBody>
      </p:sp>
      <p:sp>
        <p:nvSpPr>
          <p:cNvPr id="13" name="Text 11"/>
          <p:cNvSpPr/>
          <p:nvPr/>
        </p:nvSpPr>
        <p:spPr>
          <a:xfrm>
            <a:off x="425196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2</a:t>
            </a:r>
            <a:endParaRPr lang="en-US" sz="2600" dirty="0"/>
          </a:p>
        </p:txBody>
      </p:sp>
      <p:sp>
        <p:nvSpPr>
          <p:cNvPr id="14" name="Text 12"/>
          <p:cNvSpPr/>
          <p:nvPr/>
        </p:nvSpPr>
        <p:spPr>
          <a:xfrm>
            <a:off x="365760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B6955B"/>
                </a:solidFill>
                <a:latin typeface="Aptos" pitchFamily="34" charset="0"/>
                <a:ea typeface="Aptos" pitchFamily="34" charset="-122"/>
                <a:cs typeface="Aptos" pitchFamily="34" charset="-120"/>
              </a:rPr>
              <a:t>CHALLENGE</a:t>
            </a:r>
            <a:endParaRPr lang="en-US" sz="1200" dirty="0"/>
          </a:p>
        </p:txBody>
      </p:sp>
      <p:sp>
        <p:nvSpPr>
          <p:cNvPr id="15" name="Text 13"/>
          <p:cNvSpPr/>
          <p:nvPr/>
        </p:nvSpPr>
        <p:spPr>
          <a:xfrm>
            <a:off x="367588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Test the claim against evidence, contract, dates, and duplication.</a:t>
            </a:r>
            <a:endParaRPr lang="en-US" sz="1050" dirty="0"/>
          </a:p>
        </p:txBody>
      </p:sp>
      <p:sp>
        <p:nvSpPr>
          <p:cNvPr id="16" name="Text 14"/>
          <p:cNvSpPr/>
          <p:nvPr/>
        </p:nvSpPr>
        <p:spPr>
          <a:xfrm>
            <a:off x="599846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17" name="Shape 15"/>
          <p:cNvSpPr/>
          <p:nvPr/>
        </p:nvSpPr>
        <p:spPr>
          <a:xfrm>
            <a:off x="6355080" y="2103120"/>
            <a:ext cx="2487168" cy="2514600"/>
          </a:xfrm>
          <a:prstGeom prst="roundRect">
            <a:avLst>
              <a:gd name="adj" fmla="val 2206"/>
            </a:avLst>
          </a:prstGeom>
          <a:solidFill>
            <a:srgbClr val="FFFFFF"/>
          </a:solidFill>
          <a:ln w="19050">
            <a:solidFill>
              <a:srgbClr val="B11F4B"/>
            </a:solidFill>
            <a:prstDash val="solid"/>
          </a:ln>
        </p:spPr>
        <p:txBody>
          <a:bodyPr/>
          <a:lstStyle/>
          <a:p>
            <a:endParaRPr lang="en-US"/>
          </a:p>
        </p:txBody>
      </p:sp>
      <p:sp>
        <p:nvSpPr>
          <p:cNvPr id="18" name="Shape 16"/>
          <p:cNvSpPr/>
          <p:nvPr/>
        </p:nvSpPr>
        <p:spPr>
          <a:xfrm>
            <a:off x="7132320" y="2395728"/>
            <a:ext cx="914400" cy="914400"/>
          </a:xfrm>
          <a:prstGeom prst="ellipse">
            <a:avLst/>
          </a:prstGeom>
          <a:solidFill>
            <a:srgbClr val="B11F4B"/>
          </a:solidFill>
          <a:ln w="12700">
            <a:solidFill>
              <a:srgbClr val="B11F4B"/>
            </a:solidFill>
            <a:prstDash val="solid"/>
          </a:ln>
        </p:spPr>
        <p:txBody>
          <a:bodyPr/>
          <a:lstStyle/>
          <a:p>
            <a:endParaRPr lang="en-US"/>
          </a:p>
        </p:txBody>
      </p:sp>
      <p:sp>
        <p:nvSpPr>
          <p:cNvPr id="19" name="Text 17"/>
          <p:cNvSpPr/>
          <p:nvPr/>
        </p:nvSpPr>
        <p:spPr>
          <a:xfrm>
            <a:off x="713232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a:t>
            </a:r>
            <a:endParaRPr lang="en-US" sz="2600" dirty="0"/>
          </a:p>
        </p:txBody>
      </p:sp>
      <p:sp>
        <p:nvSpPr>
          <p:cNvPr id="20" name="Text 18"/>
          <p:cNvSpPr/>
          <p:nvPr/>
        </p:nvSpPr>
        <p:spPr>
          <a:xfrm>
            <a:off x="653796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B11F4B"/>
                </a:solidFill>
                <a:latin typeface="Aptos" pitchFamily="34" charset="0"/>
                <a:ea typeface="Aptos" pitchFamily="34" charset="-122"/>
                <a:cs typeface="Aptos" pitchFamily="34" charset="-120"/>
              </a:rPr>
              <a:t>TRADE</a:t>
            </a:r>
            <a:endParaRPr lang="en-US" sz="1200" dirty="0"/>
          </a:p>
        </p:txBody>
      </p:sp>
      <p:sp>
        <p:nvSpPr>
          <p:cNvPr id="21" name="Text 19"/>
          <p:cNvSpPr/>
          <p:nvPr/>
        </p:nvSpPr>
        <p:spPr>
          <a:xfrm>
            <a:off x="655624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Build a give-get ladder that protects launch and precedent.</a:t>
            </a:r>
            <a:endParaRPr lang="en-US" sz="1050" dirty="0"/>
          </a:p>
        </p:txBody>
      </p:sp>
      <p:sp>
        <p:nvSpPr>
          <p:cNvPr id="22" name="Text 20"/>
          <p:cNvSpPr/>
          <p:nvPr/>
        </p:nvSpPr>
        <p:spPr>
          <a:xfrm>
            <a:off x="8878824" y="3127248"/>
            <a:ext cx="292608" cy="365760"/>
          </a:xfrm>
          <a:prstGeom prst="rect">
            <a:avLst/>
          </a:prstGeom>
          <a:noFill/>
          <a:ln/>
        </p:spPr>
        <p:txBody>
          <a:bodyPr wrap="square" lIns="0" tIns="0" rIns="0" bIns="0" rtlCol="0" anchor="ctr"/>
          <a:lstStyle/>
          <a:p>
            <a:pPr marL="0" indent="0" algn="ctr">
              <a:buNone/>
            </a:pPr>
            <a:r>
              <a:rPr lang="en-US" sz="2200" dirty="0">
                <a:solidFill>
                  <a:srgbClr val="B11F4B"/>
                </a:solidFill>
                <a:latin typeface="Georgia" pitchFamily="34" charset="0"/>
                <a:ea typeface="Georgia" pitchFamily="34" charset="-122"/>
                <a:cs typeface="Georgia" pitchFamily="34" charset="-120"/>
              </a:rPr>
              <a:t>→</a:t>
            </a:r>
            <a:endParaRPr lang="en-US" sz="2200" dirty="0"/>
          </a:p>
        </p:txBody>
      </p:sp>
      <p:sp>
        <p:nvSpPr>
          <p:cNvPr id="23" name="Shape 21"/>
          <p:cNvSpPr/>
          <p:nvPr/>
        </p:nvSpPr>
        <p:spPr>
          <a:xfrm>
            <a:off x="9235440" y="2103120"/>
            <a:ext cx="2487168" cy="2514600"/>
          </a:xfrm>
          <a:prstGeom prst="roundRect">
            <a:avLst>
              <a:gd name="adj" fmla="val 2206"/>
            </a:avLst>
          </a:prstGeom>
          <a:solidFill>
            <a:srgbClr val="FFFFFF"/>
          </a:solidFill>
          <a:ln w="19050">
            <a:solidFill>
              <a:srgbClr val="2E7D55"/>
            </a:solidFill>
            <a:prstDash val="solid"/>
          </a:ln>
        </p:spPr>
        <p:txBody>
          <a:bodyPr/>
          <a:lstStyle/>
          <a:p>
            <a:endParaRPr lang="en-US"/>
          </a:p>
        </p:txBody>
      </p:sp>
      <p:sp>
        <p:nvSpPr>
          <p:cNvPr id="24" name="Shape 22"/>
          <p:cNvSpPr/>
          <p:nvPr/>
        </p:nvSpPr>
        <p:spPr>
          <a:xfrm>
            <a:off x="10012680" y="2395728"/>
            <a:ext cx="914400" cy="914400"/>
          </a:xfrm>
          <a:prstGeom prst="ellipse">
            <a:avLst/>
          </a:prstGeom>
          <a:solidFill>
            <a:srgbClr val="2E7D55"/>
          </a:solidFill>
          <a:ln w="12700">
            <a:solidFill>
              <a:srgbClr val="2E7D55"/>
            </a:solidFill>
            <a:prstDash val="solid"/>
          </a:ln>
        </p:spPr>
        <p:txBody>
          <a:bodyPr/>
          <a:lstStyle/>
          <a:p>
            <a:endParaRPr lang="en-US"/>
          </a:p>
        </p:txBody>
      </p:sp>
      <p:sp>
        <p:nvSpPr>
          <p:cNvPr id="25" name="Text 23"/>
          <p:cNvSpPr/>
          <p:nvPr/>
        </p:nvSpPr>
        <p:spPr>
          <a:xfrm>
            <a:off x="10012680" y="2395728"/>
            <a:ext cx="91440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4</a:t>
            </a:r>
            <a:endParaRPr lang="en-US" sz="2600" dirty="0"/>
          </a:p>
        </p:txBody>
      </p:sp>
      <p:sp>
        <p:nvSpPr>
          <p:cNvPr id="26" name="Text 24"/>
          <p:cNvSpPr/>
          <p:nvPr/>
        </p:nvSpPr>
        <p:spPr>
          <a:xfrm>
            <a:off x="9418320" y="3547872"/>
            <a:ext cx="2121408" cy="347472"/>
          </a:xfrm>
          <a:prstGeom prst="rect">
            <a:avLst/>
          </a:prstGeom>
          <a:noFill/>
          <a:ln/>
        </p:spPr>
        <p:txBody>
          <a:bodyPr wrap="square" lIns="0" tIns="0" rIns="0" bIns="0" rtlCol="0" anchor="ctr"/>
          <a:lstStyle/>
          <a:p>
            <a:pPr marL="0" indent="0" algn="ctr">
              <a:buNone/>
            </a:pPr>
            <a:r>
              <a:rPr lang="en-US" sz="1200" b="1" kern="0" spc="160" dirty="0">
                <a:solidFill>
                  <a:srgbClr val="2E7D55"/>
                </a:solidFill>
                <a:latin typeface="Aptos" pitchFamily="34" charset="0"/>
                <a:ea typeface="Aptos" pitchFamily="34" charset="-122"/>
                <a:cs typeface="Aptos" pitchFamily="34" charset="-120"/>
              </a:rPr>
              <a:t>TRIGGER</a:t>
            </a:r>
            <a:endParaRPr lang="en-US" sz="1200" dirty="0"/>
          </a:p>
        </p:txBody>
      </p:sp>
      <p:sp>
        <p:nvSpPr>
          <p:cNvPr id="27" name="Text 25"/>
          <p:cNvSpPr/>
          <p:nvPr/>
        </p:nvSpPr>
        <p:spPr>
          <a:xfrm>
            <a:off x="9436608" y="4041648"/>
            <a:ext cx="2084832" cy="457200"/>
          </a:xfrm>
          <a:prstGeom prst="rect">
            <a:avLst/>
          </a:prstGeom>
          <a:noFill/>
          <a:ln/>
        </p:spPr>
        <p:txBody>
          <a:bodyPr wrap="square" lIns="0" tIns="0" rIns="0" bIns="0" rtlCol="0" anchor="ctr">
            <a:normAutofit/>
          </a:bodyPr>
          <a:lstStyle/>
          <a:p>
            <a:pPr marL="0" indent="0" algn="ctr">
              <a:buNone/>
            </a:pPr>
            <a:r>
              <a:rPr lang="en-US" sz="1050" dirty="0">
                <a:solidFill>
                  <a:srgbClr val="17182B"/>
                </a:solidFill>
                <a:latin typeface="Aptos" pitchFamily="34" charset="0"/>
                <a:ea typeface="Aptos" pitchFamily="34" charset="-122"/>
                <a:cs typeface="Aptos" pitchFamily="34" charset="-120"/>
              </a:rPr>
              <a:t>Define thresholds, owners, and leadership decisions.</a:t>
            </a:r>
            <a:endParaRPr lang="en-US" sz="1050" dirty="0"/>
          </a:p>
        </p:txBody>
      </p:sp>
      <p:sp>
        <p:nvSpPr>
          <p:cNvPr id="28" name="Text 26"/>
          <p:cNvSpPr/>
          <p:nvPr/>
        </p:nvSpPr>
        <p:spPr>
          <a:xfrm>
            <a:off x="822960" y="5394960"/>
            <a:ext cx="10515600" cy="411480"/>
          </a:xfrm>
          <a:prstGeom prst="rect">
            <a:avLst/>
          </a:prstGeom>
          <a:noFill/>
          <a:ln/>
        </p:spPr>
        <p:txBody>
          <a:bodyPr wrap="square" lIns="0" tIns="0" rIns="0" bIns="0" rtlCol="0" anchor="ctr"/>
          <a:lstStyle/>
          <a:p>
            <a:pPr marL="0" indent="0" algn="ctr">
              <a:buNone/>
            </a:pPr>
            <a:r>
              <a:rPr lang="en-US" sz="1900" i="1" dirty="0">
                <a:solidFill>
                  <a:srgbClr val="06123B"/>
                </a:solidFill>
                <a:latin typeface="Georgia" pitchFamily="34" charset="0"/>
                <a:ea typeface="Georgia" pitchFamily="34" charset="-122"/>
                <a:cs typeface="Georgia" pitchFamily="34" charset="-120"/>
              </a:rPr>
              <a:t>Copilot accelerates the loop. People own the evidence standard and the decision.</a:t>
            </a:r>
            <a:endParaRPr lang="en-US" sz="1900" dirty="0"/>
          </a:p>
        </p:txBody>
      </p:sp>
      <p:sp>
        <p:nvSpPr>
          <p:cNvPr id="30" name="Shape 27"/>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31" name="Text 28"/>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32" name="Text 29"/>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10 / 28</a:t>
            </a:r>
            <a:endParaRPr lang="en-US" sz="8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4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THE SIX DEMOS + ONE BONUS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One thread of work, not seven disconnected tricks</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Each demo produces an input for the next decision moment.</a:t>
            </a:r>
            <a:endParaRPr lang="en-US" sz="1300" dirty="0"/>
          </a:p>
        </p:txBody>
      </p:sp>
      <p:sp>
        <p:nvSpPr>
          <p:cNvPr id="5" name="Shape 3"/>
          <p:cNvSpPr/>
          <p:nvPr/>
        </p:nvSpPr>
        <p:spPr>
          <a:xfrm>
            <a:off x="685800" y="1783080"/>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6" name="Text 4"/>
          <p:cNvSpPr/>
          <p:nvPr/>
        </p:nvSpPr>
        <p:spPr>
          <a:xfrm>
            <a:off x="914400" y="1956816"/>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01</a:t>
            </a:r>
            <a:endParaRPr lang="en-US" sz="1100" dirty="0"/>
          </a:p>
        </p:txBody>
      </p:sp>
      <p:sp>
        <p:nvSpPr>
          <p:cNvPr id="7" name="Text 5"/>
          <p:cNvSpPr/>
          <p:nvPr/>
        </p:nvSpPr>
        <p:spPr>
          <a:xfrm>
            <a:off x="1645920" y="1911096"/>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Build the Verified Signal Room</a:t>
            </a:r>
            <a:endParaRPr lang="en-US" sz="1500" dirty="0"/>
          </a:p>
        </p:txBody>
      </p:sp>
      <p:sp>
        <p:nvSpPr>
          <p:cNvPr id="8" name="Text 6"/>
          <p:cNvSpPr/>
          <p:nvPr/>
        </p:nvSpPr>
        <p:spPr>
          <a:xfrm>
            <a:off x="1645920" y="2267712"/>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Chat</a:t>
            </a:r>
            <a:endParaRPr lang="en-US" sz="850" dirty="0"/>
          </a:p>
        </p:txBody>
      </p:sp>
      <p:sp>
        <p:nvSpPr>
          <p:cNvPr id="9" name="Shape 7"/>
          <p:cNvSpPr/>
          <p:nvPr/>
        </p:nvSpPr>
        <p:spPr>
          <a:xfrm>
            <a:off x="6217920" y="1783080"/>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10" name="Text 8"/>
          <p:cNvSpPr/>
          <p:nvPr/>
        </p:nvSpPr>
        <p:spPr>
          <a:xfrm>
            <a:off x="6446520" y="1956816"/>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02</a:t>
            </a:r>
            <a:endParaRPr lang="en-US" sz="1100" dirty="0"/>
          </a:p>
        </p:txBody>
      </p:sp>
      <p:sp>
        <p:nvSpPr>
          <p:cNvPr id="11" name="Text 9"/>
          <p:cNvSpPr/>
          <p:nvPr/>
        </p:nvSpPr>
        <p:spPr>
          <a:xfrm>
            <a:off x="7178040" y="1911096"/>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Audit the Pass-Through</a:t>
            </a:r>
            <a:endParaRPr lang="en-US" sz="1500" dirty="0"/>
          </a:p>
        </p:txBody>
      </p:sp>
      <p:sp>
        <p:nvSpPr>
          <p:cNvPr id="12" name="Text 10"/>
          <p:cNvSpPr/>
          <p:nvPr/>
        </p:nvSpPr>
        <p:spPr>
          <a:xfrm>
            <a:off x="7178040" y="2267712"/>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in Excel</a:t>
            </a:r>
            <a:endParaRPr lang="en-US" sz="850" dirty="0"/>
          </a:p>
        </p:txBody>
      </p:sp>
      <p:sp>
        <p:nvSpPr>
          <p:cNvPr id="13" name="Shape 11"/>
          <p:cNvSpPr/>
          <p:nvPr/>
        </p:nvSpPr>
        <p:spPr>
          <a:xfrm>
            <a:off x="685800" y="2898648"/>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14" name="Text 12"/>
          <p:cNvSpPr/>
          <p:nvPr/>
        </p:nvSpPr>
        <p:spPr>
          <a:xfrm>
            <a:off x="914400" y="3072384"/>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03</a:t>
            </a:r>
            <a:endParaRPr lang="en-US" sz="1100" dirty="0"/>
          </a:p>
        </p:txBody>
      </p:sp>
      <p:sp>
        <p:nvSpPr>
          <p:cNvPr id="15" name="Text 13"/>
          <p:cNvSpPr/>
          <p:nvPr/>
        </p:nvSpPr>
        <p:spPr>
          <a:xfrm>
            <a:off x="1645920" y="3026664"/>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Build the Negotiation Control Tower</a:t>
            </a:r>
            <a:endParaRPr lang="en-US" sz="1500" dirty="0"/>
          </a:p>
        </p:txBody>
      </p:sp>
      <p:sp>
        <p:nvSpPr>
          <p:cNvPr id="16" name="Text 14"/>
          <p:cNvSpPr/>
          <p:nvPr/>
        </p:nvSpPr>
        <p:spPr>
          <a:xfrm>
            <a:off x="1645920" y="3383280"/>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Chat + Excel</a:t>
            </a:r>
            <a:endParaRPr lang="en-US" sz="850" dirty="0"/>
          </a:p>
        </p:txBody>
      </p:sp>
      <p:sp>
        <p:nvSpPr>
          <p:cNvPr id="17" name="Shape 15"/>
          <p:cNvSpPr/>
          <p:nvPr/>
        </p:nvSpPr>
        <p:spPr>
          <a:xfrm>
            <a:off x="6217920" y="2898648"/>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18" name="Text 16"/>
          <p:cNvSpPr/>
          <p:nvPr/>
        </p:nvSpPr>
        <p:spPr>
          <a:xfrm>
            <a:off x="6446520" y="3072384"/>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04</a:t>
            </a:r>
            <a:endParaRPr lang="en-US" sz="1100" dirty="0"/>
          </a:p>
        </p:txBody>
      </p:sp>
      <p:sp>
        <p:nvSpPr>
          <p:cNvPr id="19" name="Text 17"/>
          <p:cNvSpPr/>
          <p:nvPr/>
        </p:nvSpPr>
        <p:spPr>
          <a:xfrm>
            <a:off x="7178040" y="3026664"/>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Turn Clauses into a Decision Map</a:t>
            </a:r>
            <a:endParaRPr lang="en-US" sz="1500" dirty="0"/>
          </a:p>
        </p:txBody>
      </p:sp>
      <p:sp>
        <p:nvSpPr>
          <p:cNvPr id="20" name="Text 18"/>
          <p:cNvSpPr/>
          <p:nvPr/>
        </p:nvSpPr>
        <p:spPr>
          <a:xfrm>
            <a:off x="7178040" y="3383280"/>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in Word</a:t>
            </a:r>
            <a:endParaRPr lang="en-US" sz="850" dirty="0"/>
          </a:p>
        </p:txBody>
      </p:sp>
      <p:sp>
        <p:nvSpPr>
          <p:cNvPr id="21" name="Shape 19"/>
          <p:cNvSpPr/>
          <p:nvPr/>
        </p:nvSpPr>
        <p:spPr>
          <a:xfrm>
            <a:off x="685800" y="4014216"/>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22" name="Text 20"/>
          <p:cNvSpPr/>
          <p:nvPr/>
        </p:nvSpPr>
        <p:spPr>
          <a:xfrm>
            <a:off x="914400" y="4187952"/>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05</a:t>
            </a:r>
            <a:endParaRPr lang="en-US" sz="1100" dirty="0"/>
          </a:p>
        </p:txBody>
      </p:sp>
      <p:sp>
        <p:nvSpPr>
          <p:cNvPr id="23" name="Text 21"/>
          <p:cNvSpPr/>
          <p:nvPr/>
        </p:nvSpPr>
        <p:spPr>
          <a:xfrm>
            <a:off x="1645920" y="4142232"/>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Convert Risk into Tripwires</a:t>
            </a:r>
            <a:endParaRPr lang="en-US" sz="1500" dirty="0"/>
          </a:p>
        </p:txBody>
      </p:sp>
      <p:sp>
        <p:nvSpPr>
          <p:cNvPr id="24" name="Text 22"/>
          <p:cNvSpPr/>
          <p:nvPr/>
        </p:nvSpPr>
        <p:spPr>
          <a:xfrm>
            <a:off x="1645920" y="4498848"/>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in Excel</a:t>
            </a:r>
            <a:endParaRPr lang="en-US" sz="850" dirty="0"/>
          </a:p>
        </p:txBody>
      </p:sp>
      <p:sp>
        <p:nvSpPr>
          <p:cNvPr id="25" name="Shape 23"/>
          <p:cNvSpPr/>
          <p:nvPr/>
        </p:nvSpPr>
        <p:spPr>
          <a:xfrm>
            <a:off x="6217920" y="4014216"/>
            <a:ext cx="5230368" cy="841248"/>
          </a:xfrm>
          <a:prstGeom prst="roundRect">
            <a:avLst>
              <a:gd name="adj" fmla="val 4348"/>
            </a:avLst>
          </a:prstGeom>
          <a:solidFill>
            <a:srgbClr val="FFFFFF"/>
          </a:solidFill>
          <a:ln w="8890">
            <a:solidFill>
              <a:srgbClr val="D9DAE5"/>
            </a:solidFill>
            <a:prstDash val="solid"/>
          </a:ln>
        </p:spPr>
        <p:txBody>
          <a:bodyPr/>
          <a:lstStyle/>
          <a:p>
            <a:endParaRPr lang="en-US"/>
          </a:p>
        </p:txBody>
      </p:sp>
      <p:sp>
        <p:nvSpPr>
          <p:cNvPr id="26" name="Text 24"/>
          <p:cNvSpPr/>
          <p:nvPr/>
        </p:nvSpPr>
        <p:spPr>
          <a:xfrm>
            <a:off x="6446520" y="4187952"/>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06</a:t>
            </a:r>
            <a:endParaRPr lang="en-US" sz="1100" dirty="0"/>
          </a:p>
        </p:txBody>
      </p:sp>
      <p:sp>
        <p:nvSpPr>
          <p:cNvPr id="27" name="Text 25"/>
          <p:cNvSpPr/>
          <p:nvPr/>
        </p:nvSpPr>
        <p:spPr>
          <a:xfrm>
            <a:off x="7178040" y="4142232"/>
            <a:ext cx="393192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Create the Decision Update</a:t>
            </a:r>
            <a:endParaRPr lang="en-US" sz="1500" dirty="0"/>
          </a:p>
        </p:txBody>
      </p:sp>
      <p:sp>
        <p:nvSpPr>
          <p:cNvPr id="28" name="Text 26"/>
          <p:cNvSpPr/>
          <p:nvPr/>
        </p:nvSpPr>
        <p:spPr>
          <a:xfrm>
            <a:off x="7178040" y="4498848"/>
            <a:ext cx="38404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in PowerPoint</a:t>
            </a:r>
            <a:endParaRPr lang="en-US" sz="850" dirty="0"/>
          </a:p>
        </p:txBody>
      </p:sp>
      <p:sp>
        <p:nvSpPr>
          <p:cNvPr id="29" name="Shape 27"/>
          <p:cNvSpPr/>
          <p:nvPr/>
        </p:nvSpPr>
        <p:spPr>
          <a:xfrm>
            <a:off x="685800" y="5129784"/>
            <a:ext cx="10744200" cy="841248"/>
          </a:xfrm>
          <a:prstGeom prst="roundRect">
            <a:avLst>
              <a:gd name="adj" fmla="val 4348"/>
            </a:avLst>
          </a:prstGeom>
          <a:solidFill>
            <a:srgbClr val="FDEAF0"/>
          </a:solidFill>
          <a:ln w="8890">
            <a:solidFill>
              <a:srgbClr val="B11F4B"/>
            </a:solidFill>
            <a:prstDash val="solid"/>
          </a:ln>
        </p:spPr>
        <p:txBody>
          <a:bodyPr/>
          <a:lstStyle/>
          <a:p>
            <a:endParaRPr lang="en-US"/>
          </a:p>
        </p:txBody>
      </p:sp>
      <p:sp>
        <p:nvSpPr>
          <p:cNvPr id="30" name="Text 28"/>
          <p:cNvSpPr/>
          <p:nvPr/>
        </p:nvSpPr>
        <p:spPr>
          <a:xfrm>
            <a:off x="914400" y="5303520"/>
            <a:ext cx="658368" cy="292608"/>
          </a:xfrm>
          <a:prstGeom prst="rect">
            <a:avLst/>
          </a:prstGeom>
          <a:noFill/>
          <a:ln/>
        </p:spPr>
        <p:txBody>
          <a:bodyPr wrap="square" lIns="0" tIns="0" rIns="0" bIns="0" rtlCol="0" anchor="ctr"/>
          <a:lstStyle/>
          <a:p>
            <a:pPr marL="0" indent="0">
              <a:buNone/>
            </a:pPr>
            <a:r>
              <a:rPr lang="en-US" sz="1100" b="1" dirty="0">
                <a:solidFill>
                  <a:srgbClr val="B11F4B"/>
                </a:solidFill>
                <a:latin typeface="Aptos" pitchFamily="34" charset="0"/>
                <a:ea typeface="Aptos" pitchFamily="34" charset="-122"/>
                <a:cs typeface="Aptos" pitchFamily="34" charset="-120"/>
              </a:rPr>
              <a:t>BONUS</a:t>
            </a:r>
            <a:endParaRPr lang="en-US" sz="1100" dirty="0"/>
          </a:p>
        </p:txBody>
      </p:sp>
      <p:sp>
        <p:nvSpPr>
          <p:cNvPr id="31" name="Text 29"/>
          <p:cNvSpPr/>
          <p:nvPr/>
        </p:nvSpPr>
        <p:spPr>
          <a:xfrm>
            <a:off x="1645920" y="5257800"/>
            <a:ext cx="4297680" cy="310896"/>
          </a:xfrm>
          <a:prstGeom prst="rect">
            <a:avLst/>
          </a:prstGeom>
          <a:noFill/>
          <a:ln/>
        </p:spPr>
        <p:txBody>
          <a:bodyPr wrap="square" lIns="0" tIns="0" rIns="0" bIns="0" rtlCol="0" anchor="ctr">
            <a:normAutofit/>
          </a:bodyPr>
          <a:lstStyle/>
          <a:p>
            <a:pPr marL="0" indent="0">
              <a:buNone/>
            </a:pPr>
            <a:r>
              <a:rPr lang="en-US" sz="1500" b="1" dirty="0">
                <a:solidFill>
                  <a:srgbClr val="06123B"/>
                </a:solidFill>
                <a:latin typeface="Georgia" pitchFamily="34" charset="0"/>
                <a:ea typeface="Georgia" pitchFamily="34" charset="-122"/>
                <a:cs typeface="Georgia" pitchFamily="34" charset="-120"/>
              </a:rPr>
              <a:t>Turn the Win into a Team Resource</a:t>
            </a:r>
            <a:endParaRPr lang="en-US" sz="1500" dirty="0"/>
          </a:p>
        </p:txBody>
      </p:sp>
      <p:sp>
        <p:nvSpPr>
          <p:cNvPr id="32" name="Text 30"/>
          <p:cNvSpPr/>
          <p:nvPr/>
        </p:nvSpPr>
        <p:spPr>
          <a:xfrm>
            <a:off x="1645920" y="5614416"/>
            <a:ext cx="4297680" cy="182880"/>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Copilot in Word + Teams</a:t>
            </a:r>
            <a:endParaRPr lang="en-US" sz="850" dirty="0"/>
          </a:p>
        </p:txBody>
      </p:sp>
      <p:sp>
        <p:nvSpPr>
          <p:cNvPr id="34" name="Shape 31"/>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35" name="Text 32"/>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36" name="Text 33"/>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01 · COPILOT CHAT</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Build the Verified Signal Room</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Compress a volatile situation without mixing verified facts, supplier assertions, calculations, and assumptions.</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01 Disruption Brief + 02 Orion Proposal + 04 Exposure Workbook</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The surprise is not the summary. It is the evidence ledger that exposes which dramatic claims are not yet decision-grade.</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find the trap</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make it executive</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verify evidence, authority, and business judgment before action.</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01 | VERIFIED TEST RUN</a:t>
            </a:r>
          </a:p>
        </p:txBody>
      </p:sp>
      <p:sp>
        <p:nvSpPr>
          <p:cNvPr id="3" name="TextBox 2"/>
          <p:cNvSpPr txBox="1"/>
          <p:nvPr/>
        </p:nvSpPr>
        <p:spPr>
          <a:xfrm>
            <a:off x="658368" y="749808"/>
            <a:ext cx="10835640" cy="430887"/>
          </a:xfrm>
          <a:prstGeom prst="rect">
            <a:avLst/>
          </a:prstGeom>
          <a:noFill/>
        </p:spPr>
        <p:txBody>
          <a:bodyPr wrap="square" lIns="0" tIns="0" rIns="0" bIns="0" anchor="t">
            <a:spAutoFit/>
          </a:bodyPr>
          <a:lstStyle/>
          <a:p>
            <a:pPr algn="l"/>
            <a:r>
              <a:rPr lang="en-US" sz="2800" b="1">
                <a:solidFill>
                  <a:srgbClr val="0B1739"/>
                </a:solidFill>
                <a:latin typeface="Georgia"/>
              </a:rPr>
              <a:t>Signal Room now reconciles to the workbook</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prompt chain creates a decision-grade evidence ledger and a concise leadership brief.</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658368"/>
          </a:xfrm>
          <a:prstGeom prst="rect">
            <a:avLst/>
          </a:prstGeom>
          <a:noFill/>
        </p:spPr>
        <p:txBody>
          <a:bodyPr wrap="square" lIns="0" tIns="0" rIns="0" bIns="0" anchor="t">
            <a:spAutoFit/>
          </a:bodyPr>
          <a:lstStyle/>
          <a:p>
            <a:pPr algn="l"/>
            <a:r>
              <a:rPr sz="1250" b="0">
                <a:solidFill>
                  <a:srgbClr val="0B1739"/>
                </a:solidFill>
                <a:latin typeface="Calibri"/>
              </a:rPr>
              <a:t>Separates verified facts, supplier assertions, calculations, and scenario assumptions.</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658368"/>
          </a:xfrm>
          <a:prstGeom prst="rect">
            <a:avLst/>
          </a:prstGeom>
          <a:noFill/>
        </p:spPr>
        <p:txBody>
          <a:bodyPr wrap="square" lIns="0" tIns="0" rIns="0" bIns="0" anchor="t">
            <a:spAutoFit/>
          </a:bodyPr>
          <a:lstStyle/>
          <a:p>
            <a:pPr algn="l"/>
            <a:r>
              <a:rPr sz="1250" b="0">
                <a:solidFill>
                  <a:srgbClr val="0B1739"/>
                </a:solidFill>
                <a:latin typeface="Calibri"/>
              </a:rPr>
              <a:t>Surfaces the expired 10% surcharge as the clearest non-decision-grade claim.</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Reconciles $4.31M spend, $342.3K claimed impact, and three launch-critical SKUs under eight weeks.</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2F855A"/>
          </a:solidFill>
          <a:ln>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69277"/>
          </a:xfrm>
          <a:prstGeom prst="rect">
            <a:avLst/>
          </a:prstGeom>
          <a:noFill/>
        </p:spPr>
        <p:txBody>
          <a:bodyPr wrap="square" lIns="0" tIns="0" rIns="0" bIns="0" anchor="t">
            <a:spAutoFit/>
          </a:bodyPr>
          <a:lstStyle/>
          <a:p>
            <a:pPr algn="ctr"/>
            <a:r>
              <a:rPr sz="1100" b="1">
                <a:solidFill>
                  <a:srgbClr val="FFFFFF"/>
                </a:solidFill>
                <a:latin typeface="Calibri"/>
              </a:rPr>
              <a:t>WORKS </a:t>
            </a:r>
            <a:r>
              <a:rPr lang="en-US" sz="1100" b="1">
                <a:solidFill>
                  <a:srgbClr val="FFFFFF"/>
                </a:solidFill>
                <a:latin typeface="Calibri"/>
              </a:rPr>
              <a:t>AS DESIGNED</a:t>
            </a:r>
            <a:endParaRPr sz="1100" b="1">
              <a:solidFill>
                <a:srgbClr val="FFFFFF"/>
              </a:solidFill>
              <a:latin typeface="Calibri"/>
            </a:endParaRP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$4.31M</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annual spend</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$342.3K</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claimed impact</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7.94%</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workbook blend</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13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02 · COPILOT IN EXCEL</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Audit the Pass-Through</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Test every freight and tariff line against evidence, effective dates, contract terms, and possible double recovery.</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02 Orion Proposal + 03 Contract Excerpt + Claim_Audit sheet</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Copilot should discover the expired 10% surcharge and the full-invoice-value aluminum calculation—not merely total the request.</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quantify the leverage</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build the evidence request</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customs applicability remains with trade compliance.</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02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The pass-through audit finds the designed traps</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workbook formulas reconcile and the evidence request is specific enough for supplier follow-up.</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658368"/>
          </a:xfrm>
          <a:prstGeom prst="rect">
            <a:avLst/>
          </a:prstGeom>
          <a:noFill/>
        </p:spPr>
        <p:txBody>
          <a:bodyPr wrap="square" lIns="0" tIns="0" rIns="0" bIns="0" anchor="t">
            <a:spAutoFit/>
          </a:bodyPr>
          <a:lstStyle/>
          <a:p>
            <a:pPr algn="l"/>
            <a:r>
              <a:rPr sz="1250" b="0">
                <a:solidFill>
                  <a:srgbClr val="0B1739"/>
                </a:solidFill>
                <a:latin typeface="Calibri"/>
              </a:rPr>
              <a:t>Reconciles $342,280 claimed, $176,740 supported, and a $165,540 challengeable gap.</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658368"/>
          </a:xfrm>
          <a:prstGeom prst="rect">
            <a:avLst/>
          </a:prstGeom>
          <a:noFill/>
        </p:spPr>
        <p:txBody>
          <a:bodyPr wrap="square" lIns="0" tIns="0" rIns="0" bIns="0" anchor="t">
            <a:spAutoFit/>
          </a:bodyPr>
          <a:lstStyle/>
          <a:p>
            <a:pPr algn="l"/>
            <a:r>
              <a:rPr sz="1250" b="0">
                <a:solidFill>
                  <a:srgbClr val="0B1739"/>
                </a:solidFill>
                <a:latin typeface="Calibri"/>
              </a:rPr>
              <a:t>Finds the expired surcharge, full-value aluminum basis, freight duplication, and unsupported allocations.</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Builds a claim-line evidence request covering origin, HTS, entry date, value, baseline, invoice, and mitigation.</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2F855A"/>
          </a:solidFill>
          <a:ln>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82880"/>
          </a:xfrm>
          <a:prstGeom prst="rect">
            <a:avLst/>
          </a:prstGeom>
          <a:noFill/>
        </p:spPr>
        <p:txBody>
          <a:bodyPr wrap="square" lIns="0" tIns="0" rIns="0" bIns="0" anchor="t">
            <a:spAutoFit/>
          </a:bodyPr>
          <a:lstStyle/>
          <a:p>
            <a:pPr algn="ctr"/>
            <a:r>
              <a:rPr sz="1100" b="1">
                <a:solidFill>
                  <a:srgbClr val="FFFFFF"/>
                </a:solidFill>
                <a:latin typeface="Calibri"/>
              </a:rPr>
              <a:t>WORKS AS DESIGNED</a:t>
            </a: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$176.7K</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supported</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$165.5K</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challengeable</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48.4%</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claim challenged</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15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03 · COPILOT CHAT + EXCEL</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Build the Negotiation Control Tower</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Move from positions to a give-get ladder with targets, authority limits, and no unconditional concessions.</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All source files + Negotiation_Ladder sheet</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The visible shift is from 'fight the increase' to a structured exchange: verified cost for allocation, auditability, resets, and resilience.</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red-team the plan</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rehearse the opening</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verify evidence, authority, and business judgment before action.</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03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The control tower creates reciprocal leverage</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flow moves from blanket rejection to verified-cost exchanges with allocation and reset protections.</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384721"/>
          </a:xfrm>
          <a:prstGeom prst="rect">
            <a:avLst/>
          </a:prstGeom>
          <a:noFill/>
        </p:spPr>
        <p:txBody>
          <a:bodyPr wrap="square" lIns="0" tIns="0" rIns="0" bIns="0" anchor="t">
            <a:spAutoFit/>
          </a:bodyPr>
          <a:lstStyle/>
          <a:p>
            <a:pPr algn="l"/>
            <a:r>
              <a:rPr lang="en-US" sz="1250" b="0">
                <a:solidFill>
                  <a:srgbClr val="0B1739"/>
                </a:solidFill>
                <a:latin typeface="Calibri"/>
              </a:rPr>
              <a:t>Creates </a:t>
            </a:r>
            <a:r>
              <a:rPr sz="1250" b="0">
                <a:solidFill>
                  <a:srgbClr val="0B1739"/>
                </a:solidFill>
                <a:latin typeface="Calibri"/>
              </a:rPr>
              <a:t>objectives, BATNAs, targets, walk-aways, questions, and a </a:t>
            </a:r>
            <a:r>
              <a:rPr lang="en-US" sz="1250" b="0">
                <a:solidFill>
                  <a:srgbClr val="0B1739"/>
                </a:solidFill>
                <a:latin typeface="Calibri"/>
              </a:rPr>
              <a:t>five-step</a:t>
            </a:r>
            <a:r>
              <a:rPr sz="1250" b="0">
                <a:solidFill>
                  <a:srgbClr val="0B1739"/>
                </a:solidFill>
                <a:latin typeface="Calibri"/>
              </a:rPr>
              <a:t> give-get ladder.</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658368"/>
          </a:xfrm>
          <a:prstGeom prst="rect">
            <a:avLst/>
          </a:prstGeom>
          <a:noFill/>
        </p:spPr>
        <p:txBody>
          <a:bodyPr wrap="square" lIns="0" tIns="0" rIns="0" bIns="0" anchor="t">
            <a:spAutoFit/>
          </a:bodyPr>
          <a:lstStyle/>
          <a:p>
            <a:pPr algn="l"/>
            <a:r>
              <a:rPr sz="1250" b="0">
                <a:solidFill>
                  <a:srgbClr val="0B1739"/>
                </a:solidFill>
                <a:latin typeface="Calibri"/>
              </a:rPr>
              <a:t>The supplier red-team exposes launch allocation, speed, and precedent pressure points.</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The rehearsed opening is firm, collaborative, evidence-led, and avoids unconditional concessions.</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2F855A"/>
          </a:solidFill>
          <a:ln>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69277"/>
          </a:xfrm>
          <a:prstGeom prst="rect">
            <a:avLst/>
          </a:prstGeom>
          <a:noFill/>
        </p:spPr>
        <p:txBody>
          <a:bodyPr wrap="square" lIns="0" tIns="0" rIns="0" bIns="0" anchor="t">
            <a:spAutoFit/>
          </a:bodyPr>
          <a:lstStyle/>
          <a:p>
            <a:pPr algn="ctr"/>
            <a:r>
              <a:rPr sz="1100" b="1">
                <a:solidFill>
                  <a:srgbClr val="FFFFFF"/>
                </a:solidFill>
                <a:latin typeface="Calibri"/>
              </a:rPr>
              <a:t>WORKS </a:t>
            </a:r>
            <a:r>
              <a:rPr lang="en-US" sz="1100" b="1">
                <a:solidFill>
                  <a:srgbClr val="FFFFFF"/>
                </a:solidFill>
                <a:latin typeface="Calibri"/>
              </a:rPr>
              <a:t>AS DESIGNED</a:t>
            </a:r>
            <a:endParaRPr sz="1100" b="1">
              <a:solidFill>
                <a:srgbClr val="FFFFFF"/>
              </a:solidFill>
              <a:latin typeface="Calibri"/>
            </a:endParaRP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5</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give-get rungs</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7</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diagnostic questions</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0</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unconditional gives</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17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04 · COPILOT IN WORD</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Turn Clauses into a Decision Map</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Interpret the business implications of pricing, duties, mitigation, notice, audit, and force majeure—without pretending Copilot is counsel.</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03 Contract Excerpt + 02 Orion Proposal</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Instead of a clause summary, the output maps each supplier claim to a business action, missing evidence, and a clear escalation boundary.</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expose ambiguity</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create meeting language</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legal interpretation remains with counsel.</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04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The clause map is practical and appropriately bounded</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output connects supplier claims to evidence, provisional action, and legal or customs escalation.</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658368"/>
          </a:xfrm>
          <a:prstGeom prst="rect">
            <a:avLst/>
          </a:prstGeom>
          <a:noFill/>
        </p:spPr>
        <p:txBody>
          <a:bodyPr wrap="square" lIns="0" tIns="0" rIns="0" bIns="0" anchor="t">
            <a:spAutoFit/>
          </a:bodyPr>
          <a:lstStyle/>
          <a:p>
            <a:pPr algn="l"/>
            <a:r>
              <a:rPr sz="1250" b="0">
                <a:solidFill>
                  <a:srgbClr val="0B1739"/>
                </a:solidFill>
                <a:latin typeface="Calibri"/>
              </a:rPr>
              <a:t>Maps pricing, duty, freight, mitigation, notice, audit, force-majeure, and precedence clauses to claims.</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658368"/>
          </a:xfrm>
          <a:prstGeom prst="rect">
            <a:avLst/>
          </a:prstGeom>
          <a:noFill/>
        </p:spPr>
        <p:txBody>
          <a:bodyPr wrap="square" lIns="0" tIns="0" rIns="0" bIns="0" anchor="t">
            <a:spAutoFit/>
          </a:bodyPr>
          <a:lstStyle/>
          <a:p>
            <a:pPr algn="l"/>
            <a:r>
              <a:rPr sz="1250" b="0">
                <a:solidFill>
                  <a:srgbClr val="0B1739"/>
                </a:solidFill>
                <a:latin typeface="Calibri"/>
              </a:rPr>
              <a:t>Separates accepted purchase orders from future orders and identifies competing interpretations.</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Creates neutral, non-waiver meeting questions without asserting a legal conclusion.</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2F855A"/>
          </a:solidFill>
          <a:ln>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82880"/>
          </a:xfrm>
          <a:prstGeom prst="rect">
            <a:avLst/>
          </a:prstGeom>
          <a:noFill/>
        </p:spPr>
        <p:txBody>
          <a:bodyPr wrap="square" lIns="0" tIns="0" rIns="0" bIns="0" anchor="t">
            <a:spAutoFit/>
          </a:bodyPr>
          <a:lstStyle/>
          <a:p>
            <a:pPr algn="ctr"/>
            <a:r>
              <a:rPr sz="1100" b="1">
                <a:solidFill>
                  <a:srgbClr val="FFFFFF"/>
                </a:solidFill>
                <a:latin typeface="Calibri"/>
              </a:rPr>
              <a:t>WORKS AS DESIGNED</a:t>
            </a: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9</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relevant clauses</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3</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ambiguities tested</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5</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meeting questions</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19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05 · COPILOT IN EXCEL</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Convert Risk into Tripwires</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Replace a static red-amber-green heatmap with thresholds that trigger action, ownership, and escalation.</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Risk_Tripwires + Exposure + Disruption Brief</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fontScale="85000" lnSpcReduction="10000"/>
          </a:bodyPr>
          <a:lstStyle/>
          <a:p>
            <a:pPr marL="0" indent="0">
              <a:buNone/>
            </a:pPr>
            <a:r>
              <a:rPr lang="en-US" sz="1550" dirty="0">
                <a:solidFill>
                  <a:srgbClr val="06123B"/>
                </a:solidFill>
                <a:latin typeface="Georgia" pitchFamily="34" charset="0"/>
                <a:ea typeface="Georgia" pitchFamily="34" charset="-122"/>
                <a:cs typeface="Georgia" pitchFamily="34" charset="-120"/>
              </a:rPr>
              <a:t>The risk assessment becomes operational: '&gt;7 days' triggers reallocation; '&lt;95% allocation' triggers escalation; unverified lines over $25K trigger a hold.</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run the shock</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find the hidden coupling</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verify evidence, authority, and business judgment before action.</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05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Tripwires convert risk scoring into action</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shock test fires the correct immediate triggers and preserves the two-week production condition.</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658368"/>
          </a:xfrm>
          <a:prstGeom prst="rect">
            <a:avLst/>
          </a:prstGeom>
          <a:noFill/>
        </p:spPr>
        <p:txBody>
          <a:bodyPr wrap="square" lIns="0" tIns="0" rIns="0" bIns="0" anchor="t">
            <a:spAutoFit/>
          </a:bodyPr>
          <a:lstStyle/>
          <a:p>
            <a:pPr algn="l"/>
            <a:r>
              <a:rPr sz="1250" b="0">
                <a:solidFill>
                  <a:srgbClr val="0B1739"/>
                </a:solidFill>
                <a:latin typeface="Calibri"/>
              </a:rPr>
              <a:t>Recalculates risk scores to 20, 15, 16, 9, 10, and 12 with owners and evidence sources intact.</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658368"/>
          </a:xfrm>
          <a:prstGeom prst="rect">
            <a:avLst/>
          </a:prstGeom>
          <a:noFill/>
        </p:spPr>
        <p:txBody>
          <a:bodyPr wrap="square" lIns="0" tIns="0" rIns="0" bIns="0" anchor="t">
            <a:spAutoFit/>
          </a:bodyPr>
          <a:lstStyle/>
          <a:p>
            <a:pPr algn="l"/>
            <a:r>
              <a:rPr sz="1250" b="0">
                <a:solidFill>
                  <a:srgbClr val="0B1739"/>
                </a:solidFill>
                <a:latin typeface="Calibri"/>
              </a:rPr>
              <a:t>A nine-day glass slip fires reallocation; confirmed 92% allocation fires launch escalation.</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The collar production-shortfall trigger remains pending until it is below 95% for two weeks.</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2F855A"/>
          </a:solidFill>
          <a:ln>
            <a:solidFill>
              <a:srgbClr val="2F85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82880"/>
          </a:xfrm>
          <a:prstGeom prst="rect">
            <a:avLst/>
          </a:prstGeom>
          <a:noFill/>
        </p:spPr>
        <p:txBody>
          <a:bodyPr wrap="square" lIns="0" tIns="0" rIns="0" bIns="0" anchor="t">
            <a:spAutoFit/>
          </a:bodyPr>
          <a:lstStyle/>
          <a:p>
            <a:pPr algn="ctr"/>
            <a:r>
              <a:rPr sz="1100" b="1">
                <a:solidFill>
                  <a:srgbClr val="FFFFFF"/>
                </a:solidFill>
                <a:latin typeface="Calibri"/>
              </a:rPr>
              <a:t>WORKS AFTER CLARIFYING</a:t>
            </a: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20</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highest risk score</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&gt;7d</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route trigger</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&lt;95%</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allocation trigger</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21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06 · COPILOT IN POWERPOINT</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Create the Decision Update</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Build a concise procurement-leadership story with traceable numbers, one recommendation, and explicit decision asks.</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800" b="1" dirty="0">
                <a:solidFill>
                  <a:srgbClr val="FFFFFF"/>
                </a:solidFill>
                <a:latin typeface="Georgia" pitchFamily="34" charset="0"/>
                <a:ea typeface="Georgia" pitchFamily="34" charset="-122"/>
                <a:cs typeface="Georgia" pitchFamily="34" charset="-120"/>
              </a:rPr>
              <a:t>Executive_Snapshot + Disruption Brief + Contract Decision Map</a:t>
            </a:r>
            <a:endParaRPr lang="en-US" sz="18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This is not 'make slides.' It is a governed transformation from evidence to a decision narrative with confidence and source tags.</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make it boardroom-proof</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prepare the curveball</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verify evidence, authority, and business judgment before action.</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DEMO 06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The leadership story works after an artifact handoff</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five-slide structure is coherent, but the Demo 4 decision map must exist as an attached source.</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658368"/>
          </a:xfrm>
          <a:prstGeom prst="rect">
            <a:avLst/>
          </a:prstGeom>
          <a:noFill/>
        </p:spPr>
        <p:txBody>
          <a:bodyPr wrap="square" lIns="0" tIns="0" rIns="0" bIns="0" anchor="t">
            <a:spAutoFit/>
          </a:bodyPr>
          <a:lstStyle/>
          <a:p>
            <a:pPr algn="l"/>
            <a:r>
              <a:rPr sz="1250" b="0">
                <a:solidFill>
                  <a:srgbClr val="0B1739"/>
                </a:solidFill>
                <a:latin typeface="Calibri"/>
              </a:rPr>
              <a:t>The five requested messages form a clear evidence-to-decision narrative.</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384721"/>
          </a:xfrm>
          <a:prstGeom prst="rect">
            <a:avLst/>
          </a:prstGeom>
          <a:noFill/>
        </p:spPr>
        <p:txBody>
          <a:bodyPr wrap="square" lIns="0" tIns="0" rIns="0" bIns="0" anchor="t">
            <a:spAutoFit/>
          </a:bodyPr>
          <a:lstStyle/>
          <a:p>
            <a:pPr algn="l"/>
            <a:r>
              <a:rPr lang="en-US" sz="1250" b="0">
                <a:solidFill>
                  <a:srgbClr val="0B1739"/>
                </a:solidFill>
                <a:latin typeface="Calibri"/>
              </a:rPr>
              <a:t>Skeptical </a:t>
            </a:r>
            <a:r>
              <a:rPr sz="1250" b="0">
                <a:solidFill>
                  <a:srgbClr val="0B1739"/>
                </a:solidFill>
                <a:latin typeface="Calibri"/>
              </a:rPr>
              <a:t>review </a:t>
            </a:r>
            <a:r>
              <a:rPr lang="en-US" sz="1250" b="0">
                <a:solidFill>
                  <a:srgbClr val="0B1739"/>
                </a:solidFill>
                <a:latin typeface="Calibri"/>
              </a:rPr>
              <a:t>exposes </a:t>
            </a:r>
            <a:r>
              <a:rPr sz="1250" b="0">
                <a:solidFill>
                  <a:srgbClr val="0B1739"/>
                </a:solidFill>
                <a:latin typeface="Calibri"/>
              </a:rPr>
              <a:t>unsupported </a:t>
            </a:r>
            <a:r>
              <a:rPr lang="en-US" sz="1250" b="0">
                <a:solidFill>
                  <a:srgbClr val="0B1739"/>
                </a:solidFill>
                <a:latin typeface="Calibri"/>
              </a:rPr>
              <a:t>claims</a:t>
            </a:r>
            <a:r>
              <a:rPr sz="1250" b="0">
                <a:solidFill>
                  <a:srgbClr val="0B1739"/>
                </a:solidFill>
                <a:latin typeface="Calibri"/>
              </a:rPr>
              <a:t>, ambiguous numbers, and buried decisions.</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The curveball follow-up belongs in speaker notes and does not require extra slides.</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B7791F"/>
          </a:solidFill>
          <a:ln>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82880"/>
          </a:xfrm>
          <a:prstGeom prst="rect">
            <a:avLst/>
          </a:prstGeom>
          <a:noFill/>
        </p:spPr>
        <p:txBody>
          <a:bodyPr wrap="square" lIns="0" tIns="0" rIns="0" bIns="0" anchor="t">
            <a:spAutoFit/>
          </a:bodyPr>
          <a:lstStyle/>
          <a:p>
            <a:pPr algn="ctr"/>
            <a:r>
              <a:rPr sz="1100" b="1">
                <a:solidFill>
                  <a:srgbClr val="FFFFFF"/>
                </a:solidFill>
                <a:latin typeface="Calibri"/>
              </a:rPr>
              <a:t>WORKS AFTER HANDOFF</a:t>
            </a: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5</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slides requested</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1</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saved artifact needed</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4</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curveballs in notes</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23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BONUS · COPILOT IN WORD + TEAMS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Turn the Win into a Team Resource</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Capture the reusable intake standard, prompt pattern, decision checks, and escalation map so the next category manager starts ahead.</a:t>
            </a:r>
            <a:endParaRPr lang="en-US" sz="1300" dirty="0"/>
          </a:p>
        </p:txBody>
      </p:sp>
      <p:sp>
        <p:nvSpPr>
          <p:cNvPr id="5" name="Shape 3"/>
          <p:cNvSpPr/>
          <p:nvPr/>
        </p:nvSpPr>
        <p:spPr>
          <a:xfrm>
            <a:off x="685800" y="1828800"/>
            <a:ext cx="3657600" cy="3520440"/>
          </a:xfrm>
          <a:prstGeom prst="roundRect">
            <a:avLst>
              <a:gd name="adj" fmla="val 1558"/>
            </a:avLst>
          </a:prstGeom>
          <a:solidFill>
            <a:srgbClr val="06123B"/>
          </a:solidFill>
          <a:ln w="12700">
            <a:solidFill>
              <a:srgbClr val="06123B"/>
            </a:solidFill>
            <a:prstDash val="solid"/>
          </a:ln>
        </p:spPr>
        <p:txBody>
          <a:bodyPr/>
          <a:lstStyle/>
          <a:p>
            <a:endParaRPr lang="en-US"/>
          </a:p>
        </p:txBody>
      </p:sp>
      <p:sp>
        <p:nvSpPr>
          <p:cNvPr id="6" name="Text 4"/>
          <p:cNvSpPr/>
          <p:nvPr/>
        </p:nvSpPr>
        <p:spPr>
          <a:xfrm>
            <a:off x="960120" y="2139696"/>
            <a:ext cx="1920240" cy="219456"/>
          </a:xfrm>
          <a:prstGeom prst="rect">
            <a:avLst/>
          </a:prstGeom>
          <a:noFill/>
          <a:ln/>
        </p:spPr>
        <p:txBody>
          <a:bodyPr wrap="square" lIns="0" tIns="0" rIns="0" bIns="0" rtlCol="0" anchor="ctr"/>
          <a:lstStyle/>
          <a:p>
            <a:pPr marL="0" indent="0">
              <a:buNone/>
            </a:pPr>
            <a:r>
              <a:rPr lang="en-US" sz="900" b="1" kern="0" spc="160" dirty="0">
                <a:solidFill>
                  <a:srgbClr val="9EAFFF"/>
                </a:solidFill>
                <a:latin typeface="Aptos" pitchFamily="34" charset="0"/>
                <a:ea typeface="Aptos" pitchFamily="34" charset="-122"/>
                <a:cs typeface="Aptos" pitchFamily="34" charset="-120"/>
              </a:rPr>
              <a:t>SOURCE PACK</a:t>
            </a:r>
            <a:endParaRPr lang="en-US" sz="900" dirty="0"/>
          </a:p>
        </p:txBody>
      </p:sp>
      <p:sp>
        <p:nvSpPr>
          <p:cNvPr id="7" name="Text 5"/>
          <p:cNvSpPr/>
          <p:nvPr/>
        </p:nvSpPr>
        <p:spPr>
          <a:xfrm>
            <a:off x="960120" y="2542032"/>
            <a:ext cx="3108960" cy="1143000"/>
          </a:xfrm>
          <a:prstGeom prst="rect">
            <a:avLst/>
          </a:prstGeom>
          <a:noFill/>
          <a:ln/>
        </p:spPr>
        <p:txBody>
          <a:bodyPr wrap="square" lIns="0" tIns="0" rIns="0" bIns="0" rtlCol="0" anchor="ctr">
            <a:normAutofit/>
          </a:bodyPr>
          <a:lstStyle/>
          <a:p>
            <a:pPr marL="0" indent="0">
              <a:buNone/>
            </a:pPr>
            <a:r>
              <a:rPr lang="en-US" sz="1600" b="1" dirty="0">
                <a:solidFill>
                  <a:srgbClr val="FFFFFF"/>
                </a:solidFill>
                <a:latin typeface="Georgia" pitchFamily="34" charset="0"/>
                <a:ea typeface="Georgia" pitchFamily="34" charset="-122"/>
                <a:cs typeface="Georgia" pitchFamily="34" charset="-120"/>
              </a:rPr>
              <a:t>05 GSM Supplier Decision Kit + outputs from Demos 1–6</a:t>
            </a:r>
            <a:endParaRPr lang="en-US" sz="1600" dirty="0"/>
          </a:p>
        </p:txBody>
      </p:sp>
      <p:sp>
        <p:nvSpPr>
          <p:cNvPr id="8" name="Text 6"/>
          <p:cNvSpPr/>
          <p:nvPr/>
        </p:nvSpPr>
        <p:spPr>
          <a:xfrm>
            <a:off x="960120" y="4242816"/>
            <a:ext cx="3108960" cy="320040"/>
          </a:xfrm>
          <a:prstGeom prst="rect">
            <a:avLst/>
          </a:prstGeom>
          <a:noFill/>
          <a:ln/>
        </p:spPr>
        <p:txBody>
          <a:bodyPr wrap="square" lIns="0" tIns="0" rIns="0" bIns="0" rtlCol="0" anchor="ctr"/>
          <a:lstStyle/>
          <a:p>
            <a:pPr marL="0" indent="0">
              <a:buNone/>
            </a:pPr>
            <a:r>
              <a:rPr lang="en-US" sz="1150" b="1" dirty="0">
                <a:solidFill>
                  <a:srgbClr val="DDE2FF"/>
                </a:solidFill>
                <a:latin typeface="Aptos" pitchFamily="34" charset="0"/>
                <a:ea typeface="Aptos" pitchFamily="34" charset="-122"/>
                <a:cs typeface="Aptos" pitchFamily="34" charset="-120"/>
              </a:rPr>
              <a:t>Run all prompts in the same thread.</a:t>
            </a:r>
            <a:endParaRPr lang="en-US" sz="1150" dirty="0"/>
          </a:p>
        </p:txBody>
      </p:sp>
      <p:sp>
        <p:nvSpPr>
          <p:cNvPr id="9" name="Text 7"/>
          <p:cNvSpPr/>
          <p:nvPr/>
        </p:nvSpPr>
        <p:spPr>
          <a:xfrm>
            <a:off x="960120" y="4681728"/>
            <a:ext cx="3063240" cy="411480"/>
          </a:xfrm>
          <a:prstGeom prst="rect">
            <a:avLst/>
          </a:prstGeom>
          <a:noFill/>
          <a:ln/>
        </p:spPr>
        <p:txBody>
          <a:bodyPr wrap="square" lIns="0" tIns="0" rIns="0" bIns="0" rtlCol="0" anchor="ctr"/>
          <a:lstStyle/>
          <a:p>
            <a:pPr marL="0" indent="0">
              <a:buNone/>
            </a:pPr>
            <a:r>
              <a:rPr lang="en-US" sz="1050" dirty="0">
                <a:solidFill>
                  <a:srgbClr val="BAC1E8"/>
                </a:solidFill>
                <a:latin typeface="Aptos" pitchFamily="34" charset="0"/>
                <a:ea typeface="Aptos" pitchFamily="34" charset="-122"/>
                <a:cs typeface="Aptos" pitchFamily="34" charset="-120"/>
              </a:rPr>
              <a:t>Copy-ready prompts are in the HTML demo guide.</a:t>
            </a:r>
            <a:endParaRPr lang="en-US" sz="1050" dirty="0"/>
          </a:p>
        </p:txBody>
      </p:sp>
      <p:sp>
        <p:nvSpPr>
          <p:cNvPr id="10" name="Shape 8"/>
          <p:cNvSpPr/>
          <p:nvPr/>
        </p:nvSpPr>
        <p:spPr>
          <a:xfrm>
            <a:off x="4709160" y="1828800"/>
            <a:ext cx="6766560" cy="1417320"/>
          </a:xfrm>
          <a:prstGeom prst="roundRect">
            <a:avLst>
              <a:gd name="adj" fmla="val 3226"/>
            </a:avLst>
          </a:prstGeom>
          <a:solidFill>
            <a:srgbClr val="FFFFFF"/>
          </a:solidFill>
          <a:ln w="10160">
            <a:solidFill>
              <a:srgbClr val="D9DAE5"/>
            </a:solidFill>
            <a:prstDash val="solid"/>
          </a:ln>
        </p:spPr>
        <p:txBody>
          <a:bodyPr/>
          <a:lstStyle/>
          <a:p>
            <a:endParaRPr lang="en-US"/>
          </a:p>
        </p:txBody>
      </p:sp>
      <p:sp>
        <p:nvSpPr>
          <p:cNvPr id="11" name="Text 9"/>
          <p:cNvSpPr/>
          <p:nvPr/>
        </p:nvSpPr>
        <p:spPr>
          <a:xfrm>
            <a:off x="5010912" y="2075688"/>
            <a:ext cx="2560320" cy="219456"/>
          </a:xfrm>
          <a:prstGeom prst="rect">
            <a:avLst/>
          </a:prstGeom>
          <a:noFill/>
          <a:ln/>
        </p:spPr>
        <p:txBody>
          <a:bodyPr wrap="square" lIns="0" tIns="0" rIns="0" bIns="0" rtlCol="0" anchor="ctr"/>
          <a:lstStyle/>
          <a:p>
            <a:pPr marL="0" indent="0">
              <a:buNone/>
            </a:pPr>
            <a:r>
              <a:rPr lang="en-US" sz="900" b="1" kern="0" spc="150" dirty="0">
                <a:solidFill>
                  <a:srgbClr val="B11F4B"/>
                </a:solidFill>
                <a:latin typeface="Aptos" pitchFamily="34" charset="0"/>
                <a:ea typeface="Aptos" pitchFamily="34" charset="-122"/>
                <a:cs typeface="Aptos" pitchFamily="34" charset="-120"/>
              </a:rPr>
              <a:t>THE SURPRISE BEAT</a:t>
            </a:r>
            <a:endParaRPr lang="en-US" sz="900" dirty="0"/>
          </a:p>
        </p:txBody>
      </p:sp>
      <p:sp>
        <p:nvSpPr>
          <p:cNvPr id="12" name="Text 10"/>
          <p:cNvSpPr/>
          <p:nvPr/>
        </p:nvSpPr>
        <p:spPr>
          <a:xfrm>
            <a:off x="5010912" y="2450592"/>
            <a:ext cx="6126480" cy="512064"/>
          </a:xfrm>
          <a:prstGeom prst="rect">
            <a:avLst/>
          </a:prstGeom>
          <a:noFill/>
          <a:ln/>
        </p:spPr>
        <p:txBody>
          <a:bodyPr wrap="square" lIns="0" tIns="0" rIns="0" bIns="0" rtlCol="0" anchor="ctr">
            <a:normAutofit/>
          </a:bodyPr>
          <a:lstStyle/>
          <a:p>
            <a:pPr marL="0" indent="0">
              <a:buNone/>
            </a:pPr>
            <a:r>
              <a:rPr lang="en-US" sz="1550" dirty="0">
                <a:solidFill>
                  <a:srgbClr val="06123B"/>
                </a:solidFill>
                <a:latin typeface="Georgia" pitchFamily="34" charset="0"/>
                <a:ea typeface="Georgia" pitchFamily="34" charset="-122"/>
                <a:cs typeface="Georgia" pitchFamily="34" charset="-120"/>
              </a:rPr>
              <a:t>The final output is not another transcript. It is a governed, reusable team asset with blanks, ownership, and review rules.</a:t>
            </a:r>
            <a:endParaRPr lang="en-US" sz="1550" dirty="0"/>
          </a:p>
        </p:txBody>
      </p:sp>
      <p:sp>
        <p:nvSpPr>
          <p:cNvPr id="13" name="Text 11"/>
          <p:cNvSpPr/>
          <p:nvPr/>
        </p:nvSpPr>
        <p:spPr>
          <a:xfrm>
            <a:off x="4800600" y="3611880"/>
            <a:ext cx="2286000" cy="219456"/>
          </a:xfrm>
          <a:prstGeom prst="rect">
            <a:avLst/>
          </a:prstGeom>
          <a:noFill/>
          <a:ln/>
        </p:spPr>
        <p:txBody>
          <a:bodyPr wrap="square" lIns="0" tIns="0" rIns="0" bIns="0" rtlCol="0" anchor="ctr"/>
          <a:lstStyle/>
          <a:p>
            <a:pPr marL="0" indent="0">
              <a:buNone/>
            </a:pPr>
            <a:r>
              <a:rPr lang="en-US" sz="900" b="1" kern="0" spc="150" dirty="0">
                <a:solidFill>
                  <a:srgbClr val="2E3A72"/>
                </a:solidFill>
                <a:latin typeface="Aptos" pitchFamily="34" charset="0"/>
                <a:ea typeface="Aptos" pitchFamily="34" charset="-122"/>
                <a:cs typeface="Aptos" pitchFamily="34" charset="-120"/>
              </a:rPr>
              <a:t>THREAD MOVES</a:t>
            </a:r>
            <a:endParaRPr lang="en-US" sz="900" dirty="0"/>
          </a:p>
        </p:txBody>
      </p:sp>
      <p:sp>
        <p:nvSpPr>
          <p:cNvPr id="14" name="Shape 12"/>
          <p:cNvSpPr/>
          <p:nvPr/>
        </p:nvSpPr>
        <p:spPr>
          <a:xfrm>
            <a:off x="4864608" y="3959352"/>
            <a:ext cx="347472" cy="347472"/>
          </a:xfrm>
          <a:prstGeom prst="ellipse">
            <a:avLst/>
          </a:prstGeom>
          <a:solidFill>
            <a:srgbClr val="B11F4B"/>
          </a:solidFill>
          <a:ln w="12700">
            <a:solidFill>
              <a:srgbClr val="B11F4B"/>
            </a:solidFill>
            <a:prstDash val="solid"/>
          </a:ln>
        </p:spPr>
        <p:txBody>
          <a:bodyPr/>
          <a:lstStyle/>
          <a:p>
            <a:endParaRPr lang="en-US"/>
          </a:p>
        </p:txBody>
      </p:sp>
      <p:sp>
        <p:nvSpPr>
          <p:cNvPr id="15" name="Text 13"/>
          <p:cNvSpPr/>
          <p:nvPr/>
        </p:nvSpPr>
        <p:spPr>
          <a:xfrm>
            <a:off x="4864608" y="3959352"/>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16" name="Text 14"/>
          <p:cNvSpPr/>
          <p:nvPr/>
        </p:nvSpPr>
        <p:spPr>
          <a:xfrm>
            <a:off x="5367528" y="3986784"/>
            <a:ext cx="5394960" cy="256032"/>
          </a:xfrm>
          <a:prstGeom prst="rect">
            <a:avLst/>
          </a:prstGeom>
          <a:noFill/>
          <a:ln/>
        </p:spPr>
        <p:txBody>
          <a:bodyPr wrap="square" lIns="0" tIns="0" rIns="0" bIns="0" rtlCol="0" anchor="ctr"/>
          <a:lstStyle/>
          <a:p>
            <a:pPr marL="0" indent="0">
              <a:buNone/>
            </a:pPr>
            <a:r>
              <a:rPr lang="en-US" sz="1200" b="1" dirty="0">
                <a:solidFill>
                  <a:srgbClr val="17182B"/>
                </a:solidFill>
                <a:latin typeface="Aptos" pitchFamily="34" charset="0"/>
                <a:ea typeface="Aptos" pitchFamily="34" charset="-122"/>
                <a:cs typeface="Aptos" pitchFamily="34" charset="-120"/>
              </a:rPr>
              <a:t>Starting prompt</a:t>
            </a:r>
            <a:endParaRPr lang="en-US" sz="1200" dirty="0"/>
          </a:p>
        </p:txBody>
      </p:sp>
      <p:sp>
        <p:nvSpPr>
          <p:cNvPr id="17" name="Shape 15"/>
          <p:cNvSpPr/>
          <p:nvPr/>
        </p:nvSpPr>
        <p:spPr>
          <a:xfrm>
            <a:off x="4864608" y="4562856"/>
            <a:ext cx="347472" cy="347472"/>
          </a:xfrm>
          <a:prstGeom prst="ellipse">
            <a:avLst/>
          </a:prstGeom>
          <a:solidFill>
            <a:srgbClr val="2E3A72"/>
          </a:solidFill>
          <a:ln w="12700">
            <a:solidFill>
              <a:srgbClr val="2E3A72"/>
            </a:solidFill>
            <a:prstDash val="solid"/>
          </a:ln>
        </p:spPr>
        <p:txBody>
          <a:bodyPr/>
          <a:lstStyle/>
          <a:p>
            <a:endParaRPr lang="en-US"/>
          </a:p>
        </p:txBody>
      </p:sp>
      <p:sp>
        <p:nvSpPr>
          <p:cNvPr id="18" name="Text 16"/>
          <p:cNvSpPr/>
          <p:nvPr/>
        </p:nvSpPr>
        <p:spPr>
          <a:xfrm>
            <a:off x="4864608" y="4562856"/>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19" name="Text 17"/>
          <p:cNvSpPr/>
          <p:nvPr/>
        </p:nvSpPr>
        <p:spPr>
          <a:xfrm>
            <a:off x="5367528" y="4590288"/>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test reusability</a:t>
            </a:r>
            <a:endParaRPr lang="en-US" sz="1200" dirty="0"/>
          </a:p>
        </p:txBody>
      </p:sp>
      <p:sp>
        <p:nvSpPr>
          <p:cNvPr id="20" name="Shape 18"/>
          <p:cNvSpPr/>
          <p:nvPr/>
        </p:nvSpPr>
        <p:spPr>
          <a:xfrm>
            <a:off x="4864608" y="5166360"/>
            <a:ext cx="347472" cy="347472"/>
          </a:xfrm>
          <a:prstGeom prst="ellipse">
            <a:avLst/>
          </a:prstGeom>
          <a:solidFill>
            <a:srgbClr val="2E3A72"/>
          </a:solidFill>
          <a:ln w="12700">
            <a:solidFill>
              <a:srgbClr val="2E3A72"/>
            </a:solidFill>
            <a:prstDash val="solid"/>
          </a:ln>
        </p:spPr>
        <p:txBody>
          <a:bodyPr/>
          <a:lstStyle/>
          <a:p>
            <a:endParaRPr lang="en-US"/>
          </a:p>
        </p:txBody>
      </p:sp>
      <p:sp>
        <p:nvSpPr>
          <p:cNvPr id="21" name="Text 19"/>
          <p:cNvSpPr/>
          <p:nvPr/>
        </p:nvSpPr>
        <p:spPr>
          <a:xfrm>
            <a:off x="4864608" y="5166360"/>
            <a:ext cx="347472" cy="347472"/>
          </a:xfrm>
          <a:prstGeom prst="rect">
            <a:avLst/>
          </a:prstGeom>
          <a:noFill/>
          <a:ln/>
        </p:spPr>
        <p:txBody>
          <a:bodyPr wrap="square" lIns="0" tIns="0" rIns="0" bIns="0" rtlCol="0" anchor="ctr"/>
          <a:lstStyle/>
          <a:p>
            <a:pPr marL="0" indent="0" algn="ctr">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367528" y="5193792"/>
            <a:ext cx="5394960" cy="256032"/>
          </a:xfrm>
          <a:prstGeom prst="rect">
            <a:avLst/>
          </a:prstGeom>
          <a:noFill/>
          <a:ln/>
        </p:spPr>
        <p:txBody>
          <a:bodyPr wrap="square" lIns="0" tIns="0" rIns="0" bIns="0" rtlCol="0" anchor="ctr"/>
          <a:lstStyle/>
          <a:p>
            <a:pPr marL="0" indent="0">
              <a:buNone/>
            </a:pPr>
            <a:r>
              <a:rPr lang="en-US" sz="1200" dirty="0">
                <a:solidFill>
                  <a:srgbClr val="17182B"/>
                </a:solidFill>
                <a:latin typeface="Aptos" pitchFamily="34" charset="0"/>
                <a:ea typeface="Aptos" pitchFamily="34" charset="-122"/>
                <a:cs typeface="Aptos" pitchFamily="34" charset="-120"/>
              </a:rPr>
              <a:t>Follow-up: publish responsibly</a:t>
            </a:r>
            <a:endParaRPr lang="en-US" sz="1200" dirty="0"/>
          </a:p>
        </p:txBody>
      </p:sp>
      <p:sp>
        <p:nvSpPr>
          <p:cNvPr id="23" name="Shape 21"/>
          <p:cNvSpPr/>
          <p:nvPr/>
        </p:nvSpPr>
        <p:spPr>
          <a:xfrm>
            <a:off x="4709160" y="5897880"/>
            <a:ext cx="6766560" cy="384048"/>
          </a:xfrm>
          <a:prstGeom prst="roundRect">
            <a:avLst>
              <a:gd name="adj" fmla="val 7143"/>
            </a:avLst>
          </a:prstGeom>
          <a:solidFill>
            <a:srgbClr val="E8EBFF"/>
          </a:solidFill>
          <a:ln w="12700">
            <a:solidFill>
              <a:srgbClr val="E8EBFF"/>
            </a:solidFill>
            <a:prstDash val="solid"/>
          </a:ln>
        </p:spPr>
        <p:txBody>
          <a:bodyPr/>
          <a:lstStyle/>
          <a:p>
            <a:endParaRPr lang="en-US"/>
          </a:p>
        </p:txBody>
      </p:sp>
      <p:sp>
        <p:nvSpPr>
          <p:cNvPr id="24" name="Text 22"/>
          <p:cNvSpPr/>
          <p:nvPr/>
        </p:nvSpPr>
        <p:spPr>
          <a:xfrm>
            <a:off x="4919472" y="5989320"/>
            <a:ext cx="6355080" cy="164592"/>
          </a:xfrm>
          <a:prstGeom prst="rect">
            <a:avLst/>
          </a:prstGeom>
          <a:noFill/>
          <a:ln/>
        </p:spPr>
        <p:txBody>
          <a:bodyPr wrap="square" lIns="0" tIns="0" rIns="0" bIns="0" rtlCol="0" anchor="ctr"/>
          <a:lstStyle/>
          <a:p>
            <a:pPr marL="0" indent="0">
              <a:buNone/>
            </a:pPr>
            <a:r>
              <a:rPr lang="en-US" sz="950" b="1" dirty="0">
                <a:solidFill>
                  <a:srgbClr val="2E3A72"/>
                </a:solidFill>
                <a:latin typeface="Aptos" pitchFamily="34" charset="0"/>
                <a:ea typeface="Aptos" pitchFamily="34" charset="-122"/>
                <a:cs typeface="Aptos" pitchFamily="34" charset="-120"/>
              </a:rPr>
              <a:t>Human checkpoint: verify evidence, authority, and business judgment before action.</a:t>
            </a:r>
            <a:endParaRPr lang="en-US" sz="950" dirty="0"/>
          </a:p>
        </p:txBody>
      </p:sp>
      <p:sp>
        <p:nvSpPr>
          <p:cNvPr id="26" name="Shape 23"/>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27" name="Text 24"/>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28" name="Text 25"/>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p:cNvGrpSpPr/>
        <p:nvPr/>
      </p:nvGrpSpPr>
      <p:grpSpPr>
        <a:xfrm>
          <a:off x="0" y="0"/>
          <a:ext cx="0" cy="0"/>
          <a:chOff x="0" y="0"/>
          <a:chExt cx="0" cy="0"/>
        </a:xfrm>
      </p:grpSpPr>
      <p:sp>
        <p:nvSpPr>
          <p:cNvPr id="2" name="TextBox 1"/>
          <p:cNvSpPr txBox="1"/>
          <p:nvPr/>
        </p:nvSpPr>
        <p:spPr>
          <a:xfrm>
            <a:off x="658368" y="384048"/>
            <a:ext cx="6675120" cy="274320"/>
          </a:xfrm>
          <a:prstGeom prst="rect">
            <a:avLst/>
          </a:prstGeom>
          <a:noFill/>
        </p:spPr>
        <p:txBody>
          <a:bodyPr wrap="square" lIns="0" tIns="0" rIns="0" bIns="0" anchor="t">
            <a:spAutoFit/>
          </a:bodyPr>
          <a:lstStyle/>
          <a:p>
            <a:pPr algn="l"/>
            <a:r>
              <a:rPr sz="1100" b="1">
                <a:solidFill>
                  <a:srgbClr val="324181"/>
                </a:solidFill>
                <a:latin typeface="Calibri"/>
              </a:rPr>
              <a:t>BONUS | VERIFIED TEST RUN</a:t>
            </a:r>
          </a:p>
        </p:txBody>
      </p:sp>
      <p:sp>
        <p:nvSpPr>
          <p:cNvPr id="3" name="TextBox 2"/>
          <p:cNvSpPr txBox="1"/>
          <p:nvPr/>
        </p:nvSpPr>
        <p:spPr>
          <a:xfrm>
            <a:off x="658368" y="749808"/>
            <a:ext cx="10835640" cy="868680"/>
          </a:xfrm>
          <a:prstGeom prst="rect">
            <a:avLst/>
          </a:prstGeom>
          <a:noFill/>
        </p:spPr>
        <p:txBody>
          <a:bodyPr wrap="square" lIns="0" tIns="0" rIns="0" bIns="0" anchor="t">
            <a:spAutoFit/>
          </a:bodyPr>
          <a:lstStyle/>
          <a:p>
            <a:pPr algn="l"/>
            <a:r>
              <a:rPr sz="2800" b="1">
                <a:solidFill>
                  <a:srgbClr val="0B1739"/>
                </a:solidFill>
                <a:latin typeface="Georgia"/>
              </a:rPr>
              <a:t>The team resource works after outputs are persisted</a:t>
            </a:r>
          </a:p>
        </p:txBody>
      </p:sp>
      <p:sp>
        <p:nvSpPr>
          <p:cNvPr id="4" name="TextBox 3"/>
          <p:cNvSpPr txBox="1"/>
          <p:nvPr/>
        </p:nvSpPr>
        <p:spPr>
          <a:xfrm>
            <a:off x="658368" y="1627632"/>
            <a:ext cx="10789920" cy="292608"/>
          </a:xfrm>
          <a:prstGeom prst="rect">
            <a:avLst/>
          </a:prstGeom>
          <a:noFill/>
        </p:spPr>
        <p:txBody>
          <a:bodyPr wrap="square" lIns="0" tIns="0" rIns="0" bIns="0" anchor="t">
            <a:spAutoFit/>
          </a:bodyPr>
          <a:lstStyle/>
          <a:p>
            <a:pPr algn="l"/>
            <a:r>
              <a:rPr sz="1400" b="0">
                <a:solidFill>
                  <a:srgbClr val="626A7F"/>
                </a:solidFill>
                <a:latin typeface="Calibri"/>
              </a:rPr>
              <a:t>The kit is a strong reusable base, but chat history is not a dependable cross-demo source.</a:t>
            </a:r>
          </a:p>
        </p:txBody>
      </p:sp>
      <p:sp>
        <p:nvSpPr>
          <p:cNvPr id="5" name="Rounded Rectangle 4"/>
          <p:cNvSpPr/>
          <p:nvPr/>
        </p:nvSpPr>
        <p:spPr>
          <a:xfrm>
            <a:off x="658368" y="2057400"/>
            <a:ext cx="6812280" cy="4105656"/>
          </a:xfrm>
          <a:prstGeom prst="roundRect">
            <a:avLst/>
          </a:prstGeom>
          <a:solidFill>
            <a:srgbClr val="FFFFFF"/>
          </a:solidFill>
          <a:ln>
            <a:solidFill>
              <a:srgbClr val="D9DD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304288"/>
            <a:ext cx="5303520" cy="219456"/>
          </a:xfrm>
          <a:prstGeom prst="rect">
            <a:avLst/>
          </a:prstGeom>
          <a:noFill/>
        </p:spPr>
        <p:txBody>
          <a:bodyPr wrap="square" lIns="0" tIns="0" rIns="0" bIns="0" anchor="t">
            <a:spAutoFit/>
          </a:bodyPr>
          <a:lstStyle/>
          <a:p>
            <a:pPr algn="l"/>
            <a:r>
              <a:rPr sz="1000" b="1">
                <a:solidFill>
                  <a:srgbClr val="324181"/>
                </a:solidFill>
                <a:latin typeface="Calibri"/>
              </a:rPr>
              <a:t>WHAT THE RUN PRODUCED</a:t>
            </a:r>
          </a:p>
        </p:txBody>
      </p:sp>
      <p:sp>
        <p:nvSpPr>
          <p:cNvPr id="7" name="Oval 6"/>
          <p:cNvSpPr/>
          <p:nvPr/>
        </p:nvSpPr>
        <p:spPr>
          <a:xfrm>
            <a:off x="932688" y="2596896"/>
            <a:ext cx="310896" cy="310896"/>
          </a:xfrm>
          <a:prstGeom prst="ellipse">
            <a:avLst/>
          </a:prstGeom>
          <a:solidFill>
            <a:srgbClr val="BE1E4A"/>
          </a:solidFill>
          <a:ln>
            <a:solidFill>
              <a:srgbClr val="BE1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2688" y="2606039"/>
            <a:ext cx="310896" cy="256032"/>
          </a:xfrm>
          <a:prstGeom prst="rect">
            <a:avLst/>
          </a:prstGeom>
          <a:noFill/>
        </p:spPr>
        <p:txBody>
          <a:bodyPr wrap="square" lIns="0" tIns="0" rIns="0" bIns="0" anchor="ctr">
            <a:spAutoFit/>
          </a:bodyPr>
          <a:lstStyle/>
          <a:p>
            <a:pPr algn="ctr"/>
            <a:r>
              <a:rPr sz="1000" b="1">
                <a:solidFill>
                  <a:srgbClr val="FFFFFF"/>
                </a:solidFill>
                <a:latin typeface="Calibri"/>
              </a:rPr>
              <a:t>1</a:t>
            </a:r>
          </a:p>
        </p:txBody>
      </p:sp>
      <p:sp>
        <p:nvSpPr>
          <p:cNvPr id="9" name="TextBox 8"/>
          <p:cNvSpPr txBox="1"/>
          <p:nvPr/>
        </p:nvSpPr>
        <p:spPr>
          <a:xfrm>
            <a:off x="1389888" y="2523744"/>
            <a:ext cx="5440680" cy="384721"/>
          </a:xfrm>
          <a:prstGeom prst="rect">
            <a:avLst/>
          </a:prstGeom>
          <a:noFill/>
        </p:spPr>
        <p:txBody>
          <a:bodyPr wrap="square" lIns="0" tIns="0" rIns="0" bIns="0" anchor="t">
            <a:spAutoFit/>
          </a:bodyPr>
          <a:lstStyle/>
          <a:p>
            <a:pPr algn="l"/>
            <a:r>
              <a:rPr sz="1250" b="0">
                <a:solidFill>
                  <a:srgbClr val="0B1739"/>
                </a:solidFill>
                <a:latin typeface="Calibri"/>
              </a:rPr>
              <a:t>The kit already contains intake, GCSE, prompt starters, review checks, and escalation paths.</a:t>
            </a:r>
          </a:p>
        </p:txBody>
      </p:sp>
      <p:sp>
        <p:nvSpPr>
          <p:cNvPr id="10" name="Oval 9"/>
          <p:cNvSpPr/>
          <p:nvPr/>
        </p:nvSpPr>
        <p:spPr>
          <a:xfrm>
            <a:off x="932688" y="3346703"/>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3355847"/>
            <a:ext cx="310896" cy="256032"/>
          </a:xfrm>
          <a:prstGeom prst="rect">
            <a:avLst/>
          </a:prstGeom>
          <a:noFill/>
        </p:spPr>
        <p:txBody>
          <a:bodyPr wrap="square" lIns="0" tIns="0" rIns="0" bIns="0" anchor="ctr">
            <a:spAutoFit/>
          </a:bodyPr>
          <a:lstStyle/>
          <a:p>
            <a:pPr algn="ctr"/>
            <a:r>
              <a:rPr sz="1000" b="1">
                <a:solidFill>
                  <a:srgbClr val="FFFFFF"/>
                </a:solidFill>
                <a:latin typeface="Calibri"/>
              </a:rPr>
              <a:t>2</a:t>
            </a:r>
          </a:p>
        </p:txBody>
      </p:sp>
      <p:sp>
        <p:nvSpPr>
          <p:cNvPr id="12" name="TextBox 11"/>
          <p:cNvSpPr txBox="1"/>
          <p:nvPr/>
        </p:nvSpPr>
        <p:spPr>
          <a:xfrm>
            <a:off x="1389888" y="3273551"/>
            <a:ext cx="5440680" cy="384721"/>
          </a:xfrm>
          <a:prstGeom prst="rect">
            <a:avLst/>
          </a:prstGeom>
          <a:noFill/>
        </p:spPr>
        <p:txBody>
          <a:bodyPr wrap="square" lIns="0" tIns="0" rIns="0" bIns="0" anchor="t">
            <a:spAutoFit/>
          </a:bodyPr>
          <a:lstStyle/>
          <a:p>
            <a:pPr algn="l"/>
            <a:r>
              <a:rPr lang="en-US" sz="1250" b="0">
                <a:solidFill>
                  <a:srgbClr val="0B1739"/>
                </a:solidFill>
                <a:latin typeface="Calibri"/>
              </a:rPr>
              <a:t>Cold-start</a:t>
            </a:r>
            <a:r>
              <a:rPr sz="1250" b="0">
                <a:solidFill>
                  <a:srgbClr val="0B1739"/>
                </a:solidFill>
                <a:latin typeface="Calibri"/>
              </a:rPr>
              <a:t> adds explicit placeholders, owners, quality checks, and governance metadata.</a:t>
            </a:r>
          </a:p>
        </p:txBody>
      </p:sp>
      <p:sp>
        <p:nvSpPr>
          <p:cNvPr id="13" name="Oval 12"/>
          <p:cNvSpPr/>
          <p:nvPr/>
        </p:nvSpPr>
        <p:spPr>
          <a:xfrm>
            <a:off x="932688" y="4096511"/>
            <a:ext cx="310896" cy="310896"/>
          </a:xfrm>
          <a:prstGeom prst="ellipse">
            <a:avLst/>
          </a:prstGeom>
          <a:solidFill>
            <a:srgbClr val="324181"/>
          </a:solidFill>
          <a:ln>
            <a:solidFill>
              <a:srgbClr val="3241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2688" y="4105655"/>
            <a:ext cx="310896" cy="256032"/>
          </a:xfrm>
          <a:prstGeom prst="rect">
            <a:avLst/>
          </a:prstGeom>
          <a:noFill/>
        </p:spPr>
        <p:txBody>
          <a:bodyPr wrap="square" lIns="0" tIns="0" rIns="0" bIns="0" anchor="ctr">
            <a:spAutoFit/>
          </a:bodyPr>
          <a:lstStyle/>
          <a:p>
            <a:pPr algn="ctr"/>
            <a:r>
              <a:rPr sz="1000" b="1">
                <a:solidFill>
                  <a:srgbClr val="FFFFFF"/>
                </a:solidFill>
                <a:latin typeface="Calibri"/>
              </a:rPr>
              <a:t>3</a:t>
            </a:r>
          </a:p>
        </p:txBody>
      </p:sp>
      <p:sp>
        <p:nvSpPr>
          <p:cNvPr id="15" name="TextBox 14"/>
          <p:cNvSpPr txBox="1"/>
          <p:nvPr/>
        </p:nvSpPr>
        <p:spPr>
          <a:xfrm>
            <a:off x="1389888" y="4023359"/>
            <a:ext cx="5440680" cy="658368"/>
          </a:xfrm>
          <a:prstGeom prst="rect">
            <a:avLst/>
          </a:prstGeom>
          <a:noFill/>
        </p:spPr>
        <p:txBody>
          <a:bodyPr wrap="square" lIns="0" tIns="0" rIns="0" bIns="0" anchor="t">
            <a:spAutoFit/>
          </a:bodyPr>
          <a:lstStyle/>
          <a:p>
            <a:pPr algn="l"/>
            <a:r>
              <a:rPr sz="1250" b="0">
                <a:solidFill>
                  <a:srgbClr val="0B1739"/>
                </a:solidFill>
                <a:latin typeface="Calibri"/>
              </a:rPr>
              <a:t>The Teams post can remain scenario-neutral while assigning tariff and contract reference ownership.</a:t>
            </a:r>
          </a:p>
        </p:txBody>
      </p:sp>
      <p:sp>
        <p:nvSpPr>
          <p:cNvPr id="19" name="Rounded Rectangle 18"/>
          <p:cNvSpPr/>
          <p:nvPr/>
        </p:nvSpPr>
        <p:spPr>
          <a:xfrm>
            <a:off x="7726679" y="2057400"/>
            <a:ext cx="3794760" cy="4105656"/>
          </a:xfrm>
          <a:prstGeom prst="roundRect">
            <a:avLst/>
          </a:prstGeom>
          <a:solidFill>
            <a:srgbClr val="071642"/>
          </a:solidFill>
          <a:ln>
            <a:solidFill>
              <a:srgbClr val="071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028431" y="2359152"/>
            <a:ext cx="3191256" cy="512064"/>
          </a:xfrm>
          <a:prstGeom prst="roundRect">
            <a:avLst/>
          </a:prstGeom>
          <a:solidFill>
            <a:srgbClr val="B7791F"/>
          </a:solidFill>
          <a:ln>
            <a:solidFill>
              <a:srgbClr val="B7791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01583" y="2468880"/>
            <a:ext cx="3044952" cy="182880"/>
          </a:xfrm>
          <a:prstGeom prst="rect">
            <a:avLst/>
          </a:prstGeom>
          <a:noFill/>
        </p:spPr>
        <p:txBody>
          <a:bodyPr wrap="square" lIns="0" tIns="0" rIns="0" bIns="0" anchor="t">
            <a:spAutoFit/>
          </a:bodyPr>
          <a:lstStyle/>
          <a:p>
            <a:pPr algn="ctr"/>
            <a:r>
              <a:rPr sz="1100" b="1">
                <a:solidFill>
                  <a:srgbClr val="FFFFFF"/>
                </a:solidFill>
                <a:latin typeface="Calibri"/>
              </a:rPr>
              <a:t>WORKS AFTER HANDOFF</a:t>
            </a:r>
          </a:p>
        </p:txBody>
      </p:sp>
      <p:sp>
        <p:nvSpPr>
          <p:cNvPr id="22" name="TextBox 21"/>
          <p:cNvSpPr txBox="1"/>
          <p:nvPr/>
        </p:nvSpPr>
        <p:spPr>
          <a:xfrm>
            <a:off x="8065008" y="3154680"/>
            <a:ext cx="3017520" cy="384048"/>
          </a:xfrm>
          <a:prstGeom prst="rect">
            <a:avLst/>
          </a:prstGeom>
          <a:noFill/>
        </p:spPr>
        <p:txBody>
          <a:bodyPr wrap="square" lIns="0" tIns="0" rIns="0" bIns="0" anchor="t">
            <a:spAutoFit/>
          </a:bodyPr>
          <a:lstStyle/>
          <a:p>
            <a:pPr algn="ctr"/>
            <a:r>
              <a:rPr sz="2500" b="1">
                <a:solidFill>
                  <a:srgbClr val="FFFFFF"/>
                </a:solidFill>
                <a:latin typeface="Georgia"/>
              </a:rPr>
              <a:t>7</a:t>
            </a:r>
          </a:p>
        </p:txBody>
      </p:sp>
      <p:sp>
        <p:nvSpPr>
          <p:cNvPr id="23" name="TextBox 22"/>
          <p:cNvSpPr txBox="1"/>
          <p:nvPr/>
        </p:nvSpPr>
        <p:spPr>
          <a:xfrm>
            <a:off x="8065008" y="353872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playbook sections</a:t>
            </a:r>
          </a:p>
        </p:txBody>
      </p:sp>
      <p:sp>
        <p:nvSpPr>
          <p:cNvPr id="24" name="TextBox 23"/>
          <p:cNvSpPr txBox="1"/>
          <p:nvPr/>
        </p:nvSpPr>
        <p:spPr>
          <a:xfrm>
            <a:off x="8065008" y="3977640"/>
            <a:ext cx="3017520" cy="384048"/>
          </a:xfrm>
          <a:prstGeom prst="rect">
            <a:avLst/>
          </a:prstGeom>
          <a:noFill/>
        </p:spPr>
        <p:txBody>
          <a:bodyPr wrap="square" lIns="0" tIns="0" rIns="0" bIns="0" anchor="t">
            <a:spAutoFit/>
          </a:bodyPr>
          <a:lstStyle/>
          <a:p>
            <a:pPr algn="ctr"/>
            <a:r>
              <a:rPr sz="2500" b="1">
                <a:solidFill>
                  <a:srgbClr val="FFFFFF"/>
                </a:solidFill>
                <a:latin typeface="Georgia"/>
              </a:rPr>
              <a:t>4</a:t>
            </a:r>
          </a:p>
        </p:txBody>
      </p:sp>
      <p:sp>
        <p:nvSpPr>
          <p:cNvPr id="25" name="TextBox 24"/>
          <p:cNvSpPr txBox="1"/>
          <p:nvPr/>
        </p:nvSpPr>
        <p:spPr>
          <a:xfrm>
            <a:off x="8065008" y="436168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approved prompt cards</a:t>
            </a:r>
          </a:p>
        </p:txBody>
      </p:sp>
      <p:sp>
        <p:nvSpPr>
          <p:cNvPr id="26" name="TextBox 25"/>
          <p:cNvSpPr txBox="1"/>
          <p:nvPr/>
        </p:nvSpPr>
        <p:spPr>
          <a:xfrm>
            <a:off x="8065008" y="4800600"/>
            <a:ext cx="3017520" cy="384048"/>
          </a:xfrm>
          <a:prstGeom prst="rect">
            <a:avLst/>
          </a:prstGeom>
          <a:noFill/>
        </p:spPr>
        <p:txBody>
          <a:bodyPr wrap="square" lIns="0" tIns="0" rIns="0" bIns="0" anchor="t">
            <a:spAutoFit/>
          </a:bodyPr>
          <a:lstStyle/>
          <a:p>
            <a:pPr algn="ctr"/>
            <a:r>
              <a:rPr sz="2500" b="1">
                <a:solidFill>
                  <a:srgbClr val="FFFFFF"/>
                </a:solidFill>
                <a:latin typeface="Georgia"/>
              </a:rPr>
              <a:t>1</a:t>
            </a:r>
          </a:p>
        </p:txBody>
      </p:sp>
      <p:sp>
        <p:nvSpPr>
          <p:cNvPr id="27" name="TextBox 26"/>
          <p:cNvSpPr txBox="1"/>
          <p:nvPr/>
        </p:nvSpPr>
        <p:spPr>
          <a:xfrm>
            <a:off x="8065008" y="5184648"/>
            <a:ext cx="3017520" cy="169277"/>
          </a:xfrm>
          <a:prstGeom prst="rect">
            <a:avLst/>
          </a:prstGeom>
          <a:noFill/>
        </p:spPr>
        <p:txBody>
          <a:bodyPr wrap="square" lIns="0" tIns="0" rIns="0" bIns="0" anchor="t">
            <a:spAutoFit/>
          </a:bodyPr>
          <a:lstStyle/>
          <a:p>
            <a:pPr algn="ctr"/>
            <a:r>
              <a:rPr lang="en-US" sz="1100" b="0">
                <a:solidFill>
                  <a:srgbClr val="DDE4FF"/>
                </a:solidFill>
                <a:latin typeface="Calibri"/>
              </a:rPr>
              <a:t>named version owner</a:t>
            </a:r>
          </a:p>
        </p:txBody>
      </p:sp>
      <p:sp>
        <p:nvSpPr>
          <p:cNvPr id="28" name="TextBox 27"/>
          <p:cNvSpPr txBox="1"/>
          <p:nvPr/>
        </p:nvSpPr>
        <p:spPr>
          <a:xfrm>
            <a:off x="502920" y="6565392"/>
            <a:ext cx="6583680" cy="138499"/>
          </a:xfrm>
          <a:prstGeom prst="rect">
            <a:avLst/>
          </a:prstGeom>
          <a:noFill/>
        </p:spPr>
        <p:txBody>
          <a:bodyPr wrap="square" lIns="0" tIns="0" rIns="0" bIns="0" anchor="t">
            <a:spAutoFit/>
          </a:bodyPr>
          <a:lstStyle/>
          <a:p>
            <a:pPr algn="l"/>
            <a:r>
              <a:rPr lang="en-US" sz="900" b="0">
                <a:solidFill>
                  <a:srgbClr val="626A7F"/>
                </a:solidFill>
                <a:latin typeface="Calibri"/>
              </a:rPr>
              <a:t>GSM Supplier Workflows</a:t>
            </a:r>
          </a:p>
        </p:txBody>
      </p:sp>
      <p:sp>
        <p:nvSpPr>
          <p:cNvPr id="29" name="Validation Slide Number"/>
          <p:cNvSpPr txBox="1"/>
          <p:nvPr/>
        </p:nvSpPr>
        <p:spPr>
          <a:xfrm>
            <a:off x="10835640" y="6565392"/>
            <a:ext cx="822960" cy="138499"/>
          </a:xfrm>
          <a:prstGeom prst="rect">
            <a:avLst/>
          </a:prstGeom>
          <a:noFill/>
        </p:spPr>
        <p:txBody>
          <a:bodyPr wrap="square" lIns="0" tIns="0" rIns="0" bIns="0" anchor="t">
            <a:spAutoFit/>
          </a:bodyPr>
          <a:lstStyle/>
          <a:p>
            <a:pPr algn="r"/>
            <a:r>
              <a:rPr lang="en-US" sz="900" b="0">
                <a:solidFill>
                  <a:srgbClr val="626A7F"/>
                </a:solidFill>
                <a:latin typeface="Calibri"/>
              </a:rPr>
              <a:t>25 / 28</a:t>
            </a:r>
          </a:p>
        </p:txBody>
      </p:sp>
      <p:sp>
        <p:nvSpPr>
          <p:cNvPr id="30" name="Rectangle 29"/>
          <p:cNvSpPr/>
          <p:nvPr/>
        </p:nvSpPr>
        <p:spPr>
          <a:xfrm>
            <a:off x="0" y="6784848"/>
            <a:ext cx="12191695" cy="73152"/>
          </a:xfrm>
          <a:prstGeom prst="rect">
            <a:avLst/>
          </a:prstGeom>
          <a:solidFill>
            <a:srgbClr val="BE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06123B"/>
        </a:solidFill>
        <a:effectLst/>
      </p:bgPr>
    </p:bg>
    <p:spTree>
      <p:nvGrpSpPr>
        <p:cNvPr id="1" name=""/>
        <p:cNvGrpSpPr/>
        <p:nvPr/>
      </p:nvGrpSpPr>
      <p:grpSpPr>
        <a:xfrm>
          <a:off x="0" y="0"/>
          <a:ext cx="0" cy="0"/>
          <a:chOff x="0" y="0"/>
          <a:chExt cx="0" cy="0"/>
        </a:xfrm>
      </p:grpSpPr>
      <p:sp>
        <p:nvSpPr>
          <p:cNvPr id="2" name="Text 0"/>
          <p:cNvSpPr/>
          <p:nvPr/>
        </p:nvSpPr>
        <p:spPr>
          <a:xfrm>
            <a:off x="731520" y="640080"/>
            <a:ext cx="9601200" cy="256032"/>
          </a:xfrm>
          <a:prstGeom prst="rect">
            <a:avLst/>
          </a:prstGeom>
          <a:noFill/>
          <a:ln/>
        </p:spPr>
        <p:txBody>
          <a:bodyPr wrap="square" lIns="0" tIns="0" rIns="0" bIns="0" rtlCol="0" anchor="ctr"/>
          <a:lstStyle/>
          <a:p>
            <a:pPr marL="0" indent="0">
              <a:buNone/>
            </a:pPr>
            <a:r>
              <a:rPr lang="en-US" sz="1000" b="1" kern="0" spc="180" dirty="0">
                <a:solidFill>
                  <a:srgbClr val="9EAFFF"/>
                </a:solidFill>
                <a:latin typeface="Aptos" pitchFamily="34" charset="0"/>
                <a:ea typeface="Aptos" pitchFamily="34" charset="-122"/>
                <a:cs typeface="Aptos" pitchFamily="34" charset="-120"/>
              </a:rPr>
              <a:t>THE </a:t>
            </a:r>
            <a:r>
              <a:rPr lang="en-US" sz="1000" b="1" kern="0" spc="180">
                <a:solidFill>
                  <a:srgbClr val="9EAFFF"/>
                </a:solidFill>
                <a:latin typeface="Aptos" pitchFamily="34" charset="0"/>
                <a:ea typeface="Aptos" pitchFamily="34" charset="-122"/>
                <a:cs typeface="Aptos" pitchFamily="34" charset="-120"/>
              </a:rPr>
              <a:t>SOURCE</a:t>
            </a:r>
            <a:r>
              <a:rPr lang="en-US" sz="1000" b="1" kern="0" spc="180" dirty="0">
                <a:solidFill>
                  <a:srgbClr val="9EAFFF"/>
                </a:solidFill>
                <a:latin typeface="Aptos" pitchFamily="34" charset="0"/>
                <a:ea typeface="Aptos" pitchFamily="34" charset="-122"/>
                <a:cs typeface="Aptos" pitchFamily="34" charset="-120"/>
              </a:rPr>
              <a:t> DATA CONTAINS FOUR DELIBERATE TRAPS</a:t>
            </a:r>
            <a:endParaRPr lang="en-US" sz="1000" dirty="0"/>
          </a:p>
        </p:txBody>
      </p:sp>
      <p:sp>
        <p:nvSpPr>
          <p:cNvPr id="3" name="Text 1"/>
          <p:cNvSpPr/>
          <p:nvPr/>
        </p:nvSpPr>
        <p:spPr>
          <a:xfrm>
            <a:off x="731520" y="1143000"/>
            <a:ext cx="1060704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Can Copilot find them—and can the human verify them?</a:t>
            </a:r>
            <a:endParaRPr lang="en-US" sz="3200" dirty="0"/>
          </a:p>
        </p:txBody>
      </p:sp>
      <p:sp>
        <p:nvSpPr>
          <p:cNvPr id="4" name="Shape 2"/>
          <p:cNvSpPr/>
          <p:nvPr/>
        </p:nvSpPr>
        <p:spPr>
          <a:xfrm>
            <a:off x="731520" y="2194560"/>
            <a:ext cx="5230368" cy="1234440"/>
          </a:xfrm>
          <a:prstGeom prst="roundRect">
            <a:avLst>
              <a:gd name="adj" fmla="val 3704"/>
            </a:avLst>
          </a:prstGeom>
          <a:solidFill>
            <a:srgbClr val="111D4E"/>
          </a:solidFill>
          <a:ln w="15240">
            <a:solidFill>
              <a:srgbClr val="B11F4B"/>
            </a:solidFill>
            <a:prstDash val="solid"/>
          </a:ln>
        </p:spPr>
        <p:txBody>
          <a:bodyPr/>
          <a:lstStyle/>
          <a:p>
            <a:endParaRPr lang="en-US"/>
          </a:p>
        </p:txBody>
      </p:sp>
      <p:sp>
        <p:nvSpPr>
          <p:cNvPr id="5" name="Text 3"/>
          <p:cNvSpPr/>
          <p:nvPr/>
        </p:nvSpPr>
        <p:spPr>
          <a:xfrm>
            <a:off x="1005840" y="2395728"/>
            <a:ext cx="2011680" cy="320040"/>
          </a:xfrm>
          <a:prstGeom prst="rect">
            <a:avLst/>
          </a:prstGeom>
          <a:noFill/>
          <a:ln/>
        </p:spPr>
        <p:txBody>
          <a:bodyPr wrap="square" lIns="0" tIns="0" rIns="0" bIns="0" rtlCol="0" anchor="ctr"/>
          <a:lstStyle/>
          <a:p>
            <a:pPr marL="0" indent="0">
              <a:buNone/>
            </a:pPr>
            <a:r>
              <a:rPr lang="en-US" sz="1600" b="1" dirty="0">
                <a:solidFill>
                  <a:srgbClr val="FFB1C1"/>
                </a:solidFill>
                <a:latin typeface="Georgia" pitchFamily="34" charset="0"/>
                <a:ea typeface="Georgia" pitchFamily="34" charset="-122"/>
                <a:cs typeface="Georgia" pitchFamily="34" charset="-120"/>
              </a:rPr>
              <a:t>Expired surcharge</a:t>
            </a:r>
            <a:endParaRPr lang="en-US" sz="1600" dirty="0"/>
          </a:p>
        </p:txBody>
      </p:sp>
      <p:sp>
        <p:nvSpPr>
          <p:cNvPr id="6" name="Text 4"/>
          <p:cNvSpPr/>
          <p:nvPr/>
        </p:nvSpPr>
        <p:spPr>
          <a:xfrm>
            <a:off x="1005840" y="2816352"/>
            <a:ext cx="4663440" cy="384048"/>
          </a:xfrm>
          <a:prstGeom prst="rect">
            <a:avLst/>
          </a:prstGeom>
          <a:noFill/>
          <a:ln/>
        </p:spPr>
        <p:txBody>
          <a:bodyPr wrap="square" lIns="0" tIns="0" rIns="0" bIns="0" rtlCol="0" anchor="ctr">
            <a:normAutofit/>
          </a:bodyPr>
          <a:lstStyle/>
          <a:p>
            <a:pPr marL="0" indent="0">
              <a:buNone/>
            </a:pPr>
            <a:r>
              <a:rPr lang="en-US" sz="1150" dirty="0">
                <a:solidFill>
                  <a:srgbClr val="FFFFFF"/>
                </a:solidFill>
                <a:latin typeface="Aptos" pitchFamily="34" charset="0"/>
                <a:ea typeface="Aptos" pitchFamily="34" charset="-122"/>
                <a:cs typeface="Aptos" pitchFamily="34" charset="-120"/>
              </a:rPr>
              <a:t>A 10% temporary import surcharge ended July 24, 2026.</a:t>
            </a:r>
            <a:endParaRPr lang="en-US" sz="1150" dirty="0"/>
          </a:p>
        </p:txBody>
      </p:sp>
      <p:sp>
        <p:nvSpPr>
          <p:cNvPr id="7" name="Shape 5"/>
          <p:cNvSpPr/>
          <p:nvPr/>
        </p:nvSpPr>
        <p:spPr>
          <a:xfrm>
            <a:off x="6309360" y="2194560"/>
            <a:ext cx="5230368" cy="1234440"/>
          </a:xfrm>
          <a:prstGeom prst="roundRect">
            <a:avLst>
              <a:gd name="adj" fmla="val 3704"/>
            </a:avLst>
          </a:prstGeom>
          <a:solidFill>
            <a:srgbClr val="111D4E"/>
          </a:solidFill>
          <a:ln w="15240">
            <a:solidFill>
              <a:srgbClr val="9EAFFF"/>
            </a:solidFill>
            <a:prstDash val="solid"/>
          </a:ln>
        </p:spPr>
        <p:txBody>
          <a:bodyPr/>
          <a:lstStyle/>
          <a:p>
            <a:endParaRPr lang="en-US"/>
          </a:p>
        </p:txBody>
      </p:sp>
      <p:sp>
        <p:nvSpPr>
          <p:cNvPr id="8" name="Text 6"/>
          <p:cNvSpPr/>
          <p:nvPr/>
        </p:nvSpPr>
        <p:spPr>
          <a:xfrm>
            <a:off x="6583680" y="2395728"/>
            <a:ext cx="2011680" cy="320040"/>
          </a:xfrm>
          <a:prstGeom prst="rect">
            <a:avLst/>
          </a:prstGeom>
          <a:noFill/>
          <a:ln/>
        </p:spPr>
        <p:txBody>
          <a:bodyPr wrap="square" lIns="0" tIns="0" rIns="0" bIns="0" rtlCol="0" anchor="ctr"/>
          <a:lstStyle/>
          <a:p>
            <a:pPr marL="0" indent="0">
              <a:buNone/>
            </a:pPr>
            <a:r>
              <a:rPr lang="en-US" sz="1600" b="1" dirty="0">
                <a:solidFill>
                  <a:srgbClr val="9EAFFF"/>
                </a:solidFill>
                <a:latin typeface="Georgia" pitchFamily="34" charset="0"/>
                <a:ea typeface="Georgia" pitchFamily="34" charset="-122"/>
                <a:cs typeface="Georgia" pitchFamily="34" charset="-120"/>
              </a:rPr>
              <a:t>Wrong value basis</a:t>
            </a:r>
            <a:endParaRPr lang="en-US" sz="1600" dirty="0"/>
          </a:p>
        </p:txBody>
      </p:sp>
      <p:sp>
        <p:nvSpPr>
          <p:cNvPr id="9" name="Text 7"/>
          <p:cNvSpPr/>
          <p:nvPr/>
        </p:nvSpPr>
        <p:spPr>
          <a:xfrm>
            <a:off x="6583680" y="2816352"/>
            <a:ext cx="4663440" cy="384048"/>
          </a:xfrm>
          <a:prstGeom prst="rect">
            <a:avLst/>
          </a:prstGeom>
          <a:noFill/>
          <a:ln/>
        </p:spPr>
        <p:txBody>
          <a:bodyPr wrap="square" lIns="0" tIns="0" rIns="0" bIns="0" rtlCol="0" anchor="ctr">
            <a:normAutofit/>
          </a:bodyPr>
          <a:lstStyle/>
          <a:p>
            <a:pPr marL="0" indent="0">
              <a:buNone/>
            </a:pPr>
            <a:r>
              <a:rPr lang="en-US" sz="1150" dirty="0">
                <a:solidFill>
                  <a:srgbClr val="FFFFFF"/>
                </a:solidFill>
                <a:latin typeface="Aptos" pitchFamily="34" charset="0"/>
                <a:ea typeface="Aptos" pitchFamily="34" charset="-122"/>
                <a:cs typeface="Aptos" pitchFamily="34" charset="-120"/>
              </a:rPr>
              <a:t>An aluminum claim is applied to full invoice value without metal-content evidence.</a:t>
            </a:r>
            <a:endParaRPr lang="en-US" sz="1150" dirty="0"/>
          </a:p>
        </p:txBody>
      </p:sp>
      <p:sp>
        <p:nvSpPr>
          <p:cNvPr id="10" name="Shape 8"/>
          <p:cNvSpPr/>
          <p:nvPr/>
        </p:nvSpPr>
        <p:spPr>
          <a:xfrm>
            <a:off x="731520" y="3794760"/>
            <a:ext cx="5230368" cy="1234440"/>
          </a:xfrm>
          <a:prstGeom prst="roundRect">
            <a:avLst>
              <a:gd name="adj" fmla="val 3704"/>
            </a:avLst>
          </a:prstGeom>
          <a:solidFill>
            <a:srgbClr val="111D4E"/>
          </a:solidFill>
          <a:ln w="15240">
            <a:solidFill>
              <a:srgbClr val="9EAFFF"/>
            </a:solidFill>
            <a:prstDash val="solid"/>
          </a:ln>
        </p:spPr>
        <p:txBody>
          <a:bodyPr/>
          <a:lstStyle/>
          <a:p>
            <a:endParaRPr lang="en-US"/>
          </a:p>
        </p:txBody>
      </p:sp>
      <p:sp>
        <p:nvSpPr>
          <p:cNvPr id="11" name="Text 9"/>
          <p:cNvSpPr/>
          <p:nvPr/>
        </p:nvSpPr>
        <p:spPr>
          <a:xfrm>
            <a:off x="1005840" y="3995928"/>
            <a:ext cx="2011680" cy="320040"/>
          </a:xfrm>
          <a:prstGeom prst="rect">
            <a:avLst/>
          </a:prstGeom>
          <a:noFill/>
          <a:ln/>
        </p:spPr>
        <p:txBody>
          <a:bodyPr wrap="square" lIns="0" tIns="0" rIns="0" bIns="0" rtlCol="0" anchor="ctr"/>
          <a:lstStyle/>
          <a:p>
            <a:pPr marL="0" indent="0">
              <a:buNone/>
            </a:pPr>
            <a:r>
              <a:rPr lang="en-US" sz="1600" b="1" dirty="0">
                <a:solidFill>
                  <a:srgbClr val="9EAFFF"/>
                </a:solidFill>
                <a:latin typeface="Georgia" pitchFamily="34" charset="0"/>
                <a:ea typeface="Georgia" pitchFamily="34" charset="-122"/>
                <a:cs typeface="Georgia" pitchFamily="34" charset="-120"/>
              </a:rPr>
              <a:t>Possible duplication</a:t>
            </a:r>
            <a:endParaRPr lang="en-US" sz="1600" dirty="0"/>
          </a:p>
        </p:txBody>
      </p:sp>
      <p:sp>
        <p:nvSpPr>
          <p:cNvPr id="12" name="Text 10"/>
          <p:cNvSpPr/>
          <p:nvPr/>
        </p:nvSpPr>
        <p:spPr>
          <a:xfrm>
            <a:off x="1005840" y="4416552"/>
            <a:ext cx="4663440" cy="384048"/>
          </a:xfrm>
          <a:prstGeom prst="rect">
            <a:avLst/>
          </a:prstGeom>
          <a:noFill/>
          <a:ln/>
        </p:spPr>
        <p:txBody>
          <a:bodyPr wrap="square" lIns="0" tIns="0" rIns="0" bIns="0" rtlCol="0" anchor="ctr">
            <a:normAutofit/>
          </a:bodyPr>
          <a:lstStyle/>
          <a:p>
            <a:pPr marL="0" indent="0">
              <a:buNone/>
            </a:pPr>
            <a:r>
              <a:rPr lang="en-US" sz="1150" dirty="0">
                <a:solidFill>
                  <a:srgbClr val="FFFFFF"/>
                </a:solidFill>
                <a:latin typeface="Aptos" pitchFamily="34" charset="0"/>
                <a:ea typeface="Aptos" pitchFamily="34" charset="-122"/>
                <a:cs typeface="Aptos" pitchFamily="34" charset="-120"/>
              </a:rPr>
              <a:t>War-risk insurance may already be embedded in the freight quote.</a:t>
            </a:r>
            <a:endParaRPr lang="en-US" sz="1150" dirty="0"/>
          </a:p>
        </p:txBody>
      </p:sp>
      <p:sp>
        <p:nvSpPr>
          <p:cNvPr id="13" name="Shape 11"/>
          <p:cNvSpPr/>
          <p:nvPr/>
        </p:nvSpPr>
        <p:spPr>
          <a:xfrm>
            <a:off x="6309360" y="3794760"/>
            <a:ext cx="5230368" cy="1234440"/>
          </a:xfrm>
          <a:prstGeom prst="roundRect">
            <a:avLst>
              <a:gd name="adj" fmla="val 3704"/>
            </a:avLst>
          </a:prstGeom>
          <a:solidFill>
            <a:srgbClr val="111D4E"/>
          </a:solidFill>
          <a:ln w="15240">
            <a:solidFill>
              <a:srgbClr val="9EAFFF"/>
            </a:solidFill>
            <a:prstDash val="solid"/>
          </a:ln>
        </p:spPr>
        <p:txBody>
          <a:bodyPr/>
          <a:lstStyle/>
          <a:p>
            <a:endParaRPr lang="en-US"/>
          </a:p>
        </p:txBody>
      </p:sp>
      <p:sp>
        <p:nvSpPr>
          <p:cNvPr id="14" name="Text 12"/>
          <p:cNvSpPr/>
          <p:nvPr/>
        </p:nvSpPr>
        <p:spPr>
          <a:xfrm>
            <a:off x="6583680" y="3995928"/>
            <a:ext cx="2011680" cy="320040"/>
          </a:xfrm>
          <a:prstGeom prst="rect">
            <a:avLst/>
          </a:prstGeom>
          <a:noFill/>
          <a:ln/>
        </p:spPr>
        <p:txBody>
          <a:bodyPr wrap="square" lIns="0" tIns="0" rIns="0" bIns="0" rtlCol="0" anchor="ctr"/>
          <a:lstStyle/>
          <a:p>
            <a:pPr marL="0" indent="0">
              <a:buNone/>
            </a:pPr>
            <a:r>
              <a:rPr lang="en-US" sz="1600" b="1" dirty="0">
                <a:solidFill>
                  <a:srgbClr val="9EAFFF"/>
                </a:solidFill>
                <a:latin typeface="Georgia" pitchFamily="34" charset="0"/>
                <a:ea typeface="Georgia" pitchFamily="34" charset="-122"/>
                <a:cs typeface="Georgia" pitchFamily="34" charset="-120"/>
              </a:rPr>
              <a:t>Portfolio allocation</a:t>
            </a:r>
            <a:endParaRPr lang="en-US" sz="1600" dirty="0"/>
          </a:p>
        </p:txBody>
      </p:sp>
      <p:sp>
        <p:nvSpPr>
          <p:cNvPr id="15" name="Text 13"/>
          <p:cNvSpPr/>
          <p:nvPr/>
        </p:nvSpPr>
        <p:spPr>
          <a:xfrm>
            <a:off x="6583680" y="4416552"/>
            <a:ext cx="4663440" cy="384048"/>
          </a:xfrm>
          <a:prstGeom prst="rect">
            <a:avLst/>
          </a:prstGeom>
          <a:noFill/>
          <a:ln/>
        </p:spPr>
        <p:txBody>
          <a:bodyPr wrap="square" lIns="0" tIns="0" rIns="0" bIns="0" rtlCol="0" anchor="ctr">
            <a:normAutofit/>
          </a:bodyPr>
          <a:lstStyle/>
          <a:p>
            <a:pPr marL="0" indent="0">
              <a:buNone/>
            </a:pPr>
            <a:r>
              <a:rPr lang="en-US" sz="1150" dirty="0">
                <a:solidFill>
                  <a:srgbClr val="FFFFFF"/>
                </a:solidFill>
                <a:latin typeface="Aptos" pitchFamily="34" charset="0"/>
                <a:ea typeface="Aptos" pitchFamily="34" charset="-122"/>
                <a:cs typeface="Aptos" pitchFamily="34" charset="-120"/>
              </a:rPr>
              <a:t>A 9% charge lacks itemized duty and direct attribution.</a:t>
            </a:r>
            <a:endParaRPr lang="en-US" sz="1150" dirty="0"/>
          </a:p>
        </p:txBody>
      </p:sp>
      <p:sp>
        <p:nvSpPr>
          <p:cNvPr id="16" name="Text 14"/>
          <p:cNvSpPr/>
          <p:nvPr/>
        </p:nvSpPr>
        <p:spPr>
          <a:xfrm>
            <a:off x="777240" y="5669280"/>
            <a:ext cx="10515600" cy="411480"/>
          </a:xfrm>
          <a:prstGeom prst="rect">
            <a:avLst/>
          </a:prstGeom>
          <a:noFill/>
          <a:ln/>
        </p:spPr>
        <p:txBody>
          <a:bodyPr wrap="square" lIns="0" tIns="0" rIns="0" bIns="0" rtlCol="0" anchor="ctr"/>
          <a:lstStyle/>
          <a:p>
            <a:pPr marL="0" indent="0" algn="ctr">
              <a:buNone/>
            </a:pPr>
            <a:r>
              <a:rPr lang="en-US" sz="2200" i="1" dirty="0">
                <a:solidFill>
                  <a:srgbClr val="B6955B"/>
                </a:solidFill>
                <a:latin typeface="Georgia" pitchFamily="34" charset="0"/>
                <a:ea typeface="Georgia" pitchFamily="34" charset="-122"/>
                <a:cs typeface="Georgia" pitchFamily="34" charset="-120"/>
              </a:rPr>
              <a:t>A confident answer is not the same as a verified answer.</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58368" y="347472"/>
            <a:ext cx="7040880" cy="219456"/>
          </a:xfrm>
          <a:prstGeom prst="rect">
            <a:avLst/>
          </a:prstGeom>
          <a:noFill/>
          <a:ln/>
        </p:spPr>
        <p:txBody>
          <a:bodyPr wrap="square" lIns="0" tIns="0" rIns="0" bIns="0" rtlCol="0" anchor="ctr"/>
          <a:lstStyle/>
          <a:p>
            <a:pPr marL="0" indent="0">
              <a:buNone/>
            </a:pPr>
            <a:r>
              <a:rPr lang="en-US" sz="950" b="1" kern="0" spc="160" dirty="0">
                <a:solidFill>
                  <a:srgbClr val="2E3A72"/>
                </a:solidFill>
                <a:latin typeface="Aptos" pitchFamily="34" charset="0"/>
                <a:ea typeface="Aptos" pitchFamily="34" charset="-122"/>
                <a:cs typeface="Aptos" pitchFamily="34" charset="-120"/>
              </a:rPr>
              <a:t>GUARDRAILS</a:t>
            </a:r>
            <a:endParaRPr lang="en-US" sz="950" dirty="0"/>
          </a:p>
        </p:txBody>
      </p:sp>
      <p:sp>
        <p:nvSpPr>
          <p:cNvPr id="3" name="Text 1"/>
          <p:cNvSpPr/>
          <p:nvPr/>
        </p:nvSpPr>
        <p:spPr>
          <a:xfrm>
            <a:off x="658368" y="713232"/>
            <a:ext cx="10881360" cy="566928"/>
          </a:xfrm>
          <a:prstGeom prst="rect">
            <a:avLst/>
          </a:prstGeom>
          <a:noFill/>
          <a:ln/>
        </p:spPr>
        <p:txBody>
          <a:bodyPr wrap="square" lIns="0" tIns="0" rIns="0" bIns="0" rtlCol="0" anchor="ctr">
            <a:normAutofit/>
          </a:bodyPr>
          <a:lstStyle/>
          <a:p>
            <a:pPr marL="0" indent="0">
              <a:buNone/>
            </a:pPr>
            <a:r>
              <a:rPr lang="en-US" sz="3000" b="1" dirty="0">
                <a:solidFill>
                  <a:srgbClr val="06123B"/>
                </a:solidFill>
                <a:latin typeface="Georgia" pitchFamily="34" charset="0"/>
                <a:ea typeface="Georgia" pitchFamily="34" charset="-122"/>
                <a:cs typeface="Georgia" pitchFamily="34" charset="-120"/>
              </a:rPr>
              <a:t>What Copilot accelerates—and what people own</a:t>
            </a:r>
            <a:endParaRPr lang="en-US" sz="3000" dirty="0"/>
          </a:p>
        </p:txBody>
      </p:sp>
      <p:sp>
        <p:nvSpPr>
          <p:cNvPr id="4" name="Text 2"/>
          <p:cNvSpPr/>
          <p:nvPr/>
        </p:nvSpPr>
        <p:spPr>
          <a:xfrm>
            <a:off x="658368" y="1325880"/>
            <a:ext cx="10698480" cy="411480"/>
          </a:xfrm>
          <a:prstGeom prst="rect">
            <a:avLst/>
          </a:prstGeom>
          <a:noFill/>
          <a:ln/>
        </p:spPr>
        <p:txBody>
          <a:bodyPr wrap="square" lIns="0" tIns="0" rIns="0" bIns="0" rtlCol="0" anchor="ctr">
            <a:normAutofit/>
          </a:bodyPr>
          <a:lstStyle/>
          <a:p>
            <a:pPr marL="0" indent="0">
              <a:buNone/>
            </a:pPr>
            <a:r>
              <a:rPr lang="en-US" sz="1300" dirty="0">
                <a:solidFill>
                  <a:srgbClr val="606277"/>
                </a:solidFill>
                <a:latin typeface="Aptos" pitchFamily="34" charset="0"/>
                <a:ea typeface="Aptos" pitchFamily="34" charset="-122"/>
                <a:cs typeface="Aptos" pitchFamily="34" charset="-120"/>
              </a:rPr>
              <a:t>Apply </a:t>
            </a:r>
            <a:r>
              <a:rPr lang="en-US" sz="1300">
                <a:solidFill>
                  <a:srgbClr val="606277"/>
                </a:solidFill>
                <a:latin typeface="Aptos" pitchFamily="34" charset="0"/>
                <a:ea typeface="Aptos" pitchFamily="34" charset="-122"/>
                <a:cs typeface="Aptos" pitchFamily="34" charset="-120"/>
              </a:rPr>
              <a:t>enterprise</a:t>
            </a:r>
            <a:r>
              <a:rPr lang="en-US" sz="1300" dirty="0">
                <a:solidFill>
                  <a:srgbClr val="606277"/>
                </a:solidFill>
                <a:latin typeface="Aptos" pitchFamily="34" charset="0"/>
                <a:ea typeface="Aptos" pitchFamily="34" charset="-122"/>
                <a:cs typeface="Aptos" pitchFamily="34" charset="-120"/>
              </a:rPr>
              <a:t> information-protection, legal, customs, and procurement controls to real work.</a:t>
            </a:r>
            <a:endParaRPr lang="en-US" sz="1300" dirty="0"/>
          </a:p>
        </p:txBody>
      </p:sp>
      <p:sp>
        <p:nvSpPr>
          <p:cNvPr id="5" name="Shape 3"/>
          <p:cNvSpPr/>
          <p:nvPr/>
        </p:nvSpPr>
        <p:spPr>
          <a:xfrm>
            <a:off x="731520" y="1828800"/>
            <a:ext cx="5230368" cy="3977640"/>
          </a:xfrm>
          <a:prstGeom prst="roundRect">
            <a:avLst>
              <a:gd name="adj" fmla="val 1149"/>
            </a:avLst>
          </a:prstGeom>
          <a:solidFill>
            <a:srgbClr val="FFFFFF"/>
          </a:solidFill>
          <a:ln w="16510">
            <a:solidFill>
              <a:srgbClr val="2E3A72"/>
            </a:solidFill>
            <a:prstDash val="solid"/>
          </a:ln>
        </p:spPr>
        <p:txBody>
          <a:bodyPr/>
          <a:lstStyle/>
          <a:p>
            <a:endParaRPr lang="en-US"/>
          </a:p>
        </p:txBody>
      </p:sp>
      <p:sp>
        <p:nvSpPr>
          <p:cNvPr id="6" name="Text 4"/>
          <p:cNvSpPr/>
          <p:nvPr/>
        </p:nvSpPr>
        <p:spPr>
          <a:xfrm>
            <a:off x="1051560" y="2148840"/>
            <a:ext cx="4480560" cy="411480"/>
          </a:xfrm>
          <a:prstGeom prst="rect">
            <a:avLst/>
          </a:prstGeom>
          <a:noFill/>
          <a:ln/>
        </p:spPr>
        <p:txBody>
          <a:bodyPr wrap="square" lIns="0" tIns="0" rIns="0" bIns="0" rtlCol="0" anchor="ctr"/>
          <a:lstStyle/>
          <a:p>
            <a:pPr marL="0" indent="0">
              <a:buNone/>
            </a:pPr>
            <a:r>
              <a:rPr lang="en-US" sz="2000" b="1" dirty="0">
                <a:solidFill>
                  <a:srgbClr val="2E3A72"/>
                </a:solidFill>
                <a:latin typeface="Georgia" pitchFamily="34" charset="0"/>
                <a:ea typeface="Georgia" pitchFamily="34" charset="-122"/>
                <a:cs typeface="Georgia" pitchFamily="34" charset="-120"/>
              </a:rPr>
              <a:t>Copilot accelerates</a:t>
            </a:r>
            <a:endParaRPr lang="en-US" sz="2000" dirty="0"/>
          </a:p>
        </p:txBody>
      </p:sp>
      <p:sp>
        <p:nvSpPr>
          <p:cNvPr id="7" name="Text 5"/>
          <p:cNvSpPr/>
          <p:nvPr/>
        </p:nvSpPr>
        <p:spPr>
          <a:xfrm>
            <a:off x="1097280" y="2788920"/>
            <a:ext cx="4480560" cy="2560320"/>
          </a:xfrm>
          <a:prstGeom prst="rect">
            <a:avLst/>
          </a:prstGeom>
          <a:noFill/>
          <a:ln/>
        </p:spPr>
        <p:txBody>
          <a:bodyPr wrap="square" lIns="635" tIns="635" rIns="635" bIns="635" rtlCol="0" anchor="ctr"/>
          <a:lstStyle/>
          <a:p>
            <a:r>
              <a:rPr lang="en-US" sz="1400" dirty="0">
                <a:solidFill>
                  <a:srgbClr val="17182B"/>
                </a:solidFill>
                <a:latin typeface="Aptos" pitchFamily="34" charset="0"/>
                <a:ea typeface="Aptos" pitchFamily="34" charset="-122"/>
                <a:cs typeface="Aptos" pitchFamily="34" charset="-120"/>
              </a:rPr>
              <a:t>Source compression</a:t>
            </a:r>
            <a:endParaRPr lang="en-US" sz="1400" dirty="0"/>
          </a:p>
          <a:p>
            <a:r>
              <a:rPr lang="en-US" sz="1400" dirty="0">
                <a:solidFill>
                  <a:srgbClr val="17182B"/>
                </a:solidFill>
                <a:latin typeface="Aptos" pitchFamily="34" charset="0"/>
                <a:ea typeface="Aptos" pitchFamily="34" charset="-122"/>
                <a:cs typeface="Aptos" pitchFamily="34" charset="-120"/>
              </a:rPr>
              <a:t>Claim and evidence tables</a:t>
            </a:r>
            <a:endParaRPr lang="en-US" sz="1400" dirty="0"/>
          </a:p>
          <a:p>
            <a:r>
              <a:rPr lang="en-US" sz="1400" dirty="0">
                <a:solidFill>
                  <a:srgbClr val="17182B"/>
                </a:solidFill>
                <a:latin typeface="Aptos" pitchFamily="34" charset="0"/>
                <a:ea typeface="Aptos" pitchFamily="34" charset="-122"/>
                <a:cs typeface="Aptos" pitchFamily="34" charset="-120"/>
              </a:rPr>
              <a:t>Option generation</a:t>
            </a:r>
            <a:endParaRPr lang="en-US" sz="1400" dirty="0"/>
          </a:p>
          <a:p>
            <a:r>
              <a:rPr lang="en-US" sz="1400" dirty="0">
                <a:solidFill>
                  <a:srgbClr val="17182B"/>
                </a:solidFill>
                <a:latin typeface="Aptos" pitchFamily="34" charset="0"/>
                <a:ea typeface="Aptos" pitchFamily="34" charset="-122"/>
                <a:cs typeface="Aptos" pitchFamily="34" charset="-120"/>
              </a:rPr>
              <a:t>Risk trigger drafting</a:t>
            </a:r>
            <a:endParaRPr lang="en-US" sz="1400" dirty="0"/>
          </a:p>
          <a:p>
            <a:r>
              <a:rPr lang="en-US" sz="1400" dirty="0">
                <a:solidFill>
                  <a:srgbClr val="17182B"/>
                </a:solidFill>
                <a:latin typeface="Aptos" pitchFamily="34" charset="0"/>
                <a:ea typeface="Aptos" pitchFamily="34" charset="-122"/>
                <a:cs typeface="Aptos" pitchFamily="34" charset="-120"/>
              </a:rPr>
              <a:t>Leadership narrative</a:t>
            </a:r>
            <a:endParaRPr lang="en-US" sz="1400" dirty="0"/>
          </a:p>
          <a:p>
            <a:r>
              <a:rPr lang="en-US" sz="1400" dirty="0">
                <a:solidFill>
                  <a:srgbClr val="17182B"/>
                </a:solidFill>
                <a:latin typeface="Aptos" pitchFamily="34" charset="0"/>
                <a:ea typeface="Aptos" pitchFamily="34" charset="-122"/>
                <a:cs typeface="Aptos" pitchFamily="34" charset="-120"/>
              </a:rPr>
              <a:t>Reusable templates</a:t>
            </a:r>
            <a:endParaRPr lang="en-US" sz="1400" dirty="0"/>
          </a:p>
        </p:txBody>
      </p:sp>
      <p:sp>
        <p:nvSpPr>
          <p:cNvPr id="8" name="Shape 6"/>
          <p:cNvSpPr/>
          <p:nvPr/>
        </p:nvSpPr>
        <p:spPr>
          <a:xfrm>
            <a:off x="6309360" y="1828800"/>
            <a:ext cx="5230368" cy="3977640"/>
          </a:xfrm>
          <a:prstGeom prst="roundRect">
            <a:avLst>
              <a:gd name="adj" fmla="val 1149"/>
            </a:avLst>
          </a:prstGeom>
          <a:solidFill>
            <a:srgbClr val="FFFFFF"/>
          </a:solidFill>
          <a:ln w="16510">
            <a:solidFill>
              <a:srgbClr val="B11F4B"/>
            </a:solidFill>
            <a:prstDash val="solid"/>
          </a:ln>
        </p:spPr>
        <p:txBody>
          <a:bodyPr/>
          <a:lstStyle/>
          <a:p>
            <a:endParaRPr lang="en-US"/>
          </a:p>
        </p:txBody>
      </p:sp>
      <p:sp>
        <p:nvSpPr>
          <p:cNvPr id="9" name="Text 7"/>
          <p:cNvSpPr/>
          <p:nvPr/>
        </p:nvSpPr>
        <p:spPr>
          <a:xfrm>
            <a:off x="6629400" y="2148840"/>
            <a:ext cx="4480560" cy="411480"/>
          </a:xfrm>
          <a:prstGeom prst="rect">
            <a:avLst/>
          </a:prstGeom>
          <a:noFill/>
          <a:ln/>
        </p:spPr>
        <p:txBody>
          <a:bodyPr wrap="square" lIns="0" tIns="0" rIns="0" bIns="0" rtlCol="0" anchor="ctr"/>
          <a:lstStyle/>
          <a:p>
            <a:pPr marL="0" indent="0">
              <a:buNone/>
            </a:pPr>
            <a:r>
              <a:rPr lang="en-US" sz="2000" b="1" dirty="0">
                <a:solidFill>
                  <a:srgbClr val="B11F4B"/>
                </a:solidFill>
                <a:latin typeface="Georgia" pitchFamily="34" charset="0"/>
                <a:ea typeface="Georgia" pitchFamily="34" charset="-122"/>
                <a:cs typeface="Georgia" pitchFamily="34" charset="-120"/>
              </a:rPr>
              <a:t>People remain accountable</a:t>
            </a:r>
            <a:endParaRPr lang="en-US" sz="2000" dirty="0"/>
          </a:p>
        </p:txBody>
      </p:sp>
      <p:sp>
        <p:nvSpPr>
          <p:cNvPr id="10" name="Text 8"/>
          <p:cNvSpPr/>
          <p:nvPr/>
        </p:nvSpPr>
        <p:spPr>
          <a:xfrm>
            <a:off x="6675120" y="2788920"/>
            <a:ext cx="4480560" cy="2560320"/>
          </a:xfrm>
          <a:prstGeom prst="rect">
            <a:avLst/>
          </a:prstGeom>
          <a:noFill/>
          <a:ln/>
        </p:spPr>
        <p:txBody>
          <a:bodyPr wrap="square" lIns="635" tIns="635" rIns="635" bIns="635" rtlCol="0" anchor="ctr"/>
          <a:lstStyle/>
          <a:p>
            <a:r>
              <a:rPr lang="en-US" sz="1400" dirty="0">
                <a:solidFill>
                  <a:srgbClr val="17182B"/>
                </a:solidFill>
                <a:latin typeface="Aptos" pitchFamily="34" charset="0"/>
                <a:ea typeface="Aptos" pitchFamily="34" charset="-122"/>
                <a:cs typeface="Aptos" pitchFamily="34" charset="-120"/>
              </a:rPr>
              <a:t>Data classification</a:t>
            </a:r>
            <a:endParaRPr lang="en-US" sz="1400" dirty="0"/>
          </a:p>
          <a:p>
            <a:r>
              <a:rPr lang="en-US" sz="1400" dirty="0">
                <a:solidFill>
                  <a:srgbClr val="17182B"/>
                </a:solidFill>
                <a:latin typeface="Aptos" pitchFamily="34" charset="0"/>
                <a:ea typeface="Aptos" pitchFamily="34" charset="-122"/>
                <a:cs typeface="Aptos" pitchFamily="34" charset="-120"/>
              </a:rPr>
              <a:t>HTS and origin decisions</a:t>
            </a:r>
            <a:endParaRPr lang="en-US" sz="1400" dirty="0"/>
          </a:p>
          <a:p>
            <a:r>
              <a:rPr lang="en-US" sz="1400" dirty="0">
                <a:solidFill>
                  <a:srgbClr val="17182B"/>
                </a:solidFill>
                <a:latin typeface="Aptos" pitchFamily="34" charset="0"/>
                <a:ea typeface="Aptos" pitchFamily="34" charset="-122"/>
                <a:cs typeface="Aptos" pitchFamily="34" charset="-120"/>
              </a:rPr>
              <a:t>Contract interpretation</a:t>
            </a:r>
            <a:endParaRPr lang="en-US" sz="1400" dirty="0"/>
          </a:p>
          <a:p>
            <a:r>
              <a:rPr lang="en-US" sz="1400" dirty="0">
                <a:solidFill>
                  <a:srgbClr val="17182B"/>
                </a:solidFill>
                <a:latin typeface="Aptos" pitchFamily="34" charset="0"/>
                <a:ea typeface="Aptos" pitchFamily="34" charset="-122"/>
                <a:cs typeface="Aptos" pitchFamily="34" charset="-120"/>
              </a:rPr>
              <a:t>Negotiation authority</a:t>
            </a:r>
            <a:endParaRPr lang="en-US" sz="1400" dirty="0"/>
          </a:p>
          <a:p>
            <a:r>
              <a:rPr lang="en-US" sz="1400" dirty="0">
                <a:solidFill>
                  <a:srgbClr val="17182B"/>
                </a:solidFill>
                <a:latin typeface="Aptos" pitchFamily="34" charset="0"/>
                <a:ea typeface="Aptos" pitchFamily="34" charset="-122"/>
                <a:cs typeface="Aptos" pitchFamily="34" charset="-120"/>
              </a:rPr>
              <a:t>Supplier commitments</a:t>
            </a:r>
            <a:endParaRPr lang="en-US" sz="1400" dirty="0"/>
          </a:p>
          <a:p>
            <a:r>
              <a:rPr lang="en-US" sz="1400" dirty="0">
                <a:solidFill>
                  <a:srgbClr val="17182B"/>
                </a:solidFill>
                <a:latin typeface="Aptos" pitchFamily="34" charset="0"/>
                <a:ea typeface="Aptos" pitchFamily="34" charset="-122"/>
                <a:cs typeface="Aptos" pitchFamily="34" charset="-120"/>
              </a:rPr>
              <a:t>Final business decision</a:t>
            </a:r>
            <a:endParaRPr lang="en-US" sz="1400" dirty="0"/>
          </a:p>
        </p:txBody>
      </p:sp>
      <p:sp>
        <p:nvSpPr>
          <p:cNvPr id="12" name="Shape 9"/>
          <p:cNvSpPr/>
          <p:nvPr/>
        </p:nvSpPr>
        <p:spPr>
          <a:xfrm>
            <a:off x="0" y="6784848"/>
            <a:ext cx="12191695" cy="73152"/>
          </a:xfrm>
          <a:prstGeom prst="rect">
            <a:avLst/>
          </a:prstGeom>
          <a:solidFill>
            <a:srgbClr val="B11F4B"/>
          </a:solidFill>
          <a:ln w="12700">
            <a:solidFill>
              <a:srgbClr val="B11F4B"/>
            </a:solidFill>
            <a:prstDash val="solid"/>
          </a:ln>
        </p:spPr>
        <p:txBody>
          <a:bodyPr/>
          <a:lstStyle/>
          <a:p>
            <a:endParaRPr lang="en-US"/>
          </a:p>
        </p:txBody>
      </p:sp>
      <p:sp>
        <p:nvSpPr>
          <p:cNvPr id="13" name="Text 10"/>
          <p:cNvSpPr/>
          <p:nvPr/>
        </p:nvSpPr>
        <p:spPr>
          <a:xfrm>
            <a:off x="502920" y="6510528"/>
            <a:ext cx="7863840" cy="201168"/>
          </a:xfrm>
          <a:prstGeom prst="rect">
            <a:avLst/>
          </a:prstGeom>
          <a:noFill/>
          <a:ln/>
        </p:spPr>
        <p:txBody>
          <a:bodyPr wrap="square" lIns="0" tIns="0" rIns="0" bIns="0" rtlCol="0" anchor="ctr"/>
          <a:lstStyle/>
          <a:p>
            <a:pPr marL="0" indent="0">
              <a:buNone/>
            </a:pPr>
            <a:r>
              <a:rPr lang="en-US" sz="850" dirty="0">
                <a:solidFill>
                  <a:srgbClr val="606277"/>
                </a:solidFill>
                <a:latin typeface="Aptos" pitchFamily="34" charset="0"/>
                <a:ea typeface="Aptos" pitchFamily="34" charset="-122"/>
                <a:cs typeface="Aptos" pitchFamily="34" charset="-120"/>
              </a:rPr>
              <a:t>GSM Supplier Workflows</a:t>
            </a:r>
            <a:endParaRPr lang="en-US" sz="850" dirty="0"/>
          </a:p>
        </p:txBody>
      </p:sp>
      <p:sp>
        <p:nvSpPr>
          <p:cNvPr id="14" name="Text 11"/>
          <p:cNvSpPr/>
          <p:nvPr/>
        </p:nvSpPr>
        <p:spPr>
          <a:xfrm>
            <a:off x="10881360" y="6510528"/>
            <a:ext cx="777240" cy="201168"/>
          </a:xfrm>
          <a:prstGeom prst="rect">
            <a:avLst/>
          </a:prstGeom>
          <a:noFill/>
          <a:ln/>
        </p:spPr>
        <p:txBody>
          <a:bodyPr wrap="square" lIns="0" tIns="0" rIns="0" bIns="0" rtlCol="0" anchor="ctr"/>
          <a:lstStyle/>
          <a:p>
            <a:pPr marL="0" indent="0" algn="r">
              <a:buNone/>
            </a:pPr>
            <a:r>
              <a:rPr lang="en-US" sz="850" dirty="0">
                <a:solidFill>
                  <a:srgbClr val="606277"/>
                </a:solidFill>
                <a:latin typeface="Aptos" pitchFamily="34" charset="0"/>
                <a:ea typeface="Aptos" pitchFamily="34" charset="-122"/>
                <a:cs typeface="Aptos" pitchFamily="34" charset="-120"/>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1">
    <p:bg>
      <p:bgPr>
        <a:solidFill>
          <a:srgbClr val="06123B"/>
        </a:solidFill>
        <a:effectLst/>
      </p:bgPr>
    </p:bg>
    <p:spTree>
      <p:nvGrpSpPr>
        <p:cNvPr id="1" name=""/>
        <p:cNvGrpSpPr/>
        <p:nvPr/>
      </p:nvGrpSpPr>
      <p:grpSpPr>
        <a:xfrm>
          <a:off x="0" y="0"/>
          <a:ext cx="0" cy="0"/>
          <a:chOff x="0" y="0"/>
          <a:chExt cx="0" cy="0"/>
        </a:xfrm>
      </p:grpSpPr>
      <p:sp>
        <p:nvSpPr>
          <p:cNvPr id="2" name="Text 0"/>
          <p:cNvSpPr/>
          <p:nvPr/>
        </p:nvSpPr>
        <p:spPr>
          <a:xfrm>
            <a:off x="822960" y="777240"/>
            <a:ext cx="7772400" cy="274320"/>
          </a:xfrm>
          <a:prstGeom prst="rect">
            <a:avLst/>
          </a:prstGeom>
          <a:noFill/>
          <a:ln/>
        </p:spPr>
        <p:txBody>
          <a:bodyPr wrap="square" lIns="0" tIns="0" rIns="0" bIns="0" rtlCol="0" anchor="ctr"/>
          <a:lstStyle/>
          <a:p>
            <a:pPr marL="0" indent="0">
              <a:buNone/>
            </a:pPr>
            <a:r>
              <a:rPr lang="en-US" sz="1000" b="1" kern="0" spc="200" dirty="0">
                <a:solidFill>
                  <a:srgbClr val="9EAFFF"/>
                </a:solidFill>
                <a:latin typeface="Aptos" pitchFamily="34" charset="0"/>
                <a:ea typeface="Aptos" pitchFamily="34" charset="-122"/>
                <a:cs typeface="Aptos" pitchFamily="34" charset="-120"/>
              </a:rPr>
              <a:t>THE CATEGORY MANAGER'S NEW DEFAULT</a:t>
            </a:r>
            <a:endParaRPr lang="en-US" sz="1000" dirty="0"/>
          </a:p>
        </p:txBody>
      </p:sp>
      <p:sp>
        <p:nvSpPr>
          <p:cNvPr id="3" name="Text 1"/>
          <p:cNvSpPr/>
          <p:nvPr/>
        </p:nvSpPr>
        <p:spPr>
          <a:xfrm>
            <a:off x="822960" y="1417320"/>
            <a:ext cx="9875520" cy="68580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Don't negotiate the headline.</a:t>
            </a:r>
            <a:endParaRPr lang="en-US" sz="4200" dirty="0"/>
          </a:p>
        </p:txBody>
      </p:sp>
      <p:sp>
        <p:nvSpPr>
          <p:cNvPr id="4" name="Text 2"/>
          <p:cNvSpPr/>
          <p:nvPr/>
        </p:nvSpPr>
        <p:spPr>
          <a:xfrm>
            <a:off x="822960" y="2331720"/>
            <a:ext cx="9966960" cy="1097280"/>
          </a:xfrm>
          <a:prstGeom prst="rect">
            <a:avLst/>
          </a:prstGeom>
          <a:noFill/>
          <a:ln/>
        </p:spPr>
        <p:txBody>
          <a:bodyPr wrap="square" lIns="0" tIns="0" rIns="0" bIns="0" rtlCol="0" anchor="ctr">
            <a:normAutofit/>
          </a:bodyPr>
          <a:lstStyle/>
          <a:p>
            <a:pPr marL="0" indent="0">
              <a:buNone/>
            </a:pPr>
            <a:r>
              <a:rPr lang="en-US" sz="2800" i="1" dirty="0">
                <a:solidFill>
                  <a:srgbClr val="DDE2FF"/>
                </a:solidFill>
                <a:latin typeface="Georgia" pitchFamily="34" charset="0"/>
                <a:ea typeface="Georgia" pitchFamily="34" charset="-122"/>
                <a:cs typeface="Georgia" pitchFamily="34" charset="-120"/>
              </a:rPr>
              <a:t>Verify the claim. Challenge the evidence. Trade for protection. Trigger action.</a:t>
            </a:r>
            <a:endParaRPr lang="en-US" sz="2800" dirty="0"/>
          </a:p>
        </p:txBody>
      </p:sp>
      <p:sp>
        <p:nvSpPr>
          <p:cNvPr id="5" name="Shape 3"/>
          <p:cNvSpPr/>
          <p:nvPr/>
        </p:nvSpPr>
        <p:spPr>
          <a:xfrm>
            <a:off x="868680" y="4069080"/>
            <a:ext cx="2331720" cy="777240"/>
          </a:xfrm>
          <a:prstGeom prst="roundRect">
            <a:avLst>
              <a:gd name="adj" fmla="val 5882"/>
            </a:avLst>
          </a:prstGeom>
          <a:solidFill>
            <a:srgbClr val="2E3A72"/>
          </a:solidFill>
          <a:ln w="12700">
            <a:solidFill>
              <a:srgbClr val="2E3A72"/>
            </a:solidFill>
            <a:prstDash val="solid"/>
          </a:ln>
        </p:spPr>
        <p:txBody>
          <a:bodyPr/>
          <a:lstStyle/>
          <a:p>
            <a:endParaRPr lang="en-US"/>
          </a:p>
        </p:txBody>
      </p:sp>
      <p:sp>
        <p:nvSpPr>
          <p:cNvPr id="6" name="Text 4"/>
          <p:cNvSpPr/>
          <p:nvPr/>
        </p:nvSpPr>
        <p:spPr>
          <a:xfrm>
            <a:off x="868680" y="4297680"/>
            <a:ext cx="2331720" cy="237744"/>
          </a:xfrm>
          <a:prstGeom prst="rect">
            <a:avLst/>
          </a:prstGeom>
          <a:noFill/>
          <a:ln/>
        </p:spPr>
        <p:txBody>
          <a:bodyPr wrap="square" lIns="0" tIns="0" rIns="0" bIns="0" rtlCol="0" anchor="ctr"/>
          <a:lstStyle/>
          <a:p>
            <a:pPr marL="0" indent="0" algn="ctr">
              <a:buNone/>
            </a:pPr>
            <a:r>
              <a:rPr lang="en-US" sz="1200" b="1" kern="0" spc="140" dirty="0">
                <a:solidFill>
                  <a:srgbClr val="FFFFFF"/>
                </a:solidFill>
                <a:latin typeface="Aptos" pitchFamily="34" charset="0"/>
                <a:ea typeface="Aptos" pitchFamily="34" charset="-122"/>
                <a:cs typeface="Aptos" pitchFamily="34" charset="-120"/>
              </a:rPr>
              <a:t>VERIFY</a:t>
            </a:r>
            <a:endParaRPr lang="en-US" sz="1200" dirty="0"/>
          </a:p>
        </p:txBody>
      </p:sp>
      <p:sp>
        <p:nvSpPr>
          <p:cNvPr id="7" name="Shape 5"/>
          <p:cNvSpPr/>
          <p:nvPr/>
        </p:nvSpPr>
        <p:spPr>
          <a:xfrm>
            <a:off x="3611880" y="4069080"/>
            <a:ext cx="2331720" cy="777240"/>
          </a:xfrm>
          <a:prstGeom prst="roundRect">
            <a:avLst>
              <a:gd name="adj" fmla="val 5882"/>
            </a:avLst>
          </a:prstGeom>
          <a:solidFill>
            <a:srgbClr val="B6955B"/>
          </a:solidFill>
          <a:ln w="12700">
            <a:solidFill>
              <a:srgbClr val="B6955B"/>
            </a:solidFill>
            <a:prstDash val="solid"/>
          </a:ln>
        </p:spPr>
        <p:txBody>
          <a:bodyPr/>
          <a:lstStyle/>
          <a:p>
            <a:endParaRPr lang="en-US"/>
          </a:p>
        </p:txBody>
      </p:sp>
      <p:sp>
        <p:nvSpPr>
          <p:cNvPr id="8" name="Text 6"/>
          <p:cNvSpPr/>
          <p:nvPr/>
        </p:nvSpPr>
        <p:spPr>
          <a:xfrm>
            <a:off x="3611880" y="4297680"/>
            <a:ext cx="2331720" cy="237744"/>
          </a:xfrm>
          <a:prstGeom prst="rect">
            <a:avLst/>
          </a:prstGeom>
          <a:noFill/>
          <a:ln/>
        </p:spPr>
        <p:txBody>
          <a:bodyPr wrap="square" lIns="0" tIns="0" rIns="0" bIns="0" rtlCol="0" anchor="ctr"/>
          <a:lstStyle/>
          <a:p>
            <a:pPr marL="0" indent="0" algn="ctr">
              <a:buNone/>
            </a:pPr>
            <a:r>
              <a:rPr lang="en-US" sz="1200" b="1" kern="0" spc="140" dirty="0">
                <a:solidFill>
                  <a:srgbClr val="FFFFFF"/>
                </a:solidFill>
                <a:latin typeface="Aptos" pitchFamily="34" charset="0"/>
                <a:ea typeface="Aptos" pitchFamily="34" charset="-122"/>
                <a:cs typeface="Aptos" pitchFamily="34" charset="-120"/>
              </a:rPr>
              <a:t>CHALLENGE</a:t>
            </a:r>
            <a:endParaRPr lang="en-US" sz="1200" dirty="0"/>
          </a:p>
        </p:txBody>
      </p:sp>
      <p:sp>
        <p:nvSpPr>
          <p:cNvPr id="9" name="Shape 7"/>
          <p:cNvSpPr/>
          <p:nvPr/>
        </p:nvSpPr>
        <p:spPr>
          <a:xfrm>
            <a:off x="6355080" y="4069080"/>
            <a:ext cx="2331720" cy="777240"/>
          </a:xfrm>
          <a:prstGeom prst="roundRect">
            <a:avLst>
              <a:gd name="adj" fmla="val 5882"/>
            </a:avLst>
          </a:prstGeom>
          <a:solidFill>
            <a:srgbClr val="B11F4B"/>
          </a:solidFill>
          <a:ln w="12700">
            <a:solidFill>
              <a:srgbClr val="B11F4B"/>
            </a:solidFill>
            <a:prstDash val="solid"/>
          </a:ln>
        </p:spPr>
        <p:txBody>
          <a:bodyPr/>
          <a:lstStyle/>
          <a:p>
            <a:endParaRPr lang="en-US"/>
          </a:p>
        </p:txBody>
      </p:sp>
      <p:sp>
        <p:nvSpPr>
          <p:cNvPr id="10" name="Text 8"/>
          <p:cNvSpPr/>
          <p:nvPr/>
        </p:nvSpPr>
        <p:spPr>
          <a:xfrm>
            <a:off x="6355080" y="4297680"/>
            <a:ext cx="2331720" cy="237744"/>
          </a:xfrm>
          <a:prstGeom prst="rect">
            <a:avLst/>
          </a:prstGeom>
          <a:noFill/>
          <a:ln/>
        </p:spPr>
        <p:txBody>
          <a:bodyPr wrap="square" lIns="0" tIns="0" rIns="0" bIns="0" rtlCol="0" anchor="ctr"/>
          <a:lstStyle/>
          <a:p>
            <a:pPr marL="0" indent="0" algn="ctr">
              <a:buNone/>
            </a:pPr>
            <a:r>
              <a:rPr lang="en-US" sz="1200" b="1" kern="0" spc="140" dirty="0">
                <a:solidFill>
                  <a:srgbClr val="FFFFFF"/>
                </a:solidFill>
                <a:latin typeface="Aptos" pitchFamily="34" charset="0"/>
                <a:ea typeface="Aptos" pitchFamily="34" charset="-122"/>
                <a:cs typeface="Aptos" pitchFamily="34" charset="-120"/>
              </a:rPr>
              <a:t>TRADE</a:t>
            </a:r>
            <a:endParaRPr lang="en-US" sz="1200" dirty="0"/>
          </a:p>
        </p:txBody>
      </p:sp>
      <p:sp>
        <p:nvSpPr>
          <p:cNvPr id="11" name="Shape 9"/>
          <p:cNvSpPr/>
          <p:nvPr/>
        </p:nvSpPr>
        <p:spPr>
          <a:xfrm>
            <a:off x="9098280" y="4069080"/>
            <a:ext cx="2331720" cy="777240"/>
          </a:xfrm>
          <a:prstGeom prst="roundRect">
            <a:avLst>
              <a:gd name="adj" fmla="val 5882"/>
            </a:avLst>
          </a:prstGeom>
          <a:solidFill>
            <a:srgbClr val="2E7D55"/>
          </a:solidFill>
          <a:ln w="12700">
            <a:solidFill>
              <a:srgbClr val="2E7D55"/>
            </a:solidFill>
            <a:prstDash val="solid"/>
          </a:ln>
        </p:spPr>
        <p:txBody>
          <a:bodyPr/>
          <a:lstStyle/>
          <a:p>
            <a:endParaRPr lang="en-US"/>
          </a:p>
        </p:txBody>
      </p:sp>
      <p:sp>
        <p:nvSpPr>
          <p:cNvPr id="12" name="Text 10"/>
          <p:cNvSpPr/>
          <p:nvPr/>
        </p:nvSpPr>
        <p:spPr>
          <a:xfrm>
            <a:off x="9098280" y="4297680"/>
            <a:ext cx="2331720" cy="237744"/>
          </a:xfrm>
          <a:prstGeom prst="rect">
            <a:avLst/>
          </a:prstGeom>
          <a:noFill/>
          <a:ln/>
        </p:spPr>
        <p:txBody>
          <a:bodyPr wrap="square" lIns="0" tIns="0" rIns="0" bIns="0" rtlCol="0" anchor="ctr"/>
          <a:lstStyle/>
          <a:p>
            <a:pPr marL="0" indent="0" algn="ctr">
              <a:buNone/>
            </a:pPr>
            <a:r>
              <a:rPr lang="en-US" sz="1200" b="1" kern="0" spc="140" dirty="0">
                <a:solidFill>
                  <a:srgbClr val="FFFFFF"/>
                </a:solidFill>
                <a:latin typeface="Aptos" pitchFamily="34" charset="0"/>
                <a:ea typeface="Aptos" pitchFamily="34" charset="-122"/>
                <a:cs typeface="Aptos" pitchFamily="34" charset="-120"/>
              </a:rPr>
              <a:t>TRIGGER</a:t>
            </a:r>
            <a:endParaRPr lang="en-US" sz="1200" dirty="0"/>
          </a:p>
        </p:txBody>
      </p:sp>
      <p:sp>
        <p:nvSpPr>
          <p:cNvPr id="13" name="Text 11"/>
          <p:cNvSpPr/>
          <p:nvPr/>
        </p:nvSpPr>
        <p:spPr>
          <a:xfrm>
            <a:off x="868680" y="5715000"/>
            <a:ext cx="10149840" cy="320040"/>
          </a:xfrm>
          <a:prstGeom prst="rect">
            <a:avLst/>
          </a:prstGeom>
          <a:noFill/>
          <a:ln/>
        </p:spPr>
        <p:txBody>
          <a:bodyPr wrap="square" lIns="0" tIns="0" rIns="0" bIns="0" rtlCol="0" anchor="ctr"/>
          <a:lstStyle/>
          <a:p>
            <a:pPr marL="0" indent="0" algn="ctr">
              <a:buNone/>
            </a:pPr>
            <a:r>
              <a:rPr lang="en-US" sz="1200" dirty="0">
                <a:solidFill>
                  <a:srgbClr val="BAC1E8"/>
                </a:solidFill>
                <a:latin typeface="Aptos" pitchFamily="34" charset="0"/>
                <a:ea typeface="Aptos" pitchFamily="34" charset="-122"/>
                <a:cs typeface="Aptos" pitchFamily="34" charset="-120"/>
              </a:rPr>
              <a:t>Practice files and copy-ready prompts are in the companion HTML guide.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46</TotalTime>
  <Words>3788</Words>
  <Application>Microsoft Office PowerPoint</Application>
  <PresentationFormat>Widescreen</PresentationFormat>
  <Paragraphs>531</Paragraphs>
  <Slides>28</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for Supplier Workflows | Estée Lauder Companies</dc:title>
  <dc:subject>Copilot for GSM supplier workflows</dc:subject>
  <dc:creator>Microsoft</dc:creator>
  <cp:lastModifiedBy>John Rea</cp:lastModifiedBy>
  <cp:revision>1</cp:revision>
  <dcterms:created xsi:type="dcterms:W3CDTF">2026-08-17T21:49:36Z</dcterms:created>
  <dcterms:modified xsi:type="dcterms:W3CDTF">2026-08-19T00:58:40Z</dcterms:modified>
</cp:coreProperties>
</file>