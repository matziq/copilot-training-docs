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0" d="100"/>
          <a:sy n="160" d="100"/>
        </p:scale>
        <p:origin x="2299" y="1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theme" Target="theme/theme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tableStyles" Target="tableStyles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presProps" Target="pres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104348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2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50E6FF"/>
          </a:solidFill>
          <a:ln w="12700">
            <a:solidFill>
              <a:srgbClr val="50E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137660"/>
            <a:ext cx="9144000" cy="1005840"/>
          </a:xfrm>
          <a:prstGeom prst="rect">
            <a:avLst/>
          </a:prstGeom>
          <a:solidFill>
            <a:srgbClr val="001535"/>
          </a:solidFill>
          <a:ln w="12700">
            <a:solidFill>
              <a:srgbClr val="0015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AB-731 Flashcards</a:t>
            </a:r>
            <a:endParaRPr lang="en-US" sz="46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8046720" cy="45720"/>
          </a:xfrm>
          <a:prstGeom prst="rect">
            <a:avLst/>
          </a:prstGeom>
          <a:solidFill>
            <a:srgbClr val="50E6FF"/>
          </a:solidFill>
          <a:ln w="12700">
            <a:solidFill>
              <a:srgbClr val="50E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dirty="0">
                <a:solidFill>
                  <a:srgbClr val="5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Transformation Leader Exam Prep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27889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7AB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Flashcards  •  3 Domains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4393692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A0B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John Rea  |  Sr. Cloud Solution Architect  |  Microsoft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78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2377440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1  •  Q01 – Q16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8046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Value of Generative AI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48640" y="32918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– 40% of exam  •  16 flashcards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2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0E6FF"/>
          </a:solidFill>
          <a:ln w="12700">
            <a:solidFill>
              <a:srgbClr val="50E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909560" y="164592"/>
            <a:ext cx="1051560" cy="365760"/>
          </a:xfrm>
          <a:prstGeom prst="roundRect">
            <a:avLst>
              <a:gd name="adj" fmla="val 12500"/>
            </a:avLst>
          </a:prstGeom>
          <a:solidFill>
            <a:srgbClr val="50E6FF"/>
          </a:solidFill>
          <a:ln w="12700">
            <a:solidFill>
              <a:srgbClr val="50E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909560" y="16459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Q01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777240"/>
            <a:ext cx="78638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generative AI?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20040" y="466801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300" dirty="0">
                <a:solidFill>
                  <a:srgbClr val="334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2050"/>
          </a:solidFill>
          <a:ln w="12700">
            <a:solidFill>
              <a:srgbClr val="002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64008" cy="5070348"/>
          </a:xfrm>
          <a:prstGeom prst="rect">
            <a:avLst/>
          </a:prstGeom>
          <a:solidFill>
            <a:srgbClr val="50E6FF"/>
          </a:solidFill>
          <a:ln w="12700">
            <a:solidFill>
              <a:srgbClr val="50E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909560" y="164592"/>
            <a:ext cx="1051560" cy="365760"/>
          </a:xfrm>
          <a:prstGeom prst="roundRect">
            <a:avLst>
              <a:gd name="adj" fmla="val 12500"/>
            </a:avLst>
          </a:prstGeom>
          <a:solidFill>
            <a:srgbClr val="50E6FF"/>
          </a:solidFill>
          <a:ln w="12700">
            <a:solidFill>
              <a:srgbClr val="50E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909560" y="16459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685800"/>
            <a:ext cx="800100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2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that creates new content (text, images, code, audio) by predicting the next token based on patterns learned from large datasets.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11480" y="466801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2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0E6FF"/>
          </a:solidFill>
          <a:ln w="12700">
            <a:solidFill>
              <a:srgbClr val="50E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909560" y="164592"/>
            <a:ext cx="1051560" cy="365760"/>
          </a:xfrm>
          <a:prstGeom prst="roundRect">
            <a:avLst>
              <a:gd name="adj" fmla="val 12500"/>
            </a:avLst>
          </a:prstGeom>
          <a:solidFill>
            <a:srgbClr val="50E6FF"/>
          </a:solidFill>
          <a:ln w="12700">
            <a:solidFill>
              <a:srgbClr val="50E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909560" y="16459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Q02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777240"/>
            <a:ext cx="78638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generative AI differ from discriminative AI?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20040" y="466801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300" dirty="0">
                <a:solidFill>
                  <a:srgbClr val="334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2050"/>
          </a:solidFill>
          <a:ln w="12700">
            <a:solidFill>
              <a:srgbClr val="002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64008" cy="5070348"/>
          </a:xfrm>
          <a:prstGeom prst="rect">
            <a:avLst/>
          </a:prstGeom>
          <a:solidFill>
            <a:srgbClr val="50E6FF"/>
          </a:solidFill>
          <a:ln w="12700">
            <a:solidFill>
              <a:srgbClr val="50E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909560" y="164592"/>
            <a:ext cx="1051560" cy="365760"/>
          </a:xfrm>
          <a:prstGeom prst="roundRect">
            <a:avLst>
              <a:gd name="adj" fmla="val 12500"/>
            </a:avLst>
          </a:prstGeom>
          <a:solidFill>
            <a:srgbClr val="50E6FF"/>
          </a:solidFill>
          <a:ln w="12700">
            <a:solidFill>
              <a:srgbClr val="50E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909560" y="16459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A02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685800"/>
            <a:ext cx="800100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2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creates new content.</a:t>
            </a:r>
            <a:endParaRPr lang="en-US" sz="2200" dirty="0"/>
          </a:p>
          <a:p>
            <a:pPr marL="0" indent="0" algn="ctr">
              <a:buNone/>
            </a:pPr>
            <a:endParaRPr lang="en-US" sz="2200" dirty="0"/>
          </a:p>
          <a:p>
            <a:pPr marL="0" indent="0" algn="ctr">
              <a:buNone/>
            </a:pPr>
            <a:r>
              <a:rPr lang="en-US" sz="2200" dirty="0">
                <a:solidFill>
                  <a:srgbClr val="002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Discriminative AI classifies or categorizes existing data.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11480" y="466801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2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0E6FF"/>
          </a:solidFill>
          <a:ln w="12700">
            <a:solidFill>
              <a:srgbClr val="50E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909560" y="164592"/>
            <a:ext cx="1051560" cy="365760"/>
          </a:xfrm>
          <a:prstGeom prst="roundRect">
            <a:avLst>
              <a:gd name="adj" fmla="val 12500"/>
            </a:avLst>
          </a:prstGeom>
          <a:solidFill>
            <a:srgbClr val="50E6FF"/>
          </a:solidFill>
          <a:ln w="12700">
            <a:solidFill>
              <a:srgbClr val="50E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909560" y="16459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Q03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777240"/>
            <a:ext cx="78638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pretrained model?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20040" y="466801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300" dirty="0">
                <a:solidFill>
                  <a:srgbClr val="334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2050"/>
          </a:solidFill>
          <a:ln w="12700">
            <a:solidFill>
              <a:srgbClr val="002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64008" cy="5070348"/>
          </a:xfrm>
          <a:prstGeom prst="rect">
            <a:avLst/>
          </a:prstGeom>
          <a:solidFill>
            <a:srgbClr val="50E6FF"/>
          </a:solidFill>
          <a:ln w="12700">
            <a:solidFill>
              <a:srgbClr val="50E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909560" y="164592"/>
            <a:ext cx="1051560" cy="365760"/>
          </a:xfrm>
          <a:prstGeom prst="roundRect">
            <a:avLst>
              <a:gd name="adj" fmla="val 12500"/>
            </a:avLst>
          </a:prstGeom>
          <a:solidFill>
            <a:srgbClr val="50E6FF"/>
          </a:solidFill>
          <a:ln w="12700">
            <a:solidFill>
              <a:srgbClr val="50E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909560" y="16459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A03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685800"/>
            <a:ext cx="800100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2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trained on broad general data (e.g., GPT-4) that can perform many tasks without additional training.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11480" y="466801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2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0E6FF"/>
          </a:solidFill>
          <a:ln w="12700">
            <a:solidFill>
              <a:srgbClr val="50E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909560" y="164592"/>
            <a:ext cx="1051560" cy="365760"/>
          </a:xfrm>
          <a:prstGeom prst="roundRect">
            <a:avLst>
              <a:gd name="adj" fmla="val 12500"/>
            </a:avLst>
          </a:prstGeom>
          <a:solidFill>
            <a:srgbClr val="50E6FF"/>
          </a:solidFill>
          <a:ln w="12700">
            <a:solidFill>
              <a:srgbClr val="50E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909560" y="16459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Q04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777240"/>
            <a:ext cx="78638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should you fine-tune a model?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20040" y="466801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300" dirty="0">
                <a:solidFill>
                  <a:srgbClr val="334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2050"/>
          </a:solidFill>
          <a:ln w="12700">
            <a:solidFill>
              <a:srgbClr val="002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64008" cy="5070348"/>
          </a:xfrm>
          <a:prstGeom prst="rect">
            <a:avLst/>
          </a:prstGeom>
          <a:solidFill>
            <a:srgbClr val="50E6FF"/>
          </a:solidFill>
          <a:ln w="12700">
            <a:solidFill>
              <a:srgbClr val="50E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909560" y="164592"/>
            <a:ext cx="1051560" cy="365760"/>
          </a:xfrm>
          <a:prstGeom prst="roundRect">
            <a:avLst>
              <a:gd name="adj" fmla="val 12500"/>
            </a:avLst>
          </a:prstGeom>
          <a:solidFill>
            <a:srgbClr val="50E6FF"/>
          </a:solidFill>
          <a:ln w="12700">
            <a:solidFill>
              <a:srgbClr val="50E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909560" y="16459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A04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685800"/>
            <a:ext cx="800100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2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need specialized vocabulary, consistent tone, or higher domain accuracy — and prompting alone isn’t enough.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11480" y="466801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2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0E6FF"/>
          </a:solidFill>
          <a:ln w="12700">
            <a:solidFill>
              <a:srgbClr val="50E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909560" y="164592"/>
            <a:ext cx="1051560" cy="365760"/>
          </a:xfrm>
          <a:prstGeom prst="roundRect">
            <a:avLst>
              <a:gd name="adj" fmla="val 12500"/>
            </a:avLst>
          </a:prstGeom>
          <a:solidFill>
            <a:srgbClr val="50E6FF"/>
          </a:solidFill>
          <a:ln w="12700">
            <a:solidFill>
              <a:srgbClr val="50E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909560" y="16459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Q05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777240"/>
            <a:ext cx="78638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prompt engineering?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20040" y="466801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300" dirty="0">
                <a:solidFill>
                  <a:srgbClr val="334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2050"/>
          </a:solidFill>
          <a:ln w="12700">
            <a:solidFill>
              <a:srgbClr val="002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64008" cy="5070348"/>
          </a:xfrm>
          <a:prstGeom prst="rect">
            <a:avLst/>
          </a:prstGeom>
          <a:solidFill>
            <a:srgbClr val="50E6FF"/>
          </a:solidFill>
          <a:ln w="12700">
            <a:solidFill>
              <a:srgbClr val="50E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909560" y="164592"/>
            <a:ext cx="1051560" cy="365760"/>
          </a:xfrm>
          <a:prstGeom prst="roundRect">
            <a:avLst>
              <a:gd name="adj" fmla="val 12500"/>
            </a:avLst>
          </a:prstGeom>
          <a:solidFill>
            <a:srgbClr val="50E6FF"/>
          </a:solidFill>
          <a:ln w="12700">
            <a:solidFill>
              <a:srgbClr val="50E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909560" y="16459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A05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685800"/>
            <a:ext cx="800100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2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practice of crafting inputs to guide AI toward better outputs — without retraining the model.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11480" y="466801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2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0E6FF"/>
          </a:solidFill>
          <a:ln w="12700">
            <a:solidFill>
              <a:srgbClr val="50E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909560" y="164592"/>
            <a:ext cx="1051560" cy="365760"/>
          </a:xfrm>
          <a:prstGeom prst="roundRect">
            <a:avLst>
              <a:gd name="adj" fmla="val 12500"/>
            </a:avLst>
          </a:prstGeom>
          <a:solidFill>
            <a:srgbClr val="50E6FF"/>
          </a:solidFill>
          <a:ln w="12700">
            <a:solidFill>
              <a:srgbClr val="50E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909560" y="16459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Q06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777240"/>
            <a:ext cx="78638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3 prompt engineering techniques.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20040" y="466801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300" dirty="0">
                <a:solidFill>
                  <a:srgbClr val="334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2050"/>
          </a:solidFill>
          <a:ln w="12700">
            <a:solidFill>
              <a:srgbClr val="002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64008" cy="5070348"/>
          </a:xfrm>
          <a:prstGeom prst="rect">
            <a:avLst/>
          </a:prstGeom>
          <a:solidFill>
            <a:srgbClr val="50E6FF"/>
          </a:solidFill>
          <a:ln w="12700">
            <a:solidFill>
              <a:srgbClr val="50E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909560" y="164592"/>
            <a:ext cx="1051560" cy="365760"/>
          </a:xfrm>
          <a:prstGeom prst="roundRect">
            <a:avLst>
              <a:gd name="adj" fmla="val 12500"/>
            </a:avLst>
          </a:prstGeom>
          <a:solidFill>
            <a:srgbClr val="50E6FF"/>
          </a:solidFill>
          <a:ln w="12700">
            <a:solidFill>
              <a:srgbClr val="50E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909560" y="16459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A06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685800"/>
            <a:ext cx="800100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2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 — no examples provided</a:t>
            </a:r>
            <a:endParaRPr lang="en-US" sz="2200" dirty="0"/>
          </a:p>
          <a:p>
            <a:pPr marL="0" indent="0" algn="ctr">
              <a:buNone/>
            </a:pPr>
            <a:endParaRPr lang="en-US" sz="2200" dirty="0"/>
          </a:p>
          <a:p>
            <a:pPr marL="0" indent="0" algn="ctr">
              <a:buNone/>
            </a:pPr>
            <a:r>
              <a:rPr lang="en-US" sz="2200" dirty="0">
                <a:solidFill>
                  <a:srgbClr val="002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Few-shot — include example prompts</a:t>
            </a:r>
            <a:endParaRPr lang="en-US" sz="2200" dirty="0"/>
          </a:p>
          <a:p>
            <a:pPr marL="0" indent="0" algn="ctr">
              <a:buNone/>
            </a:pPr>
            <a:endParaRPr lang="en-US" sz="2200" dirty="0"/>
          </a:p>
          <a:p>
            <a:pPr marL="0" indent="0" algn="ctr">
              <a:buNone/>
            </a:pPr>
            <a:r>
              <a:rPr lang="en-US" sz="2200" dirty="0">
                <a:solidFill>
                  <a:srgbClr val="002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Chain-of-thought — step-by-step reasoning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11480" y="466801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02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0E6FF"/>
          </a:solidFill>
          <a:ln w="12700">
            <a:solidFill>
              <a:srgbClr val="50E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909560" y="164592"/>
            <a:ext cx="1051560" cy="365760"/>
          </a:xfrm>
          <a:prstGeom prst="roundRect">
            <a:avLst>
              <a:gd name="adj" fmla="val 12500"/>
            </a:avLst>
          </a:prstGeom>
          <a:solidFill>
            <a:srgbClr val="50E6FF"/>
          </a:solidFill>
          <a:ln w="12700">
            <a:solidFill>
              <a:srgbClr val="50E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909560" y="16459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Q07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777240"/>
            <a:ext cx="78638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RAG (Retrieval-Augmented Generation)?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20040" y="466801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300" dirty="0">
                <a:solidFill>
                  <a:srgbClr val="334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2050"/>
          </a:solidFill>
          <a:ln w="12700">
            <a:solidFill>
              <a:srgbClr val="002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64008" cy="5070348"/>
          </a:xfrm>
          <a:prstGeom prst="rect">
            <a:avLst/>
          </a:prstGeom>
          <a:solidFill>
            <a:srgbClr val="50E6FF"/>
          </a:solidFill>
          <a:ln w="12700">
            <a:solidFill>
              <a:srgbClr val="50E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909560" y="164592"/>
            <a:ext cx="1051560" cy="365760"/>
          </a:xfrm>
          <a:prstGeom prst="roundRect">
            <a:avLst>
              <a:gd name="adj" fmla="val 12500"/>
            </a:avLst>
          </a:prstGeom>
          <a:solidFill>
            <a:srgbClr val="50E6FF"/>
          </a:solidFill>
          <a:ln w="12700">
            <a:solidFill>
              <a:srgbClr val="50E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909560" y="16459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A07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685800"/>
            <a:ext cx="800100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2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Retrieves relevant documents and uses them to ground the AI’s response — reducing hallucinations and improving accuracy.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11480" y="466801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02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0E6FF"/>
          </a:solidFill>
          <a:ln w="12700">
            <a:solidFill>
              <a:srgbClr val="50E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909560" y="164592"/>
            <a:ext cx="1051560" cy="365760"/>
          </a:xfrm>
          <a:prstGeom prst="roundRect">
            <a:avLst>
              <a:gd name="adj" fmla="val 12500"/>
            </a:avLst>
          </a:prstGeom>
          <a:solidFill>
            <a:srgbClr val="50E6FF"/>
          </a:solidFill>
          <a:ln w="12700">
            <a:solidFill>
              <a:srgbClr val="50E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909560" y="16459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Q08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777240"/>
            <a:ext cx="78638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token?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20040" y="466801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300" dirty="0">
                <a:solidFill>
                  <a:srgbClr val="334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2050"/>
          </a:solidFill>
          <a:ln w="12700">
            <a:solidFill>
              <a:srgbClr val="002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64008" cy="5070348"/>
          </a:xfrm>
          <a:prstGeom prst="rect">
            <a:avLst/>
          </a:prstGeom>
          <a:solidFill>
            <a:srgbClr val="50E6FF"/>
          </a:solidFill>
          <a:ln w="12700">
            <a:solidFill>
              <a:srgbClr val="50E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909560" y="164592"/>
            <a:ext cx="1051560" cy="365760"/>
          </a:xfrm>
          <a:prstGeom prst="roundRect">
            <a:avLst>
              <a:gd name="adj" fmla="val 12500"/>
            </a:avLst>
          </a:prstGeom>
          <a:solidFill>
            <a:srgbClr val="50E6FF"/>
          </a:solidFill>
          <a:ln w="12700">
            <a:solidFill>
              <a:srgbClr val="50E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909560" y="16459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A08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685800"/>
            <a:ext cx="800100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2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basic unit AI models process (~¾ of a word).</a:t>
            </a:r>
            <a:endParaRPr lang="en-US" sz="2200" dirty="0"/>
          </a:p>
          <a:p>
            <a:pPr marL="0" indent="0" algn="ctr">
              <a:buNone/>
            </a:pPr>
            <a:endParaRPr lang="en-US" sz="2200" dirty="0"/>
          </a:p>
          <a:p>
            <a:pPr marL="0" indent="0" algn="ctr">
              <a:buNone/>
            </a:pPr>
            <a:r>
              <a:rPr lang="en-US" sz="2200" dirty="0">
                <a:solidFill>
                  <a:srgbClr val="002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pricing is based on tokens consumed (input + output).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11480" y="466801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02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0E6FF"/>
          </a:solidFill>
          <a:ln w="12700">
            <a:solidFill>
              <a:srgbClr val="50E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909560" y="164592"/>
            <a:ext cx="1051560" cy="365760"/>
          </a:xfrm>
          <a:prstGeom prst="roundRect">
            <a:avLst>
              <a:gd name="adj" fmla="val 12500"/>
            </a:avLst>
          </a:prstGeom>
          <a:solidFill>
            <a:srgbClr val="50E6FF"/>
          </a:solidFill>
          <a:ln w="12700">
            <a:solidFill>
              <a:srgbClr val="50E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909560" y="16459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Q09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777240"/>
            <a:ext cx="78638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the main GenAI cost drivers?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20040" y="466801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300" dirty="0">
                <a:solidFill>
                  <a:srgbClr val="334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2050"/>
          </a:solidFill>
          <a:ln w="12700">
            <a:solidFill>
              <a:srgbClr val="002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64008" cy="5070348"/>
          </a:xfrm>
          <a:prstGeom prst="rect">
            <a:avLst/>
          </a:prstGeom>
          <a:solidFill>
            <a:srgbClr val="50E6FF"/>
          </a:solidFill>
          <a:ln w="12700">
            <a:solidFill>
              <a:srgbClr val="50E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909560" y="164592"/>
            <a:ext cx="1051560" cy="365760"/>
          </a:xfrm>
          <a:prstGeom prst="roundRect">
            <a:avLst>
              <a:gd name="adj" fmla="val 12500"/>
            </a:avLst>
          </a:prstGeom>
          <a:solidFill>
            <a:srgbClr val="50E6FF"/>
          </a:solidFill>
          <a:ln w="12700">
            <a:solidFill>
              <a:srgbClr val="50E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909560" y="16459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A09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685800"/>
            <a:ext cx="800100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2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usage, model size/capability, frequency of use, and compute resources.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11480" y="466801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02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0E6FF"/>
          </a:solidFill>
          <a:ln w="12700">
            <a:solidFill>
              <a:srgbClr val="50E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909560" y="164592"/>
            <a:ext cx="1051560" cy="365760"/>
          </a:xfrm>
          <a:prstGeom prst="roundRect">
            <a:avLst>
              <a:gd name="adj" fmla="val 12500"/>
            </a:avLst>
          </a:prstGeom>
          <a:solidFill>
            <a:srgbClr val="50E6FF"/>
          </a:solidFill>
          <a:ln w="12700">
            <a:solidFill>
              <a:srgbClr val="50E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909560" y="16459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Q10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777240"/>
            <a:ext cx="78638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an AI hallucination?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20040" y="466801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300" dirty="0">
                <a:solidFill>
                  <a:srgbClr val="334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2050"/>
          </a:solidFill>
          <a:ln w="12700">
            <a:solidFill>
              <a:srgbClr val="002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64008" cy="5070348"/>
          </a:xfrm>
          <a:prstGeom prst="rect">
            <a:avLst/>
          </a:prstGeom>
          <a:solidFill>
            <a:srgbClr val="50E6FF"/>
          </a:solidFill>
          <a:ln w="12700">
            <a:solidFill>
              <a:srgbClr val="50E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909560" y="164592"/>
            <a:ext cx="1051560" cy="365760"/>
          </a:xfrm>
          <a:prstGeom prst="roundRect">
            <a:avLst>
              <a:gd name="adj" fmla="val 12500"/>
            </a:avLst>
          </a:prstGeom>
          <a:solidFill>
            <a:srgbClr val="50E6FF"/>
          </a:solidFill>
          <a:ln w="12700">
            <a:solidFill>
              <a:srgbClr val="50E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909560" y="16459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A10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685800"/>
            <a:ext cx="800100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2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AI generates a confident but factually incorrect or fabricated response.</a:t>
            </a:r>
            <a:endParaRPr lang="en-US" sz="2200" dirty="0"/>
          </a:p>
          <a:p>
            <a:pPr marL="0" indent="0" algn="ctr">
              <a:buNone/>
            </a:pPr>
            <a:endParaRPr lang="en-US" sz="2200" dirty="0"/>
          </a:p>
          <a:p>
            <a:pPr marL="0" indent="0" algn="ctr">
              <a:buNone/>
            </a:pPr>
            <a:r>
              <a:rPr lang="en-US" sz="2200" dirty="0">
                <a:solidFill>
                  <a:srgbClr val="002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Mitigated by RAG, grounding, and human review.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11480" y="466801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02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0E6FF"/>
          </a:solidFill>
          <a:ln w="12700">
            <a:solidFill>
              <a:srgbClr val="50E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909560" y="164592"/>
            <a:ext cx="1051560" cy="365760"/>
          </a:xfrm>
          <a:prstGeom prst="roundRect">
            <a:avLst>
              <a:gd name="adj" fmla="val 12500"/>
            </a:avLst>
          </a:prstGeom>
          <a:solidFill>
            <a:srgbClr val="50E6FF"/>
          </a:solidFill>
          <a:ln w="12700">
            <a:solidFill>
              <a:srgbClr val="50E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909560" y="16459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777240"/>
            <a:ext cx="78638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bias in AI?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20040" y="466801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300" dirty="0">
                <a:solidFill>
                  <a:srgbClr val="334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2050"/>
          </a:solidFill>
          <a:ln w="12700">
            <a:solidFill>
              <a:srgbClr val="002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64008" cy="5070348"/>
          </a:xfrm>
          <a:prstGeom prst="rect">
            <a:avLst/>
          </a:prstGeom>
          <a:solidFill>
            <a:srgbClr val="50E6FF"/>
          </a:solidFill>
          <a:ln w="12700">
            <a:solidFill>
              <a:srgbClr val="50E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909560" y="164592"/>
            <a:ext cx="1051560" cy="365760"/>
          </a:xfrm>
          <a:prstGeom prst="roundRect">
            <a:avLst>
              <a:gd name="adj" fmla="val 12500"/>
            </a:avLst>
          </a:prstGeom>
          <a:solidFill>
            <a:srgbClr val="50E6FF"/>
          </a:solidFill>
          <a:ln w="12700">
            <a:solidFill>
              <a:srgbClr val="50E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909560" y="16459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685800"/>
            <a:ext cx="800100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2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Systematic unfairness in outputs from biased training data.</a:t>
            </a:r>
            <a:endParaRPr lang="en-US" sz="2200" dirty="0"/>
          </a:p>
          <a:p>
            <a:pPr marL="0" indent="0" algn="ctr">
              <a:buNone/>
            </a:pPr>
            <a:endParaRPr lang="en-US" sz="2200" dirty="0"/>
          </a:p>
          <a:p>
            <a:pPr marL="0" indent="0" algn="ctr">
              <a:buNone/>
            </a:pPr>
            <a:r>
              <a:rPr lang="en-US" sz="2200" dirty="0">
                <a:solidFill>
                  <a:srgbClr val="002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lead to discriminatory or unrepresentative results.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11480" y="466801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02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0E6FF"/>
          </a:solidFill>
          <a:ln w="12700">
            <a:solidFill>
              <a:srgbClr val="50E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909560" y="164592"/>
            <a:ext cx="1051560" cy="365760"/>
          </a:xfrm>
          <a:prstGeom prst="roundRect">
            <a:avLst>
              <a:gd name="adj" fmla="val 12500"/>
            </a:avLst>
          </a:prstGeom>
          <a:solidFill>
            <a:srgbClr val="50E6FF"/>
          </a:solidFill>
          <a:ln w="12700">
            <a:solidFill>
              <a:srgbClr val="50E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909560" y="16459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777240"/>
            <a:ext cx="78638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data quality matter?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20040" y="466801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300" dirty="0">
                <a:solidFill>
                  <a:srgbClr val="334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2050"/>
          </a:solidFill>
          <a:ln w="12700">
            <a:solidFill>
              <a:srgbClr val="002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64008" cy="5070348"/>
          </a:xfrm>
          <a:prstGeom prst="rect">
            <a:avLst/>
          </a:prstGeom>
          <a:solidFill>
            <a:srgbClr val="50E6FF"/>
          </a:solidFill>
          <a:ln w="12700">
            <a:solidFill>
              <a:srgbClr val="50E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909560" y="164592"/>
            <a:ext cx="1051560" cy="365760"/>
          </a:xfrm>
          <a:prstGeom prst="roundRect">
            <a:avLst>
              <a:gd name="adj" fmla="val 12500"/>
            </a:avLst>
          </a:prstGeom>
          <a:solidFill>
            <a:srgbClr val="50E6FF"/>
          </a:solidFill>
          <a:ln w="12700">
            <a:solidFill>
              <a:srgbClr val="50E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909560" y="16459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A12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685800"/>
            <a:ext cx="800100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2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“Garbage in, garbage out.”</a:t>
            </a:r>
            <a:endParaRPr lang="en-US" sz="2200" dirty="0"/>
          </a:p>
          <a:p>
            <a:pPr marL="0" indent="0" algn="ctr">
              <a:buNone/>
            </a:pPr>
            <a:endParaRPr lang="en-US" sz="2200" dirty="0"/>
          </a:p>
          <a:p>
            <a:pPr marL="0" indent="0" algn="ctr">
              <a:buNone/>
            </a:pPr>
            <a:r>
              <a:rPr lang="en-US" sz="2200" dirty="0">
                <a:solidFill>
                  <a:srgbClr val="002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or biased data leads to unreliable AI outputs. Clean, representative data is essential.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11480" y="466801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02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0E6FF"/>
          </a:solidFill>
          <a:ln w="12700">
            <a:solidFill>
              <a:srgbClr val="50E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909560" y="164592"/>
            <a:ext cx="1051560" cy="365760"/>
          </a:xfrm>
          <a:prstGeom prst="roundRect">
            <a:avLst>
              <a:gd name="adj" fmla="val 12500"/>
            </a:avLst>
          </a:prstGeom>
          <a:solidFill>
            <a:srgbClr val="50E6FF"/>
          </a:solidFill>
          <a:ln w="12700">
            <a:solidFill>
              <a:srgbClr val="50E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909560" y="16459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777240"/>
            <a:ext cx="78638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key AI security concerns?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20040" y="466801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300" dirty="0">
                <a:solidFill>
                  <a:srgbClr val="334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2050"/>
          </a:solidFill>
          <a:ln w="12700">
            <a:solidFill>
              <a:srgbClr val="002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64008" cy="5070348"/>
          </a:xfrm>
          <a:prstGeom prst="rect">
            <a:avLst/>
          </a:prstGeom>
          <a:solidFill>
            <a:srgbClr val="50E6FF"/>
          </a:solidFill>
          <a:ln w="12700">
            <a:solidFill>
              <a:srgbClr val="50E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909560" y="164592"/>
            <a:ext cx="1051560" cy="365760"/>
          </a:xfrm>
          <a:prstGeom prst="roundRect">
            <a:avLst>
              <a:gd name="adj" fmla="val 12500"/>
            </a:avLst>
          </a:prstGeom>
          <a:solidFill>
            <a:srgbClr val="50E6FF"/>
          </a:solidFill>
          <a:ln w="12700">
            <a:solidFill>
              <a:srgbClr val="50E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909560" y="16459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A13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685800"/>
            <a:ext cx="800100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2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security, data security, authentication/access control, and protection against prompt injection.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11480" y="466801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02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0E6FF"/>
          </a:solidFill>
          <a:ln w="12700">
            <a:solidFill>
              <a:srgbClr val="50E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909560" y="164592"/>
            <a:ext cx="1051560" cy="365760"/>
          </a:xfrm>
          <a:prstGeom prst="roundRect">
            <a:avLst>
              <a:gd name="adj" fmla="val 12500"/>
            </a:avLst>
          </a:prstGeom>
          <a:solidFill>
            <a:srgbClr val="50E6FF"/>
          </a:solidFill>
          <a:ln w="12700">
            <a:solidFill>
              <a:srgbClr val="50E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909560" y="16459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Q14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777240"/>
            <a:ext cx="78638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does GenAI add the MOST value?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20040" y="466801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300" dirty="0">
                <a:solidFill>
                  <a:srgbClr val="334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2050"/>
          </a:solidFill>
          <a:ln w="12700">
            <a:solidFill>
              <a:srgbClr val="002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64008" cy="5070348"/>
          </a:xfrm>
          <a:prstGeom prst="rect">
            <a:avLst/>
          </a:prstGeom>
          <a:solidFill>
            <a:srgbClr val="50E6FF"/>
          </a:solidFill>
          <a:ln w="12700">
            <a:solidFill>
              <a:srgbClr val="50E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909560" y="164592"/>
            <a:ext cx="1051560" cy="365760"/>
          </a:xfrm>
          <a:prstGeom prst="roundRect">
            <a:avLst>
              <a:gd name="adj" fmla="val 12500"/>
            </a:avLst>
          </a:prstGeom>
          <a:solidFill>
            <a:srgbClr val="50E6FF"/>
          </a:solidFill>
          <a:ln w="12700">
            <a:solidFill>
              <a:srgbClr val="50E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909560" y="16459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A14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685800"/>
            <a:ext cx="800100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2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Repetitive text tasks, summarization, drafting, Q&amp;A over large documents, and code assistance.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11480" y="466801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02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0E6FF"/>
          </a:solidFill>
          <a:ln w="12700">
            <a:solidFill>
              <a:srgbClr val="50E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909560" y="164592"/>
            <a:ext cx="1051560" cy="365760"/>
          </a:xfrm>
          <a:prstGeom prst="roundRect">
            <a:avLst>
              <a:gd name="adj" fmla="val 12500"/>
            </a:avLst>
          </a:prstGeom>
          <a:solidFill>
            <a:srgbClr val="50E6FF"/>
          </a:solidFill>
          <a:ln w="12700">
            <a:solidFill>
              <a:srgbClr val="50E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909560" y="16459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Q15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777240"/>
            <a:ext cx="78638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does GenAI add LESS value?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20040" y="466801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300" dirty="0">
                <a:solidFill>
                  <a:srgbClr val="334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2050"/>
          </a:solidFill>
          <a:ln w="12700">
            <a:solidFill>
              <a:srgbClr val="002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64008" cy="5070348"/>
          </a:xfrm>
          <a:prstGeom prst="rect">
            <a:avLst/>
          </a:prstGeom>
          <a:solidFill>
            <a:srgbClr val="50E6FF"/>
          </a:solidFill>
          <a:ln w="12700">
            <a:solidFill>
              <a:srgbClr val="50E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909560" y="164592"/>
            <a:ext cx="1051560" cy="365760"/>
          </a:xfrm>
          <a:prstGeom prst="roundRect">
            <a:avLst>
              <a:gd name="adj" fmla="val 12500"/>
            </a:avLst>
          </a:prstGeom>
          <a:solidFill>
            <a:srgbClr val="50E6FF"/>
          </a:solidFill>
          <a:ln w="12700">
            <a:solidFill>
              <a:srgbClr val="50E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909560" y="16459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A15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685800"/>
            <a:ext cx="800100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2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Precise calculations, real-time data without grounding, tasks requiring 100% accuracy, and highly regulated decisions.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11480" y="466801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02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0E6FF"/>
          </a:solidFill>
          <a:ln w="12700">
            <a:solidFill>
              <a:srgbClr val="50E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909560" y="164592"/>
            <a:ext cx="1051560" cy="365760"/>
          </a:xfrm>
          <a:prstGeom prst="roundRect">
            <a:avLst>
              <a:gd name="adj" fmla="val 12500"/>
            </a:avLst>
          </a:prstGeom>
          <a:solidFill>
            <a:srgbClr val="50E6FF"/>
          </a:solidFill>
          <a:ln w="12700">
            <a:solidFill>
              <a:srgbClr val="50E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909560" y="16459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Q16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777240"/>
            <a:ext cx="78638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the stages of the ML lifecycle?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20040" y="466801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300" dirty="0">
                <a:solidFill>
                  <a:srgbClr val="334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2050"/>
          </a:solidFill>
          <a:ln w="12700">
            <a:solidFill>
              <a:srgbClr val="002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64008" cy="5070348"/>
          </a:xfrm>
          <a:prstGeom prst="rect">
            <a:avLst/>
          </a:prstGeom>
          <a:solidFill>
            <a:srgbClr val="50E6FF"/>
          </a:solidFill>
          <a:ln w="12700">
            <a:solidFill>
              <a:srgbClr val="50E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909560" y="164592"/>
            <a:ext cx="1051560" cy="365760"/>
          </a:xfrm>
          <a:prstGeom prst="roundRect">
            <a:avLst>
              <a:gd name="adj" fmla="val 12500"/>
            </a:avLst>
          </a:prstGeom>
          <a:solidFill>
            <a:srgbClr val="50E6FF"/>
          </a:solidFill>
          <a:ln w="12700">
            <a:solidFill>
              <a:srgbClr val="50E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909560" y="16459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A16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685800"/>
            <a:ext cx="800100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2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 → Preparation → Model Training → Evaluation → Deployment → Monitoring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11480" y="466801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078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2377440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2  •  Q17 – Q32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8046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AI Apps &amp; Services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48640" y="32918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– 40% of exam  •  16 flashcards</a:t>
            </a:r>
            <a:endParaRPr lang="en-US" sz="16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02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0E6FF"/>
          </a:solidFill>
          <a:ln w="12700">
            <a:solidFill>
              <a:srgbClr val="50E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909560" y="164592"/>
            <a:ext cx="1051560" cy="365760"/>
          </a:xfrm>
          <a:prstGeom prst="roundRect">
            <a:avLst>
              <a:gd name="adj" fmla="val 12500"/>
            </a:avLst>
          </a:prstGeom>
          <a:solidFill>
            <a:srgbClr val="50E6FF"/>
          </a:solidFill>
          <a:ln w="12700">
            <a:solidFill>
              <a:srgbClr val="50E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909560" y="16459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Q17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777240"/>
            <a:ext cx="78638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Microsoft 365 Copilot?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20040" y="466801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300" dirty="0">
                <a:solidFill>
                  <a:srgbClr val="334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2050"/>
          </a:solidFill>
          <a:ln w="12700">
            <a:solidFill>
              <a:srgbClr val="002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64008" cy="5070348"/>
          </a:xfrm>
          <a:prstGeom prst="rect">
            <a:avLst/>
          </a:prstGeom>
          <a:solidFill>
            <a:srgbClr val="50E6FF"/>
          </a:solidFill>
          <a:ln w="12700">
            <a:solidFill>
              <a:srgbClr val="50E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909560" y="164592"/>
            <a:ext cx="1051560" cy="365760"/>
          </a:xfrm>
          <a:prstGeom prst="roundRect">
            <a:avLst>
              <a:gd name="adj" fmla="val 12500"/>
            </a:avLst>
          </a:prstGeom>
          <a:solidFill>
            <a:srgbClr val="50E6FF"/>
          </a:solidFill>
          <a:ln w="12700">
            <a:solidFill>
              <a:srgbClr val="50E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909560" y="16459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A17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685800"/>
            <a:ext cx="800100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2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assistant embedded in M365 apps (Word, Excel, PowerPoint, Outlook, Teams) powered by org data via Microsoft Graph.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11480" y="466801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02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0E6FF"/>
          </a:solidFill>
          <a:ln w="12700">
            <a:solidFill>
              <a:srgbClr val="50E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909560" y="164592"/>
            <a:ext cx="1051560" cy="365760"/>
          </a:xfrm>
          <a:prstGeom prst="roundRect">
            <a:avLst>
              <a:gd name="adj" fmla="val 12500"/>
            </a:avLst>
          </a:prstGeom>
          <a:solidFill>
            <a:srgbClr val="50E6FF"/>
          </a:solidFill>
          <a:ln w="12700">
            <a:solidFill>
              <a:srgbClr val="50E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909560" y="16459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Q18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777240"/>
            <a:ext cx="78638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Copilot Chat?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20040" y="466801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300" dirty="0">
                <a:solidFill>
                  <a:srgbClr val="334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2050"/>
          </a:solidFill>
          <a:ln w="12700">
            <a:solidFill>
              <a:srgbClr val="002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64008" cy="5070348"/>
          </a:xfrm>
          <a:prstGeom prst="rect">
            <a:avLst/>
          </a:prstGeom>
          <a:solidFill>
            <a:srgbClr val="50E6FF"/>
          </a:solidFill>
          <a:ln w="12700">
            <a:solidFill>
              <a:srgbClr val="50E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909560" y="164592"/>
            <a:ext cx="1051560" cy="365760"/>
          </a:xfrm>
          <a:prstGeom prst="roundRect">
            <a:avLst>
              <a:gd name="adj" fmla="val 12500"/>
            </a:avLst>
          </a:prstGeom>
          <a:solidFill>
            <a:srgbClr val="50E6FF"/>
          </a:solidFill>
          <a:ln w="12700">
            <a:solidFill>
              <a:srgbClr val="50E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909560" y="16459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A18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685800"/>
            <a:ext cx="800100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2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standalone Copilot experience (web + mobile) using web data or — in Work mode — your org’s emails, files, and meetings.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11480" y="466801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02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0E6FF"/>
          </a:solidFill>
          <a:ln w="12700">
            <a:solidFill>
              <a:srgbClr val="50E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909560" y="164592"/>
            <a:ext cx="1051560" cy="365760"/>
          </a:xfrm>
          <a:prstGeom prst="roundRect">
            <a:avLst>
              <a:gd name="adj" fmla="val 12500"/>
            </a:avLst>
          </a:prstGeom>
          <a:solidFill>
            <a:srgbClr val="50E6FF"/>
          </a:solidFill>
          <a:ln w="12700">
            <a:solidFill>
              <a:srgbClr val="50E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909560" y="16459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Q19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777240"/>
            <a:ext cx="78638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can Copilot do in Word?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20040" y="466801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300" dirty="0">
                <a:solidFill>
                  <a:srgbClr val="334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2050"/>
          </a:solidFill>
          <a:ln w="12700">
            <a:solidFill>
              <a:srgbClr val="002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64008" cy="5070348"/>
          </a:xfrm>
          <a:prstGeom prst="rect">
            <a:avLst/>
          </a:prstGeom>
          <a:solidFill>
            <a:srgbClr val="50E6FF"/>
          </a:solidFill>
          <a:ln w="12700">
            <a:solidFill>
              <a:srgbClr val="50E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909560" y="164592"/>
            <a:ext cx="1051560" cy="365760"/>
          </a:xfrm>
          <a:prstGeom prst="roundRect">
            <a:avLst>
              <a:gd name="adj" fmla="val 12500"/>
            </a:avLst>
          </a:prstGeom>
          <a:solidFill>
            <a:srgbClr val="50E6FF"/>
          </a:solidFill>
          <a:ln w="12700">
            <a:solidFill>
              <a:srgbClr val="50E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909560" y="16459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A19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685800"/>
            <a:ext cx="800100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2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documents, rewrite content, summarize long documents, and adjust tone.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11480" y="466801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02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0E6FF"/>
          </a:solidFill>
          <a:ln w="12700">
            <a:solidFill>
              <a:srgbClr val="50E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909560" y="164592"/>
            <a:ext cx="1051560" cy="365760"/>
          </a:xfrm>
          <a:prstGeom prst="roundRect">
            <a:avLst>
              <a:gd name="adj" fmla="val 12500"/>
            </a:avLst>
          </a:prstGeom>
          <a:solidFill>
            <a:srgbClr val="50E6FF"/>
          </a:solidFill>
          <a:ln w="12700">
            <a:solidFill>
              <a:srgbClr val="50E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909560" y="16459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Q20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777240"/>
            <a:ext cx="78638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can Copilot do in Excel?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20040" y="466801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300" dirty="0">
                <a:solidFill>
                  <a:srgbClr val="334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2050"/>
          </a:solidFill>
          <a:ln w="12700">
            <a:solidFill>
              <a:srgbClr val="002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64008" cy="5070348"/>
          </a:xfrm>
          <a:prstGeom prst="rect">
            <a:avLst/>
          </a:prstGeom>
          <a:solidFill>
            <a:srgbClr val="50E6FF"/>
          </a:solidFill>
          <a:ln w="12700">
            <a:solidFill>
              <a:srgbClr val="50E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909560" y="164592"/>
            <a:ext cx="1051560" cy="365760"/>
          </a:xfrm>
          <a:prstGeom prst="roundRect">
            <a:avLst>
              <a:gd name="adj" fmla="val 12500"/>
            </a:avLst>
          </a:prstGeom>
          <a:solidFill>
            <a:srgbClr val="50E6FF"/>
          </a:solidFill>
          <a:ln w="12700">
            <a:solidFill>
              <a:srgbClr val="50E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909560" y="16459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A20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685800"/>
            <a:ext cx="800100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2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data, generate formulas, create charts, highlight trends, and answer natural language questions.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11480" y="466801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002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0E6FF"/>
          </a:solidFill>
          <a:ln w="12700">
            <a:solidFill>
              <a:srgbClr val="50E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909560" y="164592"/>
            <a:ext cx="1051560" cy="365760"/>
          </a:xfrm>
          <a:prstGeom prst="roundRect">
            <a:avLst>
              <a:gd name="adj" fmla="val 12500"/>
            </a:avLst>
          </a:prstGeom>
          <a:solidFill>
            <a:srgbClr val="50E6FF"/>
          </a:solidFill>
          <a:ln w="12700">
            <a:solidFill>
              <a:srgbClr val="50E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909560" y="16459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777240"/>
            <a:ext cx="78638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can Copilot do in Teams?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20040" y="466801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300" dirty="0">
                <a:solidFill>
                  <a:srgbClr val="334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2050"/>
          </a:solidFill>
          <a:ln w="12700">
            <a:solidFill>
              <a:srgbClr val="002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64008" cy="5070348"/>
          </a:xfrm>
          <a:prstGeom prst="rect">
            <a:avLst/>
          </a:prstGeom>
          <a:solidFill>
            <a:srgbClr val="50E6FF"/>
          </a:solidFill>
          <a:ln w="12700">
            <a:solidFill>
              <a:srgbClr val="50E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909560" y="164592"/>
            <a:ext cx="1051560" cy="365760"/>
          </a:xfrm>
          <a:prstGeom prst="roundRect">
            <a:avLst>
              <a:gd name="adj" fmla="val 12500"/>
            </a:avLst>
          </a:prstGeom>
          <a:solidFill>
            <a:srgbClr val="50E6FF"/>
          </a:solidFill>
          <a:ln w="12700">
            <a:solidFill>
              <a:srgbClr val="50E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909560" y="16459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685800"/>
            <a:ext cx="800100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2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 meetings, generate recaps and action items, catch up on missed discussions, and draft messages.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11480" y="466801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002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0E6FF"/>
          </a:solidFill>
          <a:ln w="12700">
            <a:solidFill>
              <a:srgbClr val="50E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909560" y="164592"/>
            <a:ext cx="1051560" cy="365760"/>
          </a:xfrm>
          <a:prstGeom prst="roundRect">
            <a:avLst>
              <a:gd name="adj" fmla="val 12500"/>
            </a:avLst>
          </a:prstGeom>
          <a:solidFill>
            <a:srgbClr val="50E6FF"/>
          </a:solidFill>
          <a:ln w="12700">
            <a:solidFill>
              <a:srgbClr val="50E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909560" y="16459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777240"/>
            <a:ext cx="78638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Researcher agent?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20040" y="466801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300" dirty="0">
                <a:solidFill>
                  <a:srgbClr val="334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9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2050"/>
          </a:solidFill>
          <a:ln w="12700">
            <a:solidFill>
              <a:srgbClr val="002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64008" cy="5070348"/>
          </a:xfrm>
          <a:prstGeom prst="rect">
            <a:avLst/>
          </a:prstGeom>
          <a:solidFill>
            <a:srgbClr val="50E6FF"/>
          </a:solidFill>
          <a:ln w="12700">
            <a:solidFill>
              <a:srgbClr val="50E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909560" y="164592"/>
            <a:ext cx="1051560" cy="365760"/>
          </a:xfrm>
          <a:prstGeom prst="roundRect">
            <a:avLst>
              <a:gd name="adj" fmla="val 12500"/>
            </a:avLst>
          </a:prstGeom>
          <a:solidFill>
            <a:srgbClr val="50E6FF"/>
          </a:solidFill>
          <a:ln w="12700">
            <a:solidFill>
              <a:srgbClr val="50E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909560" y="16459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A22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685800"/>
            <a:ext cx="800100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2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deep research Copilot agent performing multi-step reasoning across web and org data — ideal for competitive analysis.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11480" y="466801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9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002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0E6FF"/>
          </a:solidFill>
          <a:ln w="12700">
            <a:solidFill>
              <a:srgbClr val="50E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909560" y="164592"/>
            <a:ext cx="1051560" cy="365760"/>
          </a:xfrm>
          <a:prstGeom prst="roundRect">
            <a:avLst>
              <a:gd name="adj" fmla="val 12500"/>
            </a:avLst>
          </a:prstGeom>
          <a:solidFill>
            <a:srgbClr val="50E6FF"/>
          </a:solidFill>
          <a:ln w="12700">
            <a:solidFill>
              <a:srgbClr val="50E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909560" y="16459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777240"/>
            <a:ext cx="78638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Analyst agent?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20040" y="466801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300" dirty="0">
                <a:solidFill>
                  <a:srgbClr val="334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9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2050"/>
          </a:solidFill>
          <a:ln w="12700">
            <a:solidFill>
              <a:srgbClr val="002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64008" cy="5070348"/>
          </a:xfrm>
          <a:prstGeom prst="rect">
            <a:avLst/>
          </a:prstGeom>
          <a:solidFill>
            <a:srgbClr val="50E6FF"/>
          </a:solidFill>
          <a:ln w="12700">
            <a:solidFill>
              <a:srgbClr val="50E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909560" y="164592"/>
            <a:ext cx="1051560" cy="365760"/>
          </a:xfrm>
          <a:prstGeom prst="roundRect">
            <a:avLst>
              <a:gd name="adj" fmla="val 12500"/>
            </a:avLst>
          </a:prstGeom>
          <a:solidFill>
            <a:srgbClr val="50E6FF"/>
          </a:solidFill>
          <a:ln w="12700">
            <a:solidFill>
              <a:srgbClr val="50E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909560" y="16459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A23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685800"/>
            <a:ext cx="800100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2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Copilot agent with a code interpreter that processes data, runs calculations, and generates visualizations from files.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11480" y="466801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9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002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0E6FF"/>
          </a:solidFill>
          <a:ln w="12700">
            <a:solidFill>
              <a:srgbClr val="50E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909560" y="164592"/>
            <a:ext cx="1051560" cy="365760"/>
          </a:xfrm>
          <a:prstGeom prst="roundRect">
            <a:avLst>
              <a:gd name="adj" fmla="val 12500"/>
            </a:avLst>
          </a:prstGeom>
          <a:solidFill>
            <a:srgbClr val="50E6FF"/>
          </a:solidFill>
          <a:ln w="12700">
            <a:solidFill>
              <a:srgbClr val="50E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909560" y="16459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Q24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777240"/>
            <a:ext cx="78638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Microsoft Copilot Studio?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20040" y="466801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300" dirty="0">
                <a:solidFill>
                  <a:srgbClr val="334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9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2050"/>
          </a:solidFill>
          <a:ln w="12700">
            <a:solidFill>
              <a:srgbClr val="002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64008" cy="5070348"/>
          </a:xfrm>
          <a:prstGeom prst="rect">
            <a:avLst/>
          </a:prstGeom>
          <a:solidFill>
            <a:srgbClr val="50E6FF"/>
          </a:solidFill>
          <a:ln w="12700">
            <a:solidFill>
              <a:srgbClr val="50E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909560" y="164592"/>
            <a:ext cx="1051560" cy="365760"/>
          </a:xfrm>
          <a:prstGeom prst="roundRect">
            <a:avLst>
              <a:gd name="adj" fmla="val 12500"/>
            </a:avLst>
          </a:prstGeom>
          <a:solidFill>
            <a:srgbClr val="50E6FF"/>
          </a:solidFill>
          <a:ln w="12700">
            <a:solidFill>
              <a:srgbClr val="50E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909560" y="16459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A24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685800"/>
            <a:ext cx="800100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2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low-code platform for building custom AI agents and chatbots that connect to external data and integrate with M365.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11480" y="466801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9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002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0E6FF"/>
          </a:solidFill>
          <a:ln w="12700">
            <a:solidFill>
              <a:srgbClr val="50E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909560" y="164592"/>
            <a:ext cx="1051560" cy="365760"/>
          </a:xfrm>
          <a:prstGeom prst="roundRect">
            <a:avLst>
              <a:gd name="adj" fmla="val 12500"/>
            </a:avLst>
          </a:prstGeom>
          <a:solidFill>
            <a:srgbClr val="50E6FF"/>
          </a:solidFill>
          <a:ln w="12700">
            <a:solidFill>
              <a:srgbClr val="50E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909560" y="16459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Q25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777240"/>
            <a:ext cx="78638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Microsoft Graph?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20040" y="466801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300" dirty="0">
                <a:solidFill>
                  <a:srgbClr val="334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9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2050"/>
          </a:solidFill>
          <a:ln w="12700">
            <a:solidFill>
              <a:srgbClr val="002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64008" cy="5070348"/>
          </a:xfrm>
          <a:prstGeom prst="rect">
            <a:avLst/>
          </a:prstGeom>
          <a:solidFill>
            <a:srgbClr val="50E6FF"/>
          </a:solidFill>
          <a:ln w="12700">
            <a:solidFill>
              <a:srgbClr val="50E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909560" y="164592"/>
            <a:ext cx="1051560" cy="365760"/>
          </a:xfrm>
          <a:prstGeom prst="roundRect">
            <a:avLst>
              <a:gd name="adj" fmla="val 12500"/>
            </a:avLst>
          </a:prstGeom>
          <a:solidFill>
            <a:srgbClr val="50E6FF"/>
          </a:solidFill>
          <a:ln w="12700">
            <a:solidFill>
              <a:srgbClr val="50E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909560" y="16459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A25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685800"/>
            <a:ext cx="800100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2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API that connects Copilot to org data — emails, files, calendar, Teams chats — enabling grounded responses.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11480" y="466801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9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002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0E6FF"/>
          </a:solidFill>
          <a:ln w="12700">
            <a:solidFill>
              <a:srgbClr val="50E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909560" y="164592"/>
            <a:ext cx="1051560" cy="365760"/>
          </a:xfrm>
          <a:prstGeom prst="roundRect">
            <a:avLst>
              <a:gd name="adj" fmla="val 12500"/>
            </a:avLst>
          </a:prstGeom>
          <a:solidFill>
            <a:srgbClr val="50E6FF"/>
          </a:solidFill>
          <a:ln w="12700">
            <a:solidFill>
              <a:srgbClr val="50E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909560" y="16459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Q26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777240"/>
            <a:ext cx="78638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Buy vs. Extend vs. Build.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20040" y="466801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300" dirty="0">
                <a:solidFill>
                  <a:srgbClr val="334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9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2050"/>
          </a:solidFill>
          <a:ln w="12700">
            <a:solidFill>
              <a:srgbClr val="002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64008" cy="5070348"/>
          </a:xfrm>
          <a:prstGeom prst="rect">
            <a:avLst/>
          </a:prstGeom>
          <a:solidFill>
            <a:srgbClr val="50E6FF"/>
          </a:solidFill>
          <a:ln w="12700">
            <a:solidFill>
              <a:srgbClr val="50E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909560" y="164592"/>
            <a:ext cx="1051560" cy="365760"/>
          </a:xfrm>
          <a:prstGeom prst="roundRect">
            <a:avLst>
              <a:gd name="adj" fmla="val 12500"/>
            </a:avLst>
          </a:prstGeom>
          <a:solidFill>
            <a:srgbClr val="50E6FF"/>
          </a:solidFill>
          <a:ln w="12700">
            <a:solidFill>
              <a:srgbClr val="50E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909560" y="16459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A26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685800"/>
            <a:ext cx="800100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2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= M365 Copilot as-is (fastest time to value)</a:t>
            </a:r>
            <a:endParaRPr lang="en-US" sz="2200" dirty="0"/>
          </a:p>
          <a:p>
            <a:pPr marL="0" indent="0" algn="ctr">
              <a:buNone/>
            </a:pPr>
            <a:endParaRPr lang="en-US" sz="2200" dirty="0"/>
          </a:p>
          <a:p>
            <a:pPr marL="0" indent="0" algn="ctr">
              <a:buNone/>
            </a:pPr>
            <a:r>
              <a:rPr lang="en-US" sz="2200" dirty="0">
                <a:solidFill>
                  <a:srgbClr val="002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= customize via Copilot Studio</a:t>
            </a:r>
            <a:endParaRPr lang="en-US" sz="2200" dirty="0"/>
          </a:p>
          <a:p>
            <a:pPr marL="0" indent="0" algn="ctr">
              <a:buNone/>
            </a:pPr>
            <a:endParaRPr lang="en-US" sz="2200" dirty="0"/>
          </a:p>
          <a:p>
            <a:pPr marL="0" indent="0" algn="ctr">
              <a:buNone/>
            </a:pPr>
            <a:r>
              <a:rPr lang="en-US" sz="2200" dirty="0">
                <a:solidFill>
                  <a:srgbClr val="002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= custom apps via Azure AI / Foundry (most flexible)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11480" y="466801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9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002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0E6FF"/>
          </a:solidFill>
          <a:ln w="12700">
            <a:solidFill>
              <a:srgbClr val="50E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909560" y="164592"/>
            <a:ext cx="1051560" cy="365760"/>
          </a:xfrm>
          <a:prstGeom prst="roundRect">
            <a:avLst>
              <a:gd name="adj" fmla="val 12500"/>
            </a:avLst>
          </a:prstGeom>
          <a:solidFill>
            <a:srgbClr val="50E6FF"/>
          </a:solidFill>
          <a:ln w="12700">
            <a:solidFill>
              <a:srgbClr val="50E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909560" y="16459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Q27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777240"/>
            <a:ext cx="78638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Microsoft Foundry?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20040" y="466801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300" dirty="0">
                <a:solidFill>
                  <a:srgbClr val="334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9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2050"/>
          </a:solidFill>
          <a:ln w="12700">
            <a:solidFill>
              <a:srgbClr val="002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64008" cy="5070348"/>
          </a:xfrm>
          <a:prstGeom prst="rect">
            <a:avLst/>
          </a:prstGeom>
          <a:solidFill>
            <a:srgbClr val="50E6FF"/>
          </a:solidFill>
          <a:ln w="12700">
            <a:solidFill>
              <a:srgbClr val="50E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909560" y="164592"/>
            <a:ext cx="1051560" cy="365760"/>
          </a:xfrm>
          <a:prstGeom prst="roundRect">
            <a:avLst>
              <a:gd name="adj" fmla="val 12500"/>
            </a:avLst>
          </a:prstGeom>
          <a:solidFill>
            <a:srgbClr val="50E6FF"/>
          </a:solidFill>
          <a:ln w="12700">
            <a:solidFill>
              <a:srgbClr val="50E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909560" y="16459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A27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685800"/>
            <a:ext cx="800100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2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Microsoft’s enterprise AI platform for building, deploying, and managing custom AI — includes model catalog, Azure AI Search, and safety tools.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11480" y="466801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9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002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0E6FF"/>
          </a:solidFill>
          <a:ln w="12700">
            <a:solidFill>
              <a:srgbClr val="50E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909560" y="164592"/>
            <a:ext cx="1051560" cy="365760"/>
          </a:xfrm>
          <a:prstGeom prst="roundRect">
            <a:avLst>
              <a:gd name="adj" fmla="val 12500"/>
            </a:avLst>
          </a:prstGeom>
          <a:solidFill>
            <a:srgbClr val="50E6FF"/>
          </a:solidFill>
          <a:ln w="12700">
            <a:solidFill>
              <a:srgbClr val="50E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909560" y="16459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Q28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777240"/>
            <a:ext cx="78638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Azure AI Search?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20040" y="466801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300" dirty="0">
                <a:solidFill>
                  <a:srgbClr val="334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9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2050"/>
          </a:solidFill>
          <a:ln w="12700">
            <a:solidFill>
              <a:srgbClr val="002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64008" cy="5070348"/>
          </a:xfrm>
          <a:prstGeom prst="rect">
            <a:avLst/>
          </a:prstGeom>
          <a:solidFill>
            <a:srgbClr val="50E6FF"/>
          </a:solidFill>
          <a:ln w="12700">
            <a:solidFill>
              <a:srgbClr val="50E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909560" y="164592"/>
            <a:ext cx="1051560" cy="365760"/>
          </a:xfrm>
          <a:prstGeom prst="roundRect">
            <a:avLst>
              <a:gd name="adj" fmla="val 12500"/>
            </a:avLst>
          </a:prstGeom>
          <a:solidFill>
            <a:srgbClr val="50E6FF"/>
          </a:solidFill>
          <a:ln w="12700">
            <a:solidFill>
              <a:srgbClr val="50E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909560" y="16459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A28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685800"/>
            <a:ext cx="800100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2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cloud service with vector and semantic search used to retrieve relevant content for RAG-based AI solutions.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11480" y="466801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9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002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0E6FF"/>
          </a:solidFill>
          <a:ln w="12700">
            <a:solidFill>
              <a:srgbClr val="50E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909560" y="164592"/>
            <a:ext cx="1051560" cy="365760"/>
          </a:xfrm>
          <a:prstGeom prst="roundRect">
            <a:avLst>
              <a:gd name="adj" fmla="val 12500"/>
            </a:avLst>
          </a:prstGeom>
          <a:solidFill>
            <a:srgbClr val="50E6FF"/>
          </a:solidFill>
          <a:ln w="12700">
            <a:solidFill>
              <a:srgbClr val="50E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909560" y="16459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Q29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777240"/>
            <a:ext cx="78638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Azure OpenAI Service?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20040" y="466801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300" dirty="0">
                <a:solidFill>
                  <a:srgbClr val="334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9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2050"/>
          </a:solidFill>
          <a:ln w="12700">
            <a:solidFill>
              <a:srgbClr val="002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64008" cy="5070348"/>
          </a:xfrm>
          <a:prstGeom prst="rect">
            <a:avLst/>
          </a:prstGeom>
          <a:solidFill>
            <a:srgbClr val="50E6FF"/>
          </a:solidFill>
          <a:ln w="12700">
            <a:solidFill>
              <a:srgbClr val="50E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909560" y="164592"/>
            <a:ext cx="1051560" cy="365760"/>
          </a:xfrm>
          <a:prstGeom prst="roundRect">
            <a:avLst>
              <a:gd name="adj" fmla="val 12500"/>
            </a:avLst>
          </a:prstGeom>
          <a:solidFill>
            <a:srgbClr val="50E6FF"/>
          </a:solidFill>
          <a:ln w="12700">
            <a:solidFill>
              <a:srgbClr val="50E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909560" y="16459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A29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685800"/>
            <a:ext cx="800100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2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managed Azure service providing enterprise access to OpenAI models (GPT-4, DALL-E) with built-in security and compliance.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11480" y="466801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9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002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0E6FF"/>
          </a:solidFill>
          <a:ln w="12700">
            <a:solidFill>
              <a:srgbClr val="50E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909560" y="164592"/>
            <a:ext cx="1051560" cy="365760"/>
          </a:xfrm>
          <a:prstGeom prst="roundRect">
            <a:avLst>
              <a:gd name="adj" fmla="val 12500"/>
            </a:avLst>
          </a:prstGeom>
          <a:solidFill>
            <a:srgbClr val="50E6FF"/>
          </a:solidFill>
          <a:ln w="12700">
            <a:solidFill>
              <a:srgbClr val="50E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909560" y="16459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Q30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777240"/>
            <a:ext cx="78638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would you choose Copilot Studio over M365 Copilot?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20040" y="466801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300" dirty="0">
                <a:solidFill>
                  <a:srgbClr val="334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9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2050"/>
          </a:solidFill>
          <a:ln w="12700">
            <a:solidFill>
              <a:srgbClr val="002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64008" cy="5070348"/>
          </a:xfrm>
          <a:prstGeom prst="rect">
            <a:avLst/>
          </a:prstGeom>
          <a:solidFill>
            <a:srgbClr val="50E6FF"/>
          </a:solidFill>
          <a:ln w="12700">
            <a:solidFill>
              <a:srgbClr val="50E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909560" y="164592"/>
            <a:ext cx="1051560" cy="365760"/>
          </a:xfrm>
          <a:prstGeom prst="roundRect">
            <a:avLst>
              <a:gd name="adj" fmla="val 12500"/>
            </a:avLst>
          </a:prstGeom>
          <a:solidFill>
            <a:srgbClr val="50E6FF"/>
          </a:solidFill>
          <a:ln w="12700">
            <a:solidFill>
              <a:srgbClr val="50E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909560" y="16459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A30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685800"/>
            <a:ext cx="800100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2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need custom workflows, external data connections (CRM, ERP), or tailored conversational experiences.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11480" y="466801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9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002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0E6FF"/>
          </a:solidFill>
          <a:ln w="12700">
            <a:solidFill>
              <a:srgbClr val="50E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909560" y="164592"/>
            <a:ext cx="1051560" cy="365760"/>
          </a:xfrm>
          <a:prstGeom prst="roundRect">
            <a:avLst>
              <a:gd name="adj" fmla="val 12500"/>
            </a:avLst>
          </a:prstGeom>
          <a:solidFill>
            <a:srgbClr val="50E6FF"/>
          </a:solidFill>
          <a:ln w="12700">
            <a:solidFill>
              <a:srgbClr val="50E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909560" y="16459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777240"/>
            <a:ext cx="78638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Azure AI Vision used for?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20040" y="466801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300" dirty="0">
                <a:solidFill>
                  <a:srgbClr val="334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9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2050"/>
          </a:solidFill>
          <a:ln w="12700">
            <a:solidFill>
              <a:srgbClr val="002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64008" cy="5070348"/>
          </a:xfrm>
          <a:prstGeom prst="rect">
            <a:avLst/>
          </a:prstGeom>
          <a:solidFill>
            <a:srgbClr val="50E6FF"/>
          </a:solidFill>
          <a:ln w="12700">
            <a:solidFill>
              <a:srgbClr val="50E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909560" y="164592"/>
            <a:ext cx="1051560" cy="365760"/>
          </a:xfrm>
          <a:prstGeom prst="roundRect">
            <a:avLst>
              <a:gd name="adj" fmla="val 12500"/>
            </a:avLst>
          </a:prstGeom>
          <a:solidFill>
            <a:srgbClr val="50E6FF"/>
          </a:solidFill>
          <a:ln w="12700">
            <a:solidFill>
              <a:srgbClr val="50E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909560" y="16459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A31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685800"/>
            <a:ext cx="800100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2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analysis, object detection, OCR (optical character recognition), and visual content processing at scale.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11480" y="466801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9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002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0E6FF"/>
          </a:solidFill>
          <a:ln w="12700">
            <a:solidFill>
              <a:srgbClr val="50E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909560" y="164592"/>
            <a:ext cx="1051560" cy="365760"/>
          </a:xfrm>
          <a:prstGeom prst="roundRect">
            <a:avLst>
              <a:gd name="adj" fmla="val 12500"/>
            </a:avLst>
          </a:prstGeom>
          <a:solidFill>
            <a:srgbClr val="50E6FF"/>
          </a:solidFill>
          <a:ln w="12700">
            <a:solidFill>
              <a:srgbClr val="50E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909560" y="16459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777240"/>
            <a:ext cx="78638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AI solution to business need.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20040" y="466801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300" dirty="0">
                <a:solidFill>
                  <a:srgbClr val="334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9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2050"/>
          </a:solidFill>
          <a:ln w="12700">
            <a:solidFill>
              <a:srgbClr val="002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64008" cy="5070348"/>
          </a:xfrm>
          <a:prstGeom prst="rect">
            <a:avLst/>
          </a:prstGeom>
          <a:solidFill>
            <a:srgbClr val="50E6FF"/>
          </a:solidFill>
          <a:ln w="12700">
            <a:solidFill>
              <a:srgbClr val="50E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909560" y="164592"/>
            <a:ext cx="1051560" cy="365760"/>
          </a:xfrm>
          <a:prstGeom prst="roundRect">
            <a:avLst>
              <a:gd name="adj" fmla="val 12500"/>
            </a:avLst>
          </a:prstGeom>
          <a:solidFill>
            <a:srgbClr val="50E6FF"/>
          </a:solidFill>
          <a:ln w="12700">
            <a:solidFill>
              <a:srgbClr val="50E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909560" y="16459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A32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685800"/>
            <a:ext cx="800100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2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 docs → M365 Copilot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dirty="0">
                <a:solidFill>
                  <a:srgbClr val="002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chatbot → Copilot Studio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dirty="0">
                <a:solidFill>
                  <a:srgbClr val="002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images → Azure AI Vision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dirty="0">
                <a:solidFill>
                  <a:srgbClr val="002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knowledge base → Azure AI Search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dirty="0">
                <a:solidFill>
                  <a:srgbClr val="002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enterprise AI → Microsoft Foundry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11480" y="466801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9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0078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2377440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3  •  Q33 – Q40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8046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&amp; Adoption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48640" y="32918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– 25% of exam  •  8 flashcards</a:t>
            </a:r>
            <a:endParaRPr lang="en-US" sz="16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002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0E6FF"/>
          </a:solidFill>
          <a:ln w="12700">
            <a:solidFill>
              <a:srgbClr val="50E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909560" y="164592"/>
            <a:ext cx="1051560" cy="365760"/>
          </a:xfrm>
          <a:prstGeom prst="roundRect">
            <a:avLst>
              <a:gd name="adj" fmla="val 12500"/>
            </a:avLst>
          </a:prstGeom>
          <a:solidFill>
            <a:srgbClr val="50E6FF"/>
          </a:solidFill>
          <a:ln w="12700">
            <a:solidFill>
              <a:srgbClr val="50E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909560" y="16459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777240"/>
            <a:ext cx="78638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the 6 Responsible AI principles?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20040" y="466801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300" dirty="0">
                <a:solidFill>
                  <a:srgbClr val="334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9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2050"/>
          </a:solidFill>
          <a:ln w="12700">
            <a:solidFill>
              <a:srgbClr val="002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64008" cy="5070348"/>
          </a:xfrm>
          <a:prstGeom prst="rect">
            <a:avLst/>
          </a:prstGeom>
          <a:solidFill>
            <a:srgbClr val="50E6FF"/>
          </a:solidFill>
          <a:ln w="12700">
            <a:solidFill>
              <a:srgbClr val="50E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909560" y="164592"/>
            <a:ext cx="1051560" cy="365760"/>
          </a:xfrm>
          <a:prstGeom prst="roundRect">
            <a:avLst>
              <a:gd name="adj" fmla="val 12500"/>
            </a:avLst>
          </a:prstGeom>
          <a:solidFill>
            <a:srgbClr val="50E6FF"/>
          </a:solidFill>
          <a:ln w="12700">
            <a:solidFill>
              <a:srgbClr val="50E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909560" y="16459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A33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685800"/>
            <a:ext cx="800100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2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  |  Reliability &amp; Safety  |  Privacy &amp; Security</a:t>
            </a:r>
            <a:endParaRPr lang="en-US" sz="2200" dirty="0"/>
          </a:p>
          <a:p>
            <a:pPr marL="0" indent="0" algn="ctr">
              <a:buNone/>
            </a:pPr>
            <a:endParaRPr lang="en-US" sz="2200" dirty="0"/>
          </a:p>
          <a:p>
            <a:pPr marL="0" indent="0" algn="ctr">
              <a:buNone/>
            </a:pPr>
            <a:r>
              <a:rPr lang="en-US" sz="2200" dirty="0">
                <a:solidFill>
                  <a:srgbClr val="002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Inclusiveness  |  Transparency  |  Accountability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11480" y="466801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9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002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0E6FF"/>
          </a:solidFill>
          <a:ln w="12700">
            <a:solidFill>
              <a:srgbClr val="50E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909560" y="164592"/>
            <a:ext cx="1051560" cy="365760"/>
          </a:xfrm>
          <a:prstGeom prst="roundRect">
            <a:avLst>
              <a:gd name="adj" fmla="val 12500"/>
            </a:avLst>
          </a:prstGeom>
          <a:solidFill>
            <a:srgbClr val="50E6FF"/>
          </a:solidFill>
          <a:ln w="12700">
            <a:solidFill>
              <a:srgbClr val="50E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909560" y="16459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Q34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777240"/>
            <a:ext cx="78638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Fairness.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20040" y="466801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300" dirty="0">
                <a:solidFill>
                  <a:srgbClr val="334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9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2050"/>
          </a:solidFill>
          <a:ln w="12700">
            <a:solidFill>
              <a:srgbClr val="002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64008" cy="5070348"/>
          </a:xfrm>
          <a:prstGeom prst="rect">
            <a:avLst/>
          </a:prstGeom>
          <a:solidFill>
            <a:srgbClr val="50E6FF"/>
          </a:solidFill>
          <a:ln w="12700">
            <a:solidFill>
              <a:srgbClr val="50E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909560" y="164592"/>
            <a:ext cx="1051560" cy="365760"/>
          </a:xfrm>
          <a:prstGeom prst="roundRect">
            <a:avLst>
              <a:gd name="adj" fmla="val 12500"/>
            </a:avLst>
          </a:prstGeom>
          <a:solidFill>
            <a:srgbClr val="50E6FF"/>
          </a:solidFill>
          <a:ln w="12700">
            <a:solidFill>
              <a:srgbClr val="50E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909560" y="16459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A34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685800"/>
            <a:ext cx="800100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2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systems treat all people equitably — avoiding differential impact based on race, gender, age, or other protected characteristics.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11480" y="466801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9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002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0E6FF"/>
          </a:solidFill>
          <a:ln w="12700">
            <a:solidFill>
              <a:srgbClr val="50E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909560" y="164592"/>
            <a:ext cx="1051560" cy="365760"/>
          </a:xfrm>
          <a:prstGeom prst="roundRect">
            <a:avLst>
              <a:gd name="adj" fmla="val 12500"/>
            </a:avLst>
          </a:prstGeom>
          <a:solidFill>
            <a:srgbClr val="50E6FF"/>
          </a:solidFill>
          <a:ln w="12700">
            <a:solidFill>
              <a:srgbClr val="50E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909560" y="16459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Q35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777240"/>
            <a:ext cx="78638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Transparency.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20040" y="466801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300" dirty="0">
                <a:solidFill>
                  <a:srgbClr val="334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9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2050"/>
          </a:solidFill>
          <a:ln w="12700">
            <a:solidFill>
              <a:srgbClr val="002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64008" cy="5070348"/>
          </a:xfrm>
          <a:prstGeom prst="rect">
            <a:avLst/>
          </a:prstGeom>
          <a:solidFill>
            <a:srgbClr val="50E6FF"/>
          </a:solidFill>
          <a:ln w="12700">
            <a:solidFill>
              <a:srgbClr val="50E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909560" y="164592"/>
            <a:ext cx="1051560" cy="365760"/>
          </a:xfrm>
          <a:prstGeom prst="roundRect">
            <a:avLst>
              <a:gd name="adj" fmla="val 12500"/>
            </a:avLst>
          </a:prstGeom>
          <a:solidFill>
            <a:srgbClr val="50E6FF"/>
          </a:solidFill>
          <a:ln w="12700">
            <a:solidFill>
              <a:srgbClr val="50E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909560" y="16459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A35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685800"/>
            <a:ext cx="800100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2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should understand how AI makes decisions — through explainability, clear documentation, and disclosure of AI use.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11480" y="466801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9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002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0E6FF"/>
          </a:solidFill>
          <a:ln w="12700">
            <a:solidFill>
              <a:srgbClr val="50E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909560" y="164592"/>
            <a:ext cx="1051560" cy="365760"/>
          </a:xfrm>
          <a:prstGeom prst="roundRect">
            <a:avLst>
              <a:gd name="adj" fmla="val 12500"/>
            </a:avLst>
          </a:prstGeom>
          <a:solidFill>
            <a:srgbClr val="50E6FF"/>
          </a:solidFill>
          <a:ln w="12700">
            <a:solidFill>
              <a:srgbClr val="50E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909560" y="16459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Q36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777240"/>
            <a:ext cx="78638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Accountability.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20040" y="466801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300" dirty="0">
                <a:solidFill>
                  <a:srgbClr val="334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9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2050"/>
          </a:solidFill>
          <a:ln w="12700">
            <a:solidFill>
              <a:srgbClr val="002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64008" cy="5070348"/>
          </a:xfrm>
          <a:prstGeom prst="rect">
            <a:avLst/>
          </a:prstGeom>
          <a:solidFill>
            <a:srgbClr val="50E6FF"/>
          </a:solidFill>
          <a:ln w="12700">
            <a:solidFill>
              <a:srgbClr val="50E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909560" y="164592"/>
            <a:ext cx="1051560" cy="365760"/>
          </a:xfrm>
          <a:prstGeom prst="roundRect">
            <a:avLst>
              <a:gd name="adj" fmla="val 12500"/>
            </a:avLst>
          </a:prstGeom>
          <a:solidFill>
            <a:srgbClr val="50E6FF"/>
          </a:solidFill>
          <a:ln w="12700">
            <a:solidFill>
              <a:srgbClr val="50E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909560" y="16459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A36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685800"/>
            <a:ext cx="800100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2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are responsible for AI systems — with clear governance, oversight mechanisms, and ways to address harm.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11480" y="466801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9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002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0E6FF"/>
          </a:solidFill>
          <a:ln w="12700">
            <a:solidFill>
              <a:srgbClr val="50E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909560" y="164592"/>
            <a:ext cx="1051560" cy="365760"/>
          </a:xfrm>
          <a:prstGeom prst="roundRect">
            <a:avLst>
              <a:gd name="adj" fmla="val 12500"/>
            </a:avLst>
          </a:prstGeom>
          <a:solidFill>
            <a:srgbClr val="50E6FF"/>
          </a:solidFill>
          <a:ln w="12700">
            <a:solidFill>
              <a:srgbClr val="50E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909560" y="16459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Q37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777240"/>
            <a:ext cx="78638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an AI Council?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20040" y="466801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300" dirty="0">
                <a:solidFill>
                  <a:srgbClr val="334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9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2050"/>
          </a:solidFill>
          <a:ln w="12700">
            <a:solidFill>
              <a:srgbClr val="002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64008" cy="5070348"/>
          </a:xfrm>
          <a:prstGeom prst="rect">
            <a:avLst/>
          </a:prstGeom>
          <a:solidFill>
            <a:srgbClr val="50E6FF"/>
          </a:solidFill>
          <a:ln w="12700">
            <a:solidFill>
              <a:srgbClr val="50E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909560" y="164592"/>
            <a:ext cx="1051560" cy="365760"/>
          </a:xfrm>
          <a:prstGeom prst="roundRect">
            <a:avLst>
              <a:gd name="adj" fmla="val 12500"/>
            </a:avLst>
          </a:prstGeom>
          <a:solidFill>
            <a:srgbClr val="50E6FF"/>
          </a:solidFill>
          <a:ln w="12700">
            <a:solidFill>
              <a:srgbClr val="50E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909560" y="16459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A37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685800"/>
            <a:ext cx="800100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2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cross-functional body (IT, legal, HR, business) that guides AI strategy, sets policies, and ensures responsible deployment.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11480" y="466801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9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002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0E6FF"/>
          </a:solidFill>
          <a:ln w="12700">
            <a:solidFill>
              <a:srgbClr val="50E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909560" y="164592"/>
            <a:ext cx="1051560" cy="365760"/>
          </a:xfrm>
          <a:prstGeom prst="roundRect">
            <a:avLst>
              <a:gd name="adj" fmla="val 12500"/>
            </a:avLst>
          </a:prstGeom>
          <a:solidFill>
            <a:srgbClr val="50E6FF"/>
          </a:solidFill>
          <a:ln w="12700">
            <a:solidFill>
              <a:srgbClr val="50E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909560" y="16459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Q38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777240"/>
            <a:ext cx="78638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common barriers to AI adoption?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20040" y="466801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300" dirty="0">
                <a:solidFill>
                  <a:srgbClr val="334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9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2050"/>
          </a:solidFill>
          <a:ln w="12700">
            <a:solidFill>
              <a:srgbClr val="002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64008" cy="5070348"/>
          </a:xfrm>
          <a:prstGeom prst="rect">
            <a:avLst/>
          </a:prstGeom>
          <a:solidFill>
            <a:srgbClr val="50E6FF"/>
          </a:solidFill>
          <a:ln w="12700">
            <a:solidFill>
              <a:srgbClr val="50E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909560" y="164592"/>
            <a:ext cx="1051560" cy="365760"/>
          </a:xfrm>
          <a:prstGeom prst="roundRect">
            <a:avLst>
              <a:gd name="adj" fmla="val 12500"/>
            </a:avLst>
          </a:prstGeom>
          <a:solidFill>
            <a:srgbClr val="50E6FF"/>
          </a:solidFill>
          <a:ln w="12700">
            <a:solidFill>
              <a:srgbClr val="50E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909560" y="16459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A38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685800"/>
            <a:ext cx="800100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2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Resistance to change, lack of training, unclear ROI, data quality concerns, security fears, and no executive sponsorship.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11480" y="466801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90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002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0E6FF"/>
          </a:solidFill>
          <a:ln w="12700">
            <a:solidFill>
              <a:srgbClr val="50E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909560" y="164592"/>
            <a:ext cx="1051560" cy="365760"/>
          </a:xfrm>
          <a:prstGeom prst="roundRect">
            <a:avLst>
              <a:gd name="adj" fmla="val 12500"/>
            </a:avLst>
          </a:prstGeom>
          <a:solidFill>
            <a:srgbClr val="50E6FF"/>
          </a:solidFill>
          <a:ln w="12700">
            <a:solidFill>
              <a:srgbClr val="50E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909560" y="16459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Q39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777240"/>
            <a:ext cx="78638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an AI Champions program?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20040" y="466801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300" dirty="0">
                <a:solidFill>
                  <a:srgbClr val="334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90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2050"/>
          </a:solidFill>
          <a:ln w="12700">
            <a:solidFill>
              <a:srgbClr val="002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64008" cy="5070348"/>
          </a:xfrm>
          <a:prstGeom prst="rect">
            <a:avLst/>
          </a:prstGeom>
          <a:solidFill>
            <a:srgbClr val="50E6FF"/>
          </a:solidFill>
          <a:ln w="12700">
            <a:solidFill>
              <a:srgbClr val="50E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909560" y="164592"/>
            <a:ext cx="1051560" cy="365760"/>
          </a:xfrm>
          <a:prstGeom prst="roundRect">
            <a:avLst>
              <a:gd name="adj" fmla="val 12500"/>
            </a:avLst>
          </a:prstGeom>
          <a:solidFill>
            <a:srgbClr val="50E6FF"/>
          </a:solidFill>
          <a:ln w="12700">
            <a:solidFill>
              <a:srgbClr val="50E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909560" y="16459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A39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685800"/>
            <a:ext cx="800100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2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network of early adopters who model AI use, train peers, surface feedback, and drive grassroots adoption across the org.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11480" y="466801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90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002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0E6FF"/>
          </a:solidFill>
          <a:ln w="12700">
            <a:solidFill>
              <a:srgbClr val="50E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909560" y="164592"/>
            <a:ext cx="1051560" cy="365760"/>
          </a:xfrm>
          <a:prstGeom prst="roundRect">
            <a:avLst>
              <a:gd name="adj" fmla="val 12500"/>
            </a:avLst>
          </a:prstGeom>
          <a:solidFill>
            <a:srgbClr val="50E6FF"/>
          </a:solidFill>
          <a:ln w="12700">
            <a:solidFill>
              <a:srgbClr val="50E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909560" y="16459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Q40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777240"/>
            <a:ext cx="78638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M365 Copilot licensing models?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20040" y="466801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300" dirty="0">
                <a:solidFill>
                  <a:srgbClr val="334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90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2050"/>
          </a:solidFill>
          <a:ln w="12700">
            <a:solidFill>
              <a:srgbClr val="002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64008" cy="5070348"/>
          </a:xfrm>
          <a:prstGeom prst="rect">
            <a:avLst/>
          </a:prstGeom>
          <a:solidFill>
            <a:srgbClr val="50E6FF"/>
          </a:solidFill>
          <a:ln w="12700">
            <a:solidFill>
              <a:srgbClr val="50E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909560" y="164592"/>
            <a:ext cx="1051560" cy="365760"/>
          </a:xfrm>
          <a:prstGeom prst="roundRect">
            <a:avLst>
              <a:gd name="adj" fmla="val 12500"/>
            </a:avLst>
          </a:prstGeom>
          <a:solidFill>
            <a:srgbClr val="50E6FF"/>
          </a:solidFill>
          <a:ln w="12700">
            <a:solidFill>
              <a:srgbClr val="50E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909560" y="16459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A40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685800"/>
            <a:ext cx="800100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2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Included with certain M365 SKUs, monthly per-user subscription, or pay-as-you-go.</a:t>
            </a:r>
            <a:endParaRPr lang="en-US" sz="2200" dirty="0"/>
          </a:p>
          <a:p>
            <a:pPr marL="0" indent="0" algn="ctr">
              <a:buNone/>
            </a:pPr>
            <a:endParaRPr lang="en-US" sz="2200" dirty="0"/>
          </a:p>
          <a:p>
            <a:pPr marL="0" indent="0" algn="ctr">
              <a:buNone/>
            </a:pPr>
            <a:r>
              <a:rPr lang="en-US" sz="2200" dirty="0">
                <a:solidFill>
                  <a:srgbClr val="002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AI uses per-API-call or prepaid commitment pricing.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11480" y="466801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1403</Words>
  <Application>Microsoft Office PowerPoint</Application>
  <PresentationFormat>On-screen Show (16:9)</PresentationFormat>
  <Paragraphs>363</Paragraphs>
  <Slides>84</Slides>
  <Notes>84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84</vt:i4>
      </vt:variant>
    </vt:vector>
  </HeadingPairs>
  <TitlesOfParts>
    <vt:vector size="8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AB-731 Flashcards — AI Transformation Leader</dc:title>
  <dc:subject>PptxGenJS Presentation</dc:subject>
  <dc:creator>John Rea</dc:creator>
  <cp:lastModifiedBy>John Rea</cp:lastModifiedBy>
  <cp:revision>1</cp:revision>
  <dcterms:created xsi:type="dcterms:W3CDTF">2026-04-14T17:56:24Z</dcterms:created>
  <dcterms:modified xsi:type="dcterms:W3CDTF">2026-04-20T18:45:47Z</dcterms:modified>
</cp:coreProperties>
</file>