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33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ea" userId="d8639818-8097-4ceb-a926-1c095acca351" providerId="ADAL" clId="{0FCD4BB8-3B4B-4ACD-9B0D-ECB696CB557E}"/>
    <pc:docChg chg="custSel modSld">
      <pc:chgData name="John Rea" userId="d8639818-8097-4ceb-a926-1c095acca351" providerId="ADAL" clId="{0FCD4BB8-3B4B-4ACD-9B0D-ECB696CB557E}" dt="2026-03-24T17:13:05.351" v="11" actId="26606"/>
      <pc:docMkLst>
        <pc:docMk/>
      </pc:docMkLst>
      <pc:sldChg chg="modSp mod setBg">
        <pc:chgData name="John Rea" userId="d8639818-8097-4ceb-a926-1c095acca351" providerId="ADAL" clId="{0FCD4BB8-3B4B-4ACD-9B0D-ECB696CB557E}" dt="2026-03-24T17:13:05.351" v="11" actId="26606"/>
        <pc:sldMkLst>
          <pc:docMk/>
          <pc:sldMk cId="0" sldId="256"/>
        </pc:sldMkLst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4T17:13:05.351" v="11" actId="26606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72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78D4"/>
          </a:solidFill>
          <a:ln w="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1188720" cy="3200400"/>
          </a:xfrm>
          <a:prstGeom prst="rect">
            <a:avLst/>
          </a:prstGeom>
          <a:solidFill>
            <a:srgbClr val="0078D4">
              <a:alpha val="40000"/>
              <a:alpha val="12000"/>
            </a:srgbClr>
          </a:solidFill>
          <a:ln w="12700">
            <a:solidFill>
              <a:srgbClr val="0078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E8F3FC">
              <a:alpha val="60000"/>
              <a:alpha val="100000"/>
            </a:srgbClr>
          </a:solidFill>
          <a:ln w="12700">
            <a:solidFill>
              <a:srgbClr val="E8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7132320" cy="0"/>
          </a:xfrm>
          <a:prstGeom prst="line">
            <a:avLst/>
          </a:prstGeom>
          <a:noFill/>
          <a:ln w="12700">
            <a:solidFill>
              <a:srgbClr val="D0D0D0">
                <a:alpha val="60000"/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0078D4"/>
                </a:solidFill>
                <a:latin typeface="Segoe UI"/>
                <a:ea typeface="Calibri" pitchFamily="34" charset="-122"/>
                <a:cs typeface="Segoe UI"/>
              </a:rPr>
              <a:t>INSPIRE BRANDS × MICROSOFT</a:t>
            </a:r>
            <a:endParaRPr lang="en-US" sz="1200" b="1">
              <a:solidFill>
                <a:srgbClr val="0078D4"/>
              </a:solidFill>
              <a:latin typeface="Segoe UI"/>
              <a:cs typeface="Segoe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>
                <a:solidFill>
                  <a:srgbClr val="1A1A1A"/>
                </a:solidFill>
                <a:latin typeface="Segoe UI"/>
                <a:ea typeface="Calibri" pitchFamily="34" charset="-122"/>
                <a:cs typeface="Segoe UI"/>
              </a:rPr>
              <a:t>AI Agents</a:t>
            </a:r>
            <a:endParaRPr lang="en-US" sz="5200" b="1">
              <a:solidFill>
                <a:srgbClr val="1A1A1A"/>
              </a:solidFill>
              <a:latin typeface="Segoe UI"/>
              <a:cs typeface="Segoe UI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5200" b="1">
                <a:solidFill>
                  <a:srgbClr val="1A1A1A"/>
                </a:solidFill>
                <a:latin typeface="Segoe UI"/>
                <a:ea typeface="Calibri" pitchFamily="34" charset="-122"/>
                <a:cs typeface="Segoe UI"/>
              </a:rPr>
              <a:t>Training Plan</a:t>
            </a:r>
            <a:endParaRPr lang="en-US" sz="5200" b="1">
              <a:solidFill>
                <a:srgbClr val="1A1A1A"/>
              </a:solidFill>
              <a:latin typeface="Segoe UI"/>
              <a:cs typeface="Segoe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7934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>
                <a:solidFill>
                  <a:srgbClr val="4A4A4A"/>
                </a:solidFill>
                <a:latin typeface="Segoe UI"/>
                <a:ea typeface="Calibri" pitchFamily="34" charset="-122"/>
                <a:cs typeface="Segoe UI"/>
              </a:rPr>
              <a:t>Inspire Brands x Microsoft</a:t>
            </a:r>
            <a:endParaRPr lang="en-US" sz="1800">
              <a:solidFill>
                <a:srgbClr val="4A4A4A"/>
              </a:solidFill>
              <a:latin typeface="Segoe UI"/>
              <a:cs typeface="Segoe U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4A4A4A"/>
                </a:solidFill>
                <a:latin typeface="Segoe UI"/>
                <a:ea typeface="Calibri" pitchFamily="34" charset="-122"/>
                <a:cs typeface="Segoe UI"/>
              </a:rPr>
              <a:t>John Rea  |  SR Cloud Solution Architect</a:t>
            </a:r>
            <a:endParaRPr lang="en-US" sz="1400">
              <a:solidFill>
                <a:srgbClr val="4A4A4A"/>
              </a:solidFill>
              <a:latin typeface="Segoe UI"/>
              <a:cs typeface="Segoe U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4A4A"/>
                </a:solidFill>
                <a:latin typeface="Segoe UI"/>
                <a:ea typeface="Calibri" pitchFamily="34" charset="-122"/>
                <a:cs typeface="Segoe UI"/>
              </a:rPr>
              <a:t>March 31, 2026  |  Canton, MA  |  Onsite</a:t>
            </a:r>
            <a:endParaRPr lang="en-US" sz="1300">
              <a:solidFill>
                <a:srgbClr val="4A4A4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549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4008" cy="67665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384048" cy="38404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02412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AI agents are and how they differ from traditional automation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773936"/>
            <a:ext cx="8549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773936"/>
            <a:ext cx="64008" cy="676656"/>
          </a:xfrm>
          <a:prstGeom prst="rect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181051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AI agent use cases specific to Inspire Brands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560320"/>
            <a:ext cx="8549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560320"/>
            <a:ext cx="64008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" y="270662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59689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functional agent using Microsoft Copilot Studio (no-code/low-code)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3346704"/>
            <a:ext cx="8549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346704"/>
            <a:ext cx="64008" cy="6766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3493008"/>
            <a:ext cx="384048" cy="38404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 agent to at least one real data source or action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7472" y="4133088"/>
            <a:ext cx="8549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133088"/>
            <a:ext cx="64008" cy="6766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" y="4279392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41696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live agent demo with a clear business impact statement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For?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4069080" cy="3931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536192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and operations managers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and innovation champions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3–5 participants per hackathon team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1728" y="932688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81728" y="932688"/>
            <a:ext cx="42062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024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536192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experience required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account needed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access (environments provisioned by Microsoft)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at make.powerapps.com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14400"/>
          <a:ext cx="8549640" cy="3977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8:00–8:30 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&amp; Introductions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8:30–9:30 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Agents: Concepts &amp; Capabilities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Q&amp;A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9:30–10:30 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Studio Hands-On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+ 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10:30–11:00 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 Challenge Kickoff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 AM–1:00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Build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1:00–1:30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Demos &amp; Judging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1:30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 Announcement &amp; Closing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Agents?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4008" cy="11704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1115568"/>
            <a:ext cx="384048" cy="2560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1155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078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4081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their environment, make decisions, and take 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32257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322576"/>
            <a:ext cx="64008" cy="11704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" y="2450592"/>
            <a:ext cx="384048" cy="2560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4505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24140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Planning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reason, plan, use tools, and collaborate with other agents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6576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3657600"/>
            <a:ext cx="64008" cy="11704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" y="3785616"/>
            <a:ext cx="384048" cy="2560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3749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Foundation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07822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large language models (LLMs) with enterprise data access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98755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987552"/>
            <a:ext cx="64008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115568"/>
            <a:ext cx="38404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1155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1078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 Types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4081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Custom Engine, and Autonomous Agents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32257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322576"/>
            <a:ext cx="64008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92040" y="2450592"/>
            <a:ext cx="38404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24505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140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enterprise AI agent platform built into Microsoft 365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Microsoft AI Agent Landscape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724912" cy="3931920"/>
          </a:xfrm>
          <a:prstGeom prst="rect">
            <a:avLst/>
          </a:prstGeom>
          <a:solidFill>
            <a:srgbClr val="1E3A8A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724912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89888" y="1115568"/>
            <a:ext cx="640080" cy="640080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89888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9202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24231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everyday AI assistant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816352"/>
            <a:ext cx="2176272" cy="0"/>
          </a:xfrm>
          <a:prstGeom prst="line">
            <a:avLst/>
          </a:prstGeom>
          <a:noFill/>
          <a:ln w="6350">
            <a:solidFill>
              <a:srgbClr val="4FC3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2971800"/>
            <a:ext cx="23957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Word, Excel, Teams, and Outlook — built in and ready to 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24912" cy="3931920"/>
          </a:xfrm>
          <a:prstGeom prst="rect">
            <a:avLst/>
          </a:prstGeom>
          <a:solidFill>
            <a:srgbClr val="1E4070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24912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42816" y="1115568"/>
            <a:ext cx="640080" cy="640080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42816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4231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 no-code builder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2816352"/>
            <a:ext cx="2176272" cy="0"/>
          </a:xfrm>
          <a:prstGeom prst="line">
            <a:avLst/>
          </a:prstGeom>
          <a:noFill/>
          <a:ln w="6350">
            <a:solidFill>
              <a:srgbClr val="CADCF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64992" y="2971800"/>
            <a:ext cx="23957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1,000+ data sources, publish anywhere — designed for business and IT teams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53328" y="914400"/>
            <a:ext cx="2724912" cy="3931920"/>
          </a:xfrm>
          <a:prstGeom prst="rect">
            <a:avLst/>
          </a:prstGeom>
          <a:solidFill>
            <a:srgbClr val="1B3060"/>
          </a:solidFill>
          <a:ln w="19050">
            <a:solidFill>
              <a:srgbClr val="7DD3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53328" y="914400"/>
            <a:ext cx="2724912" cy="6400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95744" y="1115568"/>
            <a:ext cx="640080" cy="640080"/>
          </a:xfrm>
          <a:prstGeom prst="ellipse">
            <a:avLst/>
          </a:prstGeom>
          <a:solidFill>
            <a:srgbClr val="7DD3FC">
              <a:alpha val="80000"/>
            </a:srgbClr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95744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0488" y="19202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90488" y="24231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27648" y="2816352"/>
            <a:ext cx="2176272" cy="0"/>
          </a:xfrm>
          <a:prstGeom prst="line">
            <a:avLst/>
          </a:prstGeom>
          <a:noFill/>
          <a:ln w="6350">
            <a:solidFill>
              <a:srgbClr val="7DD3F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2971800"/>
            <a:ext cx="23957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teams with multi-agent orchestration and advanced customization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Work — Under the Hood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706624" cy="6400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1152144"/>
            <a:ext cx="457200" cy="4572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272" y="115214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73736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message, event, or scheduled task initiates the 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54096" y="190195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987552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987552"/>
            <a:ext cx="2706624" cy="64008"/>
          </a:xfrm>
          <a:prstGeom prst="rect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55848" y="1152144"/>
            <a:ext cx="457200" cy="457200"/>
          </a:xfrm>
          <a:prstGeom prst="ellipse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55848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04488" y="115214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173736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interprets the request, selects tools, and plans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25312" y="190195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9904" y="987552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9904" y="987552"/>
            <a:ext cx="270662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27064" y="1152144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27064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75704" y="115214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27064" y="173736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APIs, searches knowledge bases, runs Power Automate flows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2980944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2980944"/>
            <a:ext cx="2706624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" y="3145536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3272" y="31455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" y="3730752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(conversation) + long-term (SharePoint, Dataverse)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54096" y="3895344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18688" y="2980944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18688" y="2980944"/>
            <a:ext cx="2706624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55848" y="3145536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55848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904488" y="31455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55848" y="3730752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responds, takes action, or hands off to a human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25312" y="3895344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9904" y="2980944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9904" y="2980944"/>
            <a:ext cx="2706624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27064" y="3145536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27064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75704" y="31455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27064" y="3730752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and escalation paths keep humans in control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Use Cases for Inspire Brands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1330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4008" cy="1188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389888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scheduling, inventory alerts, franchise compliance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322576"/>
            <a:ext cx="41330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2322576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241401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724912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loyalty agent, personalized offer recommendations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657600"/>
            <a:ext cx="41330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3657600"/>
            <a:ext cx="64008" cy="1188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374904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4059936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order tracking, demand forecasting, disruption alerts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987552"/>
            <a:ext cx="41330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64008" cy="1188720"/>
          </a:xfrm>
          <a:prstGeom prst="rect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07899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E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TRAINING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389888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agents for new franchise staff, policy Q&amp;A bots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1728" y="2322576"/>
            <a:ext cx="41330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2322576"/>
            <a:ext cx="64008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41401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24912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processing, royalty reconciliation, budget variance alerts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1728" y="3657600"/>
            <a:ext cx="41330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81728" y="3657600"/>
            <a:ext cx="64008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74904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059936"/>
            <a:ext cx="3877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brief generation, content approval workflows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Agents with Microsoft Copilot Studio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4008" cy="1188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 no-code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44475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both business and IT teams — no developer required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36592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36592" y="987552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Connectors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44475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data sources via connectors and Microsoft Graph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331720"/>
            <a:ext cx="64008" cy="1188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441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Anywhere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Teams, SharePoint, websites, and custom apps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36592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36592" y="233172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2441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safety, compliance, and enterprise security controls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" y="367588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675888"/>
            <a:ext cx="64008" cy="1188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7856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Build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" y="41330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topic, use a template, or describe with natural language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36592" y="367588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36592" y="3675888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37856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Analytics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41330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 with analytics and conversation logs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Hackathon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389120" cy="3977640"/>
          </a:xfrm>
          <a:prstGeom prst="rect">
            <a:avLst/>
          </a:prstGeom>
          <a:solidFill>
            <a:srgbClr val="253480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38912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&amp; GROUND RULES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Agent that solves a real business problem at Inspire Brands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3–5 people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Microsoft Copilot Studio (environments provided)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must connect to at least one real data source or action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required — no slides-only submissions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868680"/>
            <a:ext cx="3931920" cy="3977640"/>
          </a:xfrm>
          <a:prstGeom prst="rect">
            <a:avLst/>
          </a:prstGeom>
          <a:solidFill>
            <a:srgbClr val="1E3A8A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92040" y="868680"/>
            <a:ext cx="393192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9875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1444752"/>
            <a:ext cx="3566160" cy="530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0" y="1517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1517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4920" y="2130552"/>
            <a:ext cx="3566160" cy="530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2203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203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4920" y="2816352"/>
            <a:ext cx="3566160" cy="530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2889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28895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74920" y="3502152"/>
            <a:ext cx="3566160" cy="530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3575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Quality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575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4224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announcement at 1:30 PM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Prizes: Microsoft swag + leadership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841248"/>
            <a:ext cx="2743200" cy="32918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8412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 MINUTES PER TEAM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270662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2706624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1453896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1453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43584" y="2304288"/>
            <a:ext cx="914400" cy="274320"/>
          </a:xfrm>
          <a:prstGeom prst="rect">
            <a:avLst/>
          </a:prstGeom>
          <a:solidFill>
            <a:srgbClr val="1B2A6B">
              <a:alpha val="80000"/>
            </a:srgbClr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43584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" y="317296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challenge did your team choose? Why does it matter to Inspire Brands?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18688" y="1298448"/>
            <a:ext cx="270662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1298448"/>
            <a:ext cx="270662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42816" y="1453896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42816" y="1453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14800" y="2304288"/>
            <a:ext cx="914400" cy="27432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317296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agent in action — real data, real actions, real output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9904" y="1298448"/>
            <a:ext cx="270662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9904" y="1298448"/>
            <a:ext cx="2706624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14032" y="1453896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14032" y="1453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86016" y="2304288"/>
            <a:ext cx="914400" cy="27432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86016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Statement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54496" y="317296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measurable business value? Time saved, errors reduced, revenue protected?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4069080" cy="3931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WORKSHOP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499616"/>
            <a:ext cx="3566160" cy="0"/>
          </a:xfrm>
          <a:prstGeom prst="line">
            <a:avLst/>
          </a:prstGeom>
          <a:noFill/>
          <a:ln w="635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65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make.powerapps.com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2276856"/>
            <a:ext cx="3566160" cy="0"/>
          </a:xfrm>
          <a:prstGeom prst="line">
            <a:avLst/>
          </a:prstGeom>
          <a:noFill/>
          <a:ln w="635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642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learn.microsoft.com/copilot-studio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3054096"/>
            <a:ext cx="3566160" cy="0"/>
          </a:xfrm>
          <a:prstGeom prst="line">
            <a:avLst/>
          </a:prstGeom>
          <a:noFill/>
          <a:ln w="635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Guides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419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on SharePoint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3831336"/>
            <a:ext cx="3566160" cy="0"/>
          </a:xfrm>
          <a:prstGeom prst="line">
            <a:avLst/>
          </a:prstGeom>
          <a:noFill/>
          <a:ln w="635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904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Microsoft CSA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197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john.rea@microsoft.com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81728" y="932688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81728" y="932688"/>
            <a:ext cx="420624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1042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WORKSHOP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64608" y="1636776"/>
            <a:ext cx="347472" cy="347472"/>
          </a:xfrm>
          <a:prstGeom prst="ellipse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15087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agents considered for production pilot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64608" y="2478024"/>
            <a:ext cx="347472" cy="347472"/>
          </a:xfrm>
          <a:prstGeom prst="ellipse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235000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FastTrack support available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64608" y="3319272"/>
            <a:ext cx="347472" cy="347472"/>
          </a:xfrm>
          <a:prstGeom prst="ellipse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21808" y="319125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AI Office Hours with Microsoft account team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64608" y="4160520"/>
            <a:ext cx="347472" cy="347472"/>
          </a:xfrm>
          <a:prstGeom prst="ellipse">
            <a:avLst/>
          </a:prstGeom>
          <a:solidFill>
            <a:srgbClr val="2E3FA3"/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1808" y="40325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Microsoft AI Champion program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613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549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4008" cy="69494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152144"/>
            <a:ext cx="132588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38528" y="11521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March 28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042416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Copilot Studio environments for all participants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92224"/>
            <a:ext cx="8549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1792224"/>
            <a:ext cx="64008" cy="69494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1956816"/>
            <a:ext cx="132588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568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38528" y="1956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March 30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1847088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workshop guides on SharePoint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" y="2596896"/>
            <a:ext cx="8549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2596896"/>
            <a:ext cx="64008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2761488"/>
            <a:ext cx="13258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7614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Brands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38528" y="27614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March 30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2651760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final attendee list and team assignments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" y="3401568"/>
            <a:ext cx="8549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3401568"/>
            <a:ext cx="64008" cy="6949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566160"/>
            <a:ext cx="132588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661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38528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7:30 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456432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setup and AV check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" y="4206240"/>
            <a:ext cx="8549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4206240"/>
            <a:ext cx="64008" cy="69494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" y="4370832"/>
            <a:ext cx="132588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3708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Post-Workshop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370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weeks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4261104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pilot deployment review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E3FA3">
              <a:alpha val="35000"/>
            </a:srgbClr>
          </a:solidFill>
          <a:ln w="12700">
            <a:solidFill>
              <a:srgbClr val="2E3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Inspire Brands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1905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best way to predict the future is to build it.”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Rea  |  SR Cloud Solution Architect  |  Microsoft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041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john.rea@microsoft.com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916</Words>
  <Application>Microsoft Office PowerPoint</Application>
  <PresentationFormat>On-screen Show (16:9)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Training Plan — Inspire Brands</dc:title>
  <dc:subject>PptxGenJS Presentation</dc:subject>
  <dc:creator>John Rea, Microsoft</dc:creator>
  <cp:lastModifiedBy>John Rea</cp:lastModifiedBy>
  <cp:revision>2</cp:revision>
  <dcterms:created xsi:type="dcterms:W3CDTF">2026-03-19T18:05:27Z</dcterms:created>
  <dcterms:modified xsi:type="dcterms:W3CDTF">2026-03-24T17:13:14Z</dcterms:modified>
</cp:coreProperties>
</file>