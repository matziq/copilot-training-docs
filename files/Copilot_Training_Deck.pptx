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85" r:id="rId25"/>
    <p:sldId id="286" r:id="rId26"/>
    <p:sldId id="279" r:id="rId27"/>
    <p:sldId id="280" r:id="rId28"/>
    <p:sldId id="282" r:id="rId29"/>
    <p:sldId id="283" r:id="rId3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9DEEFC0-BB78-4286-A0B7-9A320EDB6740}" v="117" dt="2026-03-24T15:18:24.1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0" d="100"/>
          <a:sy n="160" d="100"/>
        </p:scale>
        <p:origin x="2299" y="1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Rea" userId="d8639818-8097-4ceb-a926-1c095acca351" providerId="ADAL" clId="{0FCD4BB8-3B4B-4ACD-9B0D-ECB696CB557E}"/>
    <pc:docChg chg="undo custSel addSld modSld">
      <pc:chgData name="John Rea" userId="d8639818-8097-4ceb-a926-1c095acca351" providerId="ADAL" clId="{0FCD4BB8-3B4B-4ACD-9B0D-ECB696CB557E}" dt="2026-03-24T15:40:56.871" v="405" actId="1076"/>
      <pc:docMkLst>
        <pc:docMk/>
      </pc:docMkLst>
      <pc:sldChg chg="addSp delSp modSp add mod setBg">
        <pc:chgData name="John Rea" userId="d8639818-8097-4ceb-a926-1c095acca351" providerId="ADAL" clId="{0FCD4BB8-3B4B-4ACD-9B0D-ECB696CB557E}" dt="2026-03-24T15:40:56.871" v="405" actId="1076"/>
        <pc:sldMkLst>
          <pc:docMk/>
          <pc:sldMk cId="705130868" sldId="286"/>
        </pc:sldMkLst>
        <pc:spChg chg="mod">
          <ac:chgData name="John Rea" userId="d8639818-8097-4ceb-a926-1c095acca351" providerId="ADAL" clId="{0FCD4BB8-3B4B-4ACD-9B0D-ECB696CB557E}" dt="2026-03-24T15:33:51.908" v="124" actId="26606"/>
          <ac:spMkLst>
            <pc:docMk/>
            <pc:sldMk cId="705130868" sldId="286"/>
            <ac:spMk id="2" creationId="{E5A9A79C-B6BE-F22A-EEA0-71BE3A64E5CA}"/>
          </ac:spMkLst>
        </pc:spChg>
        <pc:spChg chg="mod">
          <ac:chgData name="John Rea" userId="d8639818-8097-4ceb-a926-1c095acca351" providerId="ADAL" clId="{0FCD4BB8-3B4B-4ACD-9B0D-ECB696CB557E}" dt="2026-03-24T15:33:51.908" v="124" actId="26606"/>
          <ac:spMkLst>
            <pc:docMk/>
            <pc:sldMk cId="705130868" sldId="286"/>
            <ac:spMk id="3" creationId="{6E0BC3F0-E468-1A9E-1235-4160019057FA}"/>
          </ac:spMkLst>
        </pc:spChg>
        <pc:spChg chg="del mod">
          <ac:chgData name="John Rea" userId="d8639818-8097-4ceb-a926-1c095acca351" providerId="ADAL" clId="{0FCD4BB8-3B4B-4ACD-9B0D-ECB696CB557E}" dt="2026-03-24T15:27:40.684" v="28" actId="478"/>
          <ac:spMkLst>
            <pc:docMk/>
            <pc:sldMk cId="705130868" sldId="286"/>
            <ac:spMk id="6" creationId="{68F87EA4-82FC-ECF4-F63A-817DD42C2F62}"/>
          </ac:spMkLst>
        </pc:spChg>
        <pc:spChg chg="add mod">
          <ac:chgData name="John Rea" userId="d8639818-8097-4ceb-a926-1c095acca351" providerId="ADAL" clId="{0FCD4BB8-3B4B-4ACD-9B0D-ECB696CB557E}" dt="2026-03-24T15:36:20.827" v="401" actId="20577"/>
          <ac:spMkLst>
            <pc:docMk/>
            <pc:sldMk cId="705130868" sldId="286"/>
            <ac:spMk id="7" creationId="{0EA851A3-303A-BB04-8510-7DF818B94AF5}"/>
          </ac:spMkLst>
        </pc:spChg>
        <pc:spChg chg="add mod">
          <ac:chgData name="John Rea" userId="d8639818-8097-4ceb-a926-1c095acca351" providerId="ADAL" clId="{0FCD4BB8-3B4B-4ACD-9B0D-ECB696CB557E}" dt="2026-03-24T15:36:32.387" v="403" actId="1076"/>
          <ac:spMkLst>
            <pc:docMk/>
            <pc:sldMk cId="705130868" sldId="286"/>
            <ac:spMk id="9" creationId="{AEEE76DA-E52D-9560-4822-ECB4785E5254}"/>
          </ac:spMkLst>
        </pc:spChg>
        <pc:spChg chg="add mod">
          <ac:chgData name="John Rea" userId="d8639818-8097-4ceb-a926-1c095acca351" providerId="ADAL" clId="{0FCD4BB8-3B4B-4ACD-9B0D-ECB696CB557E}" dt="2026-03-24T15:36:34.927" v="404" actId="1076"/>
          <ac:spMkLst>
            <pc:docMk/>
            <pc:sldMk cId="705130868" sldId="286"/>
            <ac:spMk id="11" creationId="{F9A699ED-65D9-01EC-0579-745D492B21EC}"/>
          </ac:spMkLst>
        </pc:spChg>
        <pc:spChg chg="add del">
          <ac:chgData name="John Rea" userId="d8639818-8097-4ceb-a926-1c095acca351" providerId="ADAL" clId="{0FCD4BB8-3B4B-4ACD-9B0D-ECB696CB557E}" dt="2026-03-24T15:33:31.357" v="116" actId="26606"/>
          <ac:spMkLst>
            <pc:docMk/>
            <pc:sldMk cId="705130868" sldId="286"/>
            <ac:spMk id="15" creationId="{EE5F705A-5E81-4B3A-8EF4-911982DB313C}"/>
          </ac:spMkLst>
        </pc:spChg>
        <pc:spChg chg="add del">
          <ac:chgData name="John Rea" userId="d8639818-8097-4ceb-a926-1c095acca351" providerId="ADAL" clId="{0FCD4BB8-3B4B-4ACD-9B0D-ECB696CB557E}" dt="2026-03-24T15:33:31.357" v="116" actId="26606"/>
          <ac:spMkLst>
            <pc:docMk/>
            <pc:sldMk cId="705130868" sldId="286"/>
            <ac:spMk id="16" creationId="{AD8F92D9-1751-4ABF-9CB7-D198C9A05A46}"/>
          </ac:spMkLst>
        </pc:spChg>
        <pc:spChg chg="add del">
          <ac:chgData name="John Rea" userId="d8639818-8097-4ceb-a926-1c095acca351" providerId="ADAL" clId="{0FCD4BB8-3B4B-4ACD-9B0D-ECB696CB557E}" dt="2026-03-24T15:33:31.357" v="116" actId="26606"/>
          <ac:spMkLst>
            <pc:docMk/>
            <pc:sldMk cId="705130868" sldId="286"/>
            <ac:spMk id="17" creationId="{6D6B998F-CA62-4EE6-B7E7-046377D4F7EF}"/>
          </ac:spMkLst>
        </pc:spChg>
        <pc:spChg chg="add del">
          <ac:chgData name="John Rea" userId="d8639818-8097-4ceb-a926-1c095acca351" providerId="ADAL" clId="{0FCD4BB8-3B4B-4ACD-9B0D-ECB696CB557E}" dt="2026-03-24T15:33:19.046" v="106" actId="26606"/>
          <ac:spMkLst>
            <pc:docMk/>
            <pc:sldMk cId="705130868" sldId="286"/>
            <ac:spMk id="18" creationId="{854ECEBE-9353-406C-9313-02A517A310EF}"/>
          </ac:spMkLst>
        </pc:spChg>
        <pc:spChg chg="add del">
          <ac:chgData name="John Rea" userId="d8639818-8097-4ceb-a926-1c095acca351" providerId="ADAL" clId="{0FCD4BB8-3B4B-4ACD-9B0D-ECB696CB557E}" dt="2026-03-24T15:33:32.569" v="118" actId="26606"/>
          <ac:spMkLst>
            <pc:docMk/>
            <pc:sldMk cId="705130868" sldId="286"/>
            <ac:spMk id="19" creationId="{5D1D4658-32CD-4903-BDA6-7B54EEA4ED6F}"/>
          </ac:spMkLst>
        </pc:spChg>
        <pc:spChg chg="add del">
          <ac:chgData name="John Rea" userId="d8639818-8097-4ceb-a926-1c095acca351" providerId="ADAL" clId="{0FCD4BB8-3B4B-4ACD-9B0D-ECB696CB557E}" dt="2026-03-24T15:33:19.046" v="106" actId="26606"/>
          <ac:spMkLst>
            <pc:docMk/>
            <pc:sldMk cId="705130868" sldId="286"/>
            <ac:spMk id="20" creationId="{71A74C97-ECC4-4C3A-988A-A72C1F8BBAC8}"/>
          </ac:spMkLst>
        </pc:spChg>
        <pc:spChg chg="add del">
          <ac:chgData name="John Rea" userId="d8639818-8097-4ceb-a926-1c095acca351" providerId="ADAL" clId="{0FCD4BB8-3B4B-4ACD-9B0D-ECB696CB557E}" dt="2026-03-24T15:33:32.569" v="118" actId="26606"/>
          <ac:spMkLst>
            <pc:docMk/>
            <pc:sldMk cId="705130868" sldId="286"/>
            <ac:spMk id="21" creationId="{7A29A97C-0C3C-4F06-9CA4-68DFD1CE4039}"/>
          </ac:spMkLst>
        </pc:spChg>
        <pc:spChg chg="add del">
          <ac:chgData name="John Rea" userId="d8639818-8097-4ceb-a926-1c095acca351" providerId="ADAL" clId="{0FCD4BB8-3B4B-4ACD-9B0D-ECB696CB557E}" dt="2026-03-24T15:33:19.046" v="106" actId="26606"/>
          <ac:spMkLst>
            <pc:docMk/>
            <pc:sldMk cId="705130868" sldId="286"/>
            <ac:spMk id="22" creationId="{5FB5F3BA-58DF-40DA-AE44-974A00E0619C}"/>
          </ac:spMkLst>
        </pc:spChg>
        <pc:spChg chg="add del">
          <ac:chgData name="John Rea" userId="d8639818-8097-4ceb-a926-1c095acca351" providerId="ADAL" clId="{0FCD4BB8-3B4B-4ACD-9B0D-ECB696CB557E}" dt="2026-03-24T15:33:32.569" v="118" actId="26606"/>
          <ac:spMkLst>
            <pc:docMk/>
            <pc:sldMk cId="705130868" sldId="286"/>
            <ac:spMk id="23" creationId="{801292C1-8B12-4AF2-9B59-8851A132E5E2}"/>
          </ac:spMkLst>
        </pc:spChg>
        <pc:spChg chg="add del">
          <ac:chgData name="John Rea" userId="d8639818-8097-4ceb-a926-1c095acca351" providerId="ADAL" clId="{0FCD4BB8-3B4B-4ACD-9B0D-ECB696CB557E}" dt="2026-03-24T15:33:19.046" v="106" actId="26606"/>
          <ac:spMkLst>
            <pc:docMk/>
            <pc:sldMk cId="705130868" sldId="286"/>
            <ac:spMk id="24" creationId="{DE1994AC-22D1-4B48-9EDA-BE373E704567}"/>
          </ac:spMkLst>
        </pc:spChg>
        <pc:spChg chg="add del">
          <ac:chgData name="John Rea" userId="d8639818-8097-4ceb-a926-1c095acca351" providerId="ADAL" clId="{0FCD4BB8-3B4B-4ACD-9B0D-ECB696CB557E}" dt="2026-03-24T15:33:19.046" v="106" actId="26606"/>
          <ac:spMkLst>
            <pc:docMk/>
            <pc:sldMk cId="705130868" sldId="286"/>
            <ac:spMk id="26" creationId="{86806086-A782-4311-A63B-1A68574D8067}"/>
          </ac:spMkLst>
        </pc:spChg>
        <pc:spChg chg="add del">
          <ac:chgData name="John Rea" userId="d8639818-8097-4ceb-a926-1c095acca351" providerId="ADAL" clId="{0FCD4BB8-3B4B-4ACD-9B0D-ECB696CB557E}" dt="2026-03-24T15:33:37.285" v="122" actId="26606"/>
          <ac:spMkLst>
            <pc:docMk/>
            <pc:sldMk cId="705130868" sldId="286"/>
            <ac:spMk id="27" creationId="{A169D286-F4D7-4C8B-A6BD-D05384C7F1D8}"/>
          </ac:spMkLst>
        </pc:spChg>
        <pc:spChg chg="add del">
          <ac:chgData name="John Rea" userId="d8639818-8097-4ceb-a926-1c095acca351" providerId="ADAL" clId="{0FCD4BB8-3B4B-4ACD-9B0D-ECB696CB557E}" dt="2026-03-24T15:33:20.606" v="108" actId="26606"/>
          <ac:spMkLst>
            <pc:docMk/>
            <pc:sldMk cId="705130868" sldId="286"/>
            <ac:spMk id="28" creationId="{5F9CFCE6-877F-4858-B8BD-2C52CA8AFBC4}"/>
          </ac:spMkLst>
        </pc:spChg>
        <pc:spChg chg="add del">
          <ac:chgData name="John Rea" userId="d8639818-8097-4ceb-a926-1c095acca351" providerId="ADAL" clId="{0FCD4BB8-3B4B-4ACD-9B0D-ECB696CB557E}" dt="2026-03-24T15:33:20.606" v="108" actId="26606"/>
          <ac:spMkLst>
            <pc:docMk/>
            <pc:sldMk cId="705130868" sldId="286"/>
            <ac:spMk id="29" creationId="{8213F8A0-12AE-4514-8372-0DD766EC28EE}"/>
          </ac:spMkLst>
        </pc:spChg>
        <pc:spChg chg="add del">
          <ac:chgData name="John Rea" userId="d8639818-8097-4ceb-a926-1c095acca351" providerId="ADAL" clId="{0FCD4BB8-3B4B-4ACD-9B0D-ECB696CB557E}" dt="2026-03-24T15:33:20.606" v="108" actId="26606"/>
          <ac:spMkLst>
            <pc:docMk/>
            <pc:sldMk cId="705130868" sldId="286"/>
            <ac:spMk id="30" creationId="{9EFF17D4-9A8C-4CE5-B096-D8CCD4400437}"/>
          </ac:spMkLst>
        </pc:spChg>
        <pc:spChg chg="add del">
          <ac:chgData name="John Rea" userId="d8639818-8097-4ceb-a926-1c095acca351" providerId="ADAL" clId="{0FCD4BB8-3B4B-4ACD-9B0D-ECB696CB557E}" dt="2026-03-24T15:33:37.285" v="122" actId="26606"/>
          <ac:spMkLst>
            <pc:docMk/>
            <pc:sldMk cId="705130868" sldId="286"/>
            <ac:spMk id="31" creationId="{39E8235E-135E-4261-8F54-2B316E493C42}"/>
          </ac:spMkLst>
        </pc:spChg>
        <pc:spChg chg="add del">
          <ac:chgData name="John Rea" userId="d8639818-8097-4ceb-a926-1c095acca351" providerId="ADAL" clId="{0FCD4BB8-3B4B-4ACD-9B0D-ECB696CB557E}" dt="2026-03-24T15:33:22.036" v="110" actId="26606"/>
          <ac:spMkLst>
            <pc:docMk/>
            <pc:sldMk cId="705130868" sldId="286"/>
            <ac:spMk id="32" creationId="{2F19B711-C590-44D1-9AA8-9F143B0ED58A}"/>
          </ac:spMkLst>
        </pc:spChg>
        <pc:spChg chg="del mod">
          <ac:chgData name="John Rea" userId="d8639818-8097-4ceb-a926-1c095acca351" providerId="ADAL" clId="{0FCD4BB8-3B4B-4ACD-9B0D-ECB696CB557E}" dt="2026-03-24T15:27:40.686" v="30"/>
          <ac:spMkLst>
            <pc:docMk/>
            <pc:sldMk cId="705130868" sldId="286"/>
            <ac:spMk id="33" creationId="{D6C8F12E-30AE-3059-AE01-D639041A4696}"/>
          </ac:spMkLst>
        </pc:spChg>
        <pc:spChg chg="add del">
          <ac:chgData name="John Rea" userId="d8639818-8097-4ceb-a926-1c095acca351" providerId="ADAL" clId="{0FCD4BB8-3B4B-4ACD-9B0D-ECB696CB557E}" dt="2026-03-24T15:33:22.036" v="110" actId="26606"/>
          <ac:spMkLst>
            <pc:docMk/>
            <pc:sldMk cId="705130868" sldId="286"/>
            <ac:spMk id="34" creationId="{C0C79CF2-6A1C-4636-84CE-ABB2BE191D23}"/>
          </ac:spMkLst>
        </pc:spChg>
        <pc:spChg chg="add del">
          <ac:chgData name="John Rea" userId="d8639818-8097-4ceb-a926-1c095acca351" providerId="ADAL" clId="{0FCD4BB8-3B4B-4ACD-9B0D-ECB696CB557E}" dt="2026-03-24T15:33:22.036" v="110" actId="26606"/>
          <ac:spMkLst>
            <pc:docMk/>
            <pc:sldMk cId="705130868" sldId="286"/>
            <ac:spMk id="35" creationId="{7A5D17DF-AD65-402C-A95C-F13C770C9FCD}"/>
          </ac:spMkLst>
        </pc:spChg>
        <pc:spChg chg="add del">
          <ac:chgData name="John Rea" userId="d8639818-8097-4ceb-a926-1c095acca351" providerId="ADAL" clId="{0FCD4BB8-3B4B-4ACD-9B0D-ECB696CB557E}" dt="2026-03-24T15:33:37.285" v="122" actId="26606"/>
          <ac:spMkLst>
            <pc:docMk/>
            <pc:sldMk cId="705130868" sldId="286"/>
            <ac:spMk id="36" creationId="{D4ED8EC3-4D57-4620-93CE-4E6661F09A3E}"/>
          </ac:spMkLst>
        </pc:spChg>
        <pc:spChg chg="add del">
          <ac:chgData name="John Rea" userId="d8639818-8097-4ceb-a926-1c095acca351" providerId="ADAL" clId="{0FCD4BB8-3B4B-4ACD-9B0D-ECB696CB557E}" dt="2026-03-24T15:33:23.326" v="112" actId="26606"/>
          <ac:spMkLst>
            <pc:docMk/>
            <pc:sldMk cId="705130868" sldId="286"/>
            <ac:spMk id="37" creationId="{69D184B2-2226-4E31-BCCB-444330767440}"/>
          </ac:spMkLst>
        </pc:spChg>
        <pc:spChg chg="add del">
          <ac:chgData name="John Rea" userId="d8639818-8097-4ceb-a926-1c095acca351" providerId="ADAL" clId="{0FCD4BB8-3B4B-4ACD-9B0D-ECB696CB557E}" dt="2026-03-24T15:33:23.326" v="112" actId="26606"/>
          <ac:spMkLst>
            <pc:docMk/>
            <pc:sldMk cId="705130868" sldId="286"/>
            <ac:spMk id="38" creationId="{1AC4D4E3-486A-464A-8EC8-D44881097267}"/>
          </ac:spMkLst>
        </pc:spChg>
        <pc:spChg chg="add del">
          <ac:chgData name="John Rea" userId="d8639818-8097-4ceb-a926-1c095acca351" providerId="ADAL" clId="{0FCD4BB8-3B4B-4ACD-9B0D-ECB696CB557E}" dt="2026-03-24T15:33:23.326" v="112" actId="26606"/>
          <ac:spMkLst>
            <pc:docMk/>
            <pc:sldMk cId="705130868" sldId="286"/>
            <ac:spMk id="39" creationId="{864DE13E-58EB-4475-B79C-0D4FC651239B}"/>
          </ac:spMkLst>
        </pc:spChg>
        <pc:spChg chg="add del">
          <ac:chgData name="John Rea" userId="d8639818-8097-4ceb-a926-1c095acca351" providerId="ADAL" clId="{0FCD4BB8-3B4B-4ACD-9B0D-ECB696CB557E}" dt="2026-03-24T15:33:37.285" v="122" actId="26606"/>
          <ac:spMkLst>
            <pc:docMk/>
            <pc:sldMk cId="705130868" sldId="286"/>
            <ac:spMk id="41" creationId="{83BCB34A-2F40-4F41-8488-A134C1C155B7}"/>
          </ac:spMkLst>
        </pc:spChg>
        <pc:spChg chg="add del">
          <ac:chgData name="John Rea" userId="d8639818-8097-4ceb-a926-1c095acca351" providerId="ADAL" clId="{0FCD4BB8-3B4B-4ACD-9B0D-ECB696CB557E}" dt="2026-03-24T15:33:37.285" v="122" actId="26606"/>
          <ac:spMkLst>
            <pc:docMk/>
            <pc:sldMk cId="705130868" sldId="286"/>
            <ac:spMk id="42" creationId="{F78382DC-4207-465E-B379-1E16448AA222}"/>
          </ac:spMkLst>
        </pc:spChg>
        <pc:picChg chg="mod">
          <ac:chgData name="John Rea" userId="d8639818-8097-4ceb-a926-1c095acca351" providerId="ADAL" clId="{0FCD4BB8-3B4B-4ACD-9B0D-ECB696CB557E}" dt="2026-03-24T15:33:51.908" v="124" actId="26606"/>
          <ac:picMkLst>
            <pc:docMk/>
            <pc:sldMk cId="705130868" sldId="286"/>
            <ac:picMk id="4" creationId="{38498DE9-F3E5-E1D4-23D9-53827A6B4E2A}"/>
          </ac:picMkLst>
        </pc:picChg>
        <pc:picChg chg="add mod">
          <ac:chgData name="John Rea" userId="d8639818-8097-4ceb-a926-1c095acca351" providerId="ADAL" clId="{0FCD4BB8-3B4B-4ACD-9B0D-ECB696CB557E}" dt="2026-03-24T15:40:56.871" v="405" actId="1076"/>
          <ac:picMkLst>
            <pc:docMk/>
            <pc:sldMk cId="705130868" sldId="286"/>
            <ac:picMk id="13" creationId="{D92D1894-0AFF-A9DC-07F3-958365659231}"/>
          </ac:picMkLst>
        </pc:picChg>
        <pc:cxnChg chg="add del">
          <ac:chgData name="John Rea" userId="d8639818-8097-4ceb-a926-1c095acca351" providerId="ADAL" clId="{0FCD4BB8-3B4B-4ACD-9B0D-ECB696CB557E}" dt="2026-03-24T15:33:35.966" v="120" actId="26606"/>
          <ac:cxnSpMkLst>
            <pc:docMk/>
            <pc:sldMk cId="705130868" sldId="286"/>
            <ac:cxnSpMk id="25" creationId="{4D56677B-C0B7-4DAC-ACAD-8054FF1B599A}"/>
          </ac:cxnSpMkLst>
        </pc:cxnChg>
        <pc:cxnChg chg="add del">
          <ac:chgData name="John Rea" userId="d8639818-8097-4ceb-a926-1c095acca351" providerId="ADAL" clId="{0FCD4BB8-3B4B-4ACD-9B0D-ECB696CB557E}" dt="2026-03-24T15:33:51.908" v="124" actId="26606"/>
          <ac:cxnSpMkLst>
            <pc:docMk/>
            <pc:sldMk cId="705130868" sldId="286"/>
            <ac:cxnSpMk id="44" creationId="{0B4A113E-D208-4EF0-8BAB-25FDD2E588BA}"/>
          </ac:cxnSpMkLst>
        </pc:cxnChg>
        <pc:cxnChg chg="add del">
          <ac:chgData name="John Rea" userId="d8639818-8097-4ceb-a926-1c095acca351" providerId="ADAL" clId="{0FCD4BB8-3B4B-4ACD-9B0D-ECB696CB557E}" dt="2026-03-24T15:33:51.908" v="124" actId="26606"/>
          <ac:cxnSpMkLst>
            <pc:docMk/>
            <pc:sldMk cId="705130868" sldId="286"/>
            <ac:cxnSpMk id="45" creationId="{2FE16547-5205-4F0E-B809-89D18FF4C8BA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42866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7BBAF-DC5A-3DD5-C507-EB8106A7D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7A707C-553E-7BA2-AE97-AE1BBE4498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247877-486D-160E-DD87-3D80B1A809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645675-D1CF-F88C-0CA1-D65BF6FA76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75987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5034D2-B5E9-539A-A608-70B5042DE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0F8D9F-0801-1464-6D6A-158E7ACD50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163651-4F3C-2658-BF75-A69597A775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CB9E6C-22C3-A23B-EFCF-4F3972CC83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59236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8.png"/><Relationship Id="rId4" Type="http://schemas.openxmlformats.org/officeDocument/2006/relationships/image" Target="../media/image23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45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583680" y="274320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876288" y="274320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168896" y="274320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461504" y="274320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754112" y="274320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046720" y="274320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8339328" y="274320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631936" y="274320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583680" y="566928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876288" y="566928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168896" y="566928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461504" y="566928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754112" y="566928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046720" y="566928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339328" y="566928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631936" y="566928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583680" y="859536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876288" y="859536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168896" y="859536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461504" y="859536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754112" y="859536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8046720" y="859536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339328" y="859536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631936" y="859536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583680" y="1152144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876288" y="1152144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7168896" y="1152144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7461504" y="1152144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7754112" y="1152144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8046720" y="1152144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8339328" y="1152144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8631936" y="1152144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6583680" y="1444752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876288" y="1444752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7168896" y="1444752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7461504" y="1444752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7754112" y="1444752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8046720" y="1444752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8339328" y="1444752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8631936" y="1444752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6583680" y="1737360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6876288" y="1737360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7168896" y="1737360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7461504" y="1737360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7754112" y="1737360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8046720" y="1737360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8339328" y="1737360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8631936" y="1737360"/>
            <a:ext cx="91440" cy="91440"/>
          </a:xfrm>
          <a:prstGeom prst="ellipse">
            <a:avLst/>
          </a:prstGeom>
          <a:solidFill>
            <a:srgbClr val="0078D4">
              <a:alpha val="45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457200" y="3200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>
                <a:solidFill>
                  <a:srgbClr val="D2D0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457200" y="804672"/>
            <a:ext cx="1645920" cy="27432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457200" y="100584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6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M365 Copilot:</a:t>
            </a:r>
            <a:endParaRPr lang="en-US" sz="4600" dirty="0"/>
          </a:p>
        </p:txBody>
      </p:sp>
      <p:sp>
        <p:nvSpPr>
          <p:cNvPr id="55" name="Text 53"/>
          <p:cNvSpPr/>
          <p:nvPr/>
        </p:nvSpPr>
        <p:spPr>
          <a:xfrm>
            <a:off x="457200" y="178308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>
                <a:solidFill>
                  <a:srgbClr val="C8E6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Tips, Tricks &amp; Real-World Demos</a:t>
            </a:r>
            <a:endParaRPr lang="en-US" sz="3400" dirty="0"/>
          </a:p>
        </p:txBody>
      </p:sp>
      <p:sp>
        <p:nvSpPr>
          <p:cNvPr id="57" name="Text 55"/>
          <p:cNvSpPr/>
          <p:nvPr/>
        </p:nvSpPr>
        <p:spPr>
          <a:xfrm>
            <a:off x="457200" y="452628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John Rea</a:t>
            </a:r>
            <a:r>
              <a:rPr lang="en-US" sz="1400">
                <a:solidFill>
                  <a:srgbClr val="D2D0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|  SR Cloud Solution Architect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6858000" y="452628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>
                <a:solidFill>
                  <a:srgbClr val="D2D0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March 24, 2026</a:t>
            </a:r>
            <a:endParaRPr lang="en-US" sz="1300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Agenda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37160"/>
            <a:ext cx="502920" cy="502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914400"/>
            <a:ext cx="8412480" cy="658368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365760" y="914400"/>
            <a:ext cx="384048" cy="65836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365760" y="914400"/>
            <a:ext cx="384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914400"/>
            <a:ext cx="1554480" cy="658368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marL="0" indent="0" algn="l">
              <a:buNone/>
            </a:pP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2423160" y="914400"/>
            <a:ext cx="6217920" cy="658368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marL="0" indent="0" algn="l">
              <a:buNone/>
            </a:pPr>
            <a:r>
              <a:rPr lang="en-US" sz="140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Makes a Great Copilot Prompt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65760" y="1636776"/>
            <a:ext cx="84124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2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65760" y="1636776"/>
            <a:ext cx="384048" cy="65836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365760" y="1636776"/>
            <a:ext cx="384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22960" y="1636776"/>
            <a:ext cx="1554480" cy="658368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marL="0" indent="0" algn="l">
              <a:buNone/>
            </a:pP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423160" y="1636776"/>
            <a:ext cx="6217920" cy="658368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marL="0" indent="0" algn="l">
              <a:buNone/>
            </a:pPr>
            <a:r>
              <a:rPr lang="en-US" sz="140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M365 Copilot Tips &amp; Tricks by App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65760" y="2359152"/>
            <a:ext cx="8412480" cy="658368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365760" y="2359152"/>
            <a:ext cx="384048" cy="65836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365760" y="2359152"/>
            <a:ext cx="384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22960" y="2359152"/>
            <a:ext cx="1554480" cy="658368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marL="0" indent="0" algn="l">
              <a:buNone/>
            </a:pP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2423160" y="2359152"/>
            <a:ext cx="6217920" cy="658368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marL="0" indent="0" algn="l">
              <a:buNone/>
            </a:pPr>
            <a:r>
              <a:rPr lang="en-US" sz="140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DEMO: Real-World Scenarios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65760" y="3081528"/>
            <a:ext cx="84124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2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365760" y="3081528"/>
            <a:ext cx="384048" cy="65836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365760" y="3081528"/>
            <a:ext cx="384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822960" y="3081528"/>
            <a:ext cx="1554480" cy="658368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marL="0" indent="0" algn="l">
              <a:buNone/>
            </a:pP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423160" y="3081528"/>
            <a:ext cx="6217920" cy="658368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marL="0" indent="0" algn="l">
              <a:buNone/>
            </a:pPr>
            <a:r>
              <a:rPr lang="en-US" sz="140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Best Practices &amp; The Copilot Playbook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365760" y="3803904"/>
            <a:ext cx="8412480" cy="658368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365760" y="3803904"/>
            <a:ext cx="384048" cy="65836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365760" y="3803904"/>
            <a:ext cx="384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822960" y="3803904"/>
            <a:ext cx="1554480" cy="658368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marL="0" indent="0" algn="l">
              <a:buNone/>
            </a:pP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2423160" y="3803904"/>
            <a:ext cx="6217920" cy="658368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&amp; Coming Soon: Edit with Copilot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>
                <a:solidFill>
                  <a:srgbClr val="A19F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 minutes · Interactive demos · Q&amp;A throughout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45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14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9202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Makes a Great</a:t>
            </a:r>
            <a:endParaRPr lang="en-US" sz="3800"/>
          </a:p>
          <a:p>
            <a:pPr marL="0" indent="0" algn="l">
              <a:buNone/>
            </a:pPr>
            <a:r>
              <a:rPr lang="en-US" sz="38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Copilot Prompt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457200" y="3337560"/>
            <a:ext cx="41148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3474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>
                <a:solidFill>
                  <a:srgbClr val="D2D0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minutes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Prompting Matters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37160"/>
            <a:ext cx="502920" cy="502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914400"/>
            <a:ext cx="4846320" cy="3566160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48640" y="960120"/>
            <a:ext cx="452628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Copilot is only as good as what you ask</a:t>
            </a:r>
            <a:endParaRPr lang="en-US" sz="1700"/>
          </a:p>
          <a:p>
            <a:pPr marL="0" indent="0">
              <a:spcAft>
                <a:spcPts val="600"/>
              </a:spcAft>
              <a:buNone/>
            </a:pPr>
            <a:endParaRPr lang="en-US" sz="170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b="1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Vague prompts</a:t>
            </a:r>
            <a:r>
              <a:rPr lang="en-US" sz="170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→  generic, unhelpful responses</a:t>
            </a:r>
            <a:endParaRPr lang="en-US" sz="1700"/>
          </a:p>
          <a:p>
            <a:pPr marL="0" indent="0">
              <a:spcAft>
                <a:spcPts val="600"/>
              </a:spcAft>
              <a:buNone/>
            </a:pPr>
            <a:endParaRPr lang="en-US" sz="170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b="1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Specific prompts</a:t>
            </a:r>
            <a:r>
              <a:rPr lang="en-US" sz="170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→  save hours every week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486400" y="914400"/>
            <a:ext cx="3291840" cy="3566160"/>
          </a:xfrm>
          <a:prstGeom prst="rect">
            <a:avLst/>
          </a:prstGeom>
          <a:solidFill>
            <a:srgbClr val="004578"/>
          </a:solidFill>
          <a:ln w="12700">
            <a:solidFill>
              <a:srgbClr val="0045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623560" y="1115568"/>
            <a:ext cx="1097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E74C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MEH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766560" y="1115568"/>
            <a:ext cx="1874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D2D0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Vague one-liner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23560" y="1709928"/>
            <a:ext cx="3017520" cy="1828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623560" y="2121408"/>
            <a:ext cx="1097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B9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766560" y="2121408"/>
            <a:ext cx="1874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D2D0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Some context added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623560" y="2715768"/>
            <a:ext cx="3017520" cy="1828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623560" y="3127248"/>
            <a:ext cx="1097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27AE6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WOW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766560" y="3127248"/>
            <a:ext cx="1874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D2D0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Goal + Context + Format + Source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486400" y="4160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>
                <a:solidFill>
                  <a:srgbClr val="D2D0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Prompt Quality Scale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4 Elements of a Great Prompt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37160"/>
            <a:ext cx="502920" cy="502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914400"/>
            <a:ext cx="4160520" cy="1691640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365760" y="914400"/>
            <a:ext cx="4160520" cy="914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530352" y="1115568"/>
            <a:ext cx="475488" cy="475488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30352" y="1115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68" y="1143000"/>
            <a:ext cx="411480" cy="4114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0352" y="16916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Goal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530352" y="208483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do you want</a:t>
            </a:r>
            <a:endParaRPr lang="en-US" sz="1300"/>
          </a:p>
          <a:p>
            <a:pPr marL="0" indent="0" algn="l">
              <a:buNone/>
            </a:pPr>
            <a:r>
              <a:rPr lang="en-US" sz="130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Copilot to do?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709160" y="914400"/>
            <a:ext cx="4160520" cy="1691640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4709160" y="914400"/>
            <a:ext cx="4160520" cy="914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4873752" y="1115568"/>
            <a:ext cx="475488" cy="475488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4873752" y="1115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8968" y="114300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873752" y="16916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Context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4873752" y="208483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Who's the audience?</a:t>
            </a:r>
            <a:endParaRPr lang="en-US" sz="1300"/>
          </a:p>
          <a:p>
            <a:pPr marL="0" indent="0" algn="l">
              <a:buNone/>
            </a:pPr>
            <a:r>
              <a:rPr lang="en-US" sz="130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What's the background?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65760" y="2788920"/>
            <a:ext cx="4160520" cy="1691640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365760" y="2788920"/>
            <a:ext cx="4160520" cy="914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530352" y="2990088"/>
            <a:ext cx="475488" cy="475488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7"/>
          <p:cNvSpPr/>
          <p:nvPr/>
        </p:nvSpPr>
        <p:spPr>
          <a:xfrm>
            <a:off x="530352" y="29900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5568" y="3017520"/>
            <a:ext cx="411480" cy="41148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30352" y="356616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Expectations</a:t>
            </a:r>
            <a:endParaRPr lang="en-US" sz="1700" dirty="0"/>
          </a:p>
        </p:txBody>
      </p:sp>
      <p:sp>
        <p:nvSpPr>
          <p:cNvPr id="25" name="Text 19"/>
          <p:cNvSpPr/>
          <p:nvPr/>
        </p:nvSpPr>
        <p:spPr>
          <a:xfrm>
            <a:off x="530352" y="395935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Format, length,</a:t>
            </a:r>
            <a:endParaRPr lang="en-US" sz="1300"/>
          </a:p>
          <a:p>
            <a:pPr marL="0" indent="0" algn="l">
              <a:buNone/>
            </a:pPr>
            <a:r>
              <a:rPr lang="en-US" sz="130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tone, constraints</a:t>
            </a:r>
            <a:endParaRPr lang="en-US" sz="1300" dirty="0"/>
          </a:p>
        </p:txBody>
      </p:sp>
      <p:sp>
        <p:nvSpPr>
          <p:cNvPr id="26" name="Shape 20"/>
          <p:cNvSpPr/>
          <p:nvPr/>
        </p:nvSpPr>
        <p:spPr>
          <a:xfrm>
            <a:off x="4709160" y="2788920"/>
            <a:ext cx="4160520" cy="1691640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1"/>
          <p:cNvSpPr/>
          <p:nvPr/>
        </p:nvSpPr>
        <p:spPr>
          <a:xfrm>
            <a:off x="4709160" y="2788920"/>
            <a:ext cx="4160520" cy="914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2"/>
          <p:cNvSpPr/>
          <p:nvPr/>
        </p:nvSpPr>
        <p:spPr>
          <a:xfrm>
            <a:off x="4873752" y="2990088"/>
            <a:ext cx="475488" cy="475488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3"/>
          <p:cNvSpPr/>
          <p:nvPr/>
        </p:nvSpPr>
        <p:spPr>
          <a:xfrm>
            <a:off x="4873752" y="29900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58968" y="3017520"/>
            <a:ext cx="411480" cy="41148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4873752" y="356616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</a:t>
            </a:r>
            <a:endParaRPr lang="en-US" sz="1700" dirty="0"/>
          </a:p>
        </p:txBody>
      </p:sp>
      <p:sp>
        <p:nvSpPr>
          <p:cNvPr id="32" name="Text 25"/>
          <p:cNvSpPr/>
          <p:nvPr/>
        </p:nvSpPr>
        <p:spPr>
          <a:xfrm>
            <a:off x="4873752" y="395935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data, files,</a:t>
            </a:r>
            <a:endParaRPr lang="en-US" sz="1300"/>
          </a:p>
          <a:p>
            <a:pPr marL="0" indent="0" algn="l">
              <a:buNone/>
            </a:pPr>
            <a:r>
              <a:rPr lang="en-US" sz="130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 emails to use</a:t>
            </a:r>
            <a:endParaRPr lang="en-US" sz="1300" dirty="0"/>
          </a:p>
        </p:txBody>
      </p:sp>
      <p:sp>
        <p:nvSpPr>
          <p:cNvPr id="33" name="Shape 26"/>
          <p:cNvSpPr/>
          <p:nvPr/>
        </p:nvSpPr>
        <p:spPr>
          <a:xfrm>
            <a:off x="4535424" y="1737360"/>
            <a:ext cx="164592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27"/>
          <p:cNvSpPr/>
          <p:nvPr/>
        </p:nvSpPr>
        <p:spPr>
          <a:xfrm>
            <a:off x="4617720" y="2578608"/>
            <a:ext cx="36576" cy="20116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Prompt Makeover: Before &amp; After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37160"/>
            <a:ext cx="502920" cy="502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74320" y="914400"/>
            <a:ext cx="2697480" cy="3520440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274320" y="914400"/>
            <a:ext cx="2697480" cy="411480"/>
          </a:xfrm>
          <a:prstGeom prst="rect">
            <a:avLst/>
          </a:prstGeom>
          <a:solidFill>
            <a:srgbClr val="004578"/>
          </a:solidFill>
          <a:ln w="12700">
            <a:solidFill>
              <a:srgbClr val="0045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9784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31520" y="9144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274320" y="1325880"/>
            <a:ext cx="2697480" cy="274320"/>
          </a:xfrm>
          <a:prstGeom prst="rect">
            <a:avLst/>
          </a:prstGeom>
          <a:solidFill>
            <a:srgbClr val="FDDED8"/>
          </a:solidFill>
          <a:ln w="12700">
            <a:solidFill>
              <a:srgbClr val="FDD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274320" y="1325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C039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384048" y="1645920"/>
            <a:ext cx="24780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an email about the project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274320" y="26060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▼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274320" y="2880360"/>
            <a:ext cx="2697480" cy="274320"/>
          </a:xfrm>
          <a:prstGeom prst="rect">
            <a:avLst/>
          </a:prstGeom>
          <a:solidFill>
            <a:srgbClr val="D5F5E3"/>
          </a:solidFill>
          <a:ln w="12700">
            <a:solidFill>
              <a:srgbClr val="D5F5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274320" y="2880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1E84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384048" y="3200400"/>
            <a:ext cx="24780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Draft a concise 3-paragraph email to my project stakeholders summarizing this week's progress on the Azure migration, noting the 2-day delay in Phase 2, and requesting feedback by Friday. Tone: professional but direct.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3154680" y="914400"/>
            <a:ext cx="2697480" cy="3520440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3154680" y="914400"/>
            <a:ext cx="2697480" cy="411480"/>
          </a:xfrm>
          <a:prstGeom prst="rect">
            <a:avLst/>
          </a:prstGeom>
          <a:solidFill>
            <a:srgbClr val="004578"/>
          </a:solidFill>
          <a:ln w="12700">
            <a:solidFill>
              <a:srgbClr val="0045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6120" y="978408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611880" y="9144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Meeting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3154680" y="1325880"/>
            <a:ext cx="2697480" cy="274320"/>
          </a:xfrm>
          <a:prstGeom prst="rect">
            <a:avLst/>
          </a:prstGeom>
          <a:solidFill>
            <a:srgbClr val="FDDED8"/>
          </a:solidFill>
          <a:ln w="12700">
            <a:solidFill>
              <a:srgbClr val="FDD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3154680" y="1325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C039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3264408" y="1645920"/>
            <a:ext cx="24780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 me for my meeting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3154680" y="26060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▼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3154680" y="2880360"/>
            <a:ext cx="2697480" cy="274320"/>
          </a:xfrm>
          <a:prstGeom prst="rect">
            <a:avLst/>
          </a:prstGeom>
          <a:solidFill>
            <a:srgbClr val="D5F5E3"/>
          </a:solidFill>
          <a:ln w="12700">
            <a:solidFill>
              <a:srgbClr val="D5F5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0"/>
          <p:cNvSpPr/>
          <p:nvPr/>
        </p:nvSpPr>
        <p:spPr>
          <a:xfrm>
            <a:off x="3154680" y="2880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1E84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3264408" y="3200400"/>
            <a:ext cx="24780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have a 30-minute 1:1 with my manager Cristi Bennett tomorrow. Review my last 3 emails to her, any action items she's assigned me, and my calendar for this week. Give me a 5-bullet brief.</a:t>
            </a:r>
            <a:endParaRPr lang="en-US" sz="1000" dirty="0"/>
          </a:p>
        </p:txBody>
      </p:sp>
      <p:sp>
        <p:nvSpPr>
          <p:cNvPr id="27" name="Shape 22"/>
          <p:cNvSpPr/>
          <p:nvPr/>
        </p:nvSpPr>
        <p:spPr>
          <a:xfrm>
            <a:off x="6035040" y="914400"/>
            <a:ext cx="2697480" cy="3520440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3"/>
          <p:cNvSpPr/>
          <p:nvPr/>
        </p:nvSpPr>
        <p:spPr>
          <a:xfrm>
            <a:off x="6035040" y="914400"/>
            <a:ext cx="2697480" cy="411480"/>
          </a:xfrm>
          <a:prstGeom prst="rect">
            <a:avLst/>
          </a:prstGeom>
          <a:solidFill>
            <a:srgbClr val="004578"/>
          </a:solidFill>
          <a:ln w="12700">
            <a:solidFill>
              <a:srgbClr val="0045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0" y="978408"/>
            <a:ext cx="274320" cy="274320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6492240" y="9144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</a:t>
            </a:r>
            <a:endParaRPr lang="en-US" sz="1300" dirty="0"/>
          </a:p>
        </p:txBody>
      </p:sp>
      <p:sp>
        <p:nvSpPr>
          <p:cNvPr id="31" name="Shape 25"/>
          <p:cNvSpPr/>
          <p:nvPr/>
        </p:nvSpPr>
        <p:spPr>
          <a:xfrm>
            <a:off x="6035040" y="1325880"/>
            <a:ext cx="2697480" cy="274320"/>
          </a:xfrm>
          <a:prstGeom prst="rect">
            <a:avLst/>
          </a:prstGeom>
          <a:solidFill>
            <a:srgbClr val="FDDED8"/>
          </a:solidFill>
          <a:ln w="12700">
            <a:solidFill>
              <a:srgbClr val="FDD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6"/>
          <p:cNvSpPr/>
          <p:nvPr/>
        </p:nvSpPr>
        <p:spPr>
          <a:xfrm>
            <a:off x="6035040" y="1325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C039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</a:t>
            </a:r>
            <a:endParaRPr lang="en-US" sz="900" dirty="0"/>
          </a:p>
        </p:txBody>
      </p:sp>
      <p:sp>
        <p:nvSpPr>
          <p:cNvPr id="33" name="Text 27"/>
          <p:cNvSpPr/>
          <p:nvPr/>
        </p:nvSpPr>
        <p:spPr>
          <a:xfrm>
            <a:off x="6144768" y="1645920"/>
            <a:ext cx="24780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a summary</a:t>
            </a:r>
            <a:endParaRPr lang="en-US" sz="1100" dirty="0"/>
          </a:p>
        </p:txBody>
      </p:sp>
      <p:sp>
        <p:nvSpPr>
          <p:cNvPr id="34" name="Text 28"/>
          <p:cNvSpPr/>
          <p:nvPr/>
        </p:nvSpPr>
        <p:spPr>
          <a:xfrm>
            <a:off x="6035040" y="26060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▼</a:t>
            </a:r>
            <a:endParaRPr lang="en-US" sz="1400" dirty="0"/>
          </a:p>
        </p:txBody>
      </p:sp>
      <p:sp>
        <p:nvSpPr>
          <p:cNvPr id="35" name="Shape 29"/>
          <p:cNvSpPr/>
          <p:nvPr/>
        </p:nvSpPr>
        <p:spPr>
          <a:xfrm>
            <a:off x="6035040" y="2880360"/>
            <a:ext cx="2697480" cy="274320"/>
          </a:xfrm>
          <a:prstGeom prst="rect">
            <a:avLst/>
          </a:prstGeom>
          <a:solidFill>
            <a:srgbClr val="D5F5E3"/>
          </a:solidFill>
          <a:ln w="12700">
            <a:solidFill>
              <a:srgbClr val="D5F5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0"/>
          <p:cNvSpPr/>
          <p:nvPr/>
        </p:nvSpPr>
        <p:spPr>
          <a:xfrm>
            <a:off x="6035040" y="2880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1E84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</a:t>
            </a:r>
            <a:endParaRPr lang="en-US" sz="900" dirty="0"/>
          </a:p>
        </p:txBody>
      </p:sp>
      <p:sp>
        <p:nvSpPr>
          <p:cNvPr id="37" name="Text 31"/>
          <p:cNvSpPr/>
          <p:nvPr/>
        </p:nvSpPr>
        <p:spPr>
          <a:xfrm>
            <a:off x="6144768" y="3200400"/>
            <a:ext cx="24780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Summarize the key decisions and open questions from /Finance Q1 Review.docx in bullet format, no longer than one page, for an exec audience.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Cheat Sheet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37160"/>
            <a:ext cx="502920" cy="50292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3712464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17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Scenario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5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Starter Phrase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5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78D4"/>
                          </a:solidFill>
                        </a:rPr>
                        <a:t>Email help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i="1" dirty="0">
                          <a:solidFill>
                            <a:srgbClr val="201F1E"/>
                          </a:solidFill>
                        </a:rPr>
                        <a:t>"Draft an email to [name] that..."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78D4"/>
                          </a:solidFill>
                        </a:rPr>
                        <a:t>Meeting prep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i="1" dirty="0">
                          <a:solidFill>
                            <a:srgbClr val="201F1E"/>
                          </a:solidFill>
                        </a:rPr>
                        <a:t>"Brief me on my [meeting] — check my emails and calendar..."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78D4"/>
                          </a:solidFill>
                        </a:rPr>
                        <a:t>Summarize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i="1" dirty="0">
                          <a:solidFill>
                            <a:srgbClr val="201F1E"/>
                          </a:solidFill>
                        </a:rPr>
                        <a:t>"Summarize the key points of [doc/thread] for [audience]..."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78D4"/>
                          </a:solidFill>
                        </a:rPr>
                        <a:t>Rewrite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i="1" dirty="0">
                          <a:solidFill>
                            <a:srgbClr val="201F1E"/>
                          </a:solidFill>
                        </a:rPr>
                        <a:t>"Rewrite this to be more [concise/formal/friendly]..."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78D4"/>
                          </a:solidFill>
                        </a:rPr>
                        <a:t>Analyze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i="1" dirty="0">
                          <a:solidFill>
                            <a:srgbClr val="201F1E"/>
                          </a:solidFill>
                        </a:rPr>
                        <a:t>"Look at [data] and tell me [insight]..."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78D4"/>
                          </a:solidFill>
                        </a:rPr>
                        <a:t>Action items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i="1" dirty="0">
                          <a:solidFill>
                            <a:srgbClr val="201F1E"/>
                          </a:solidFill>
                        </a:rPr>
                        <a:t>"Extract all action items from [doc/meeting]..."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45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14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9202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M365 Copilot Tips &amp; Tricks</a:t>
            </a:r>
            <a:endParaRPr lang="en-US" sz="3800"/>
          </a:p>
          <a:p>
            <a:pPr marL="0" indent="0" algn="l">
              <a:buNone/>
            </a:pPr>
            <a:r>
              <a:rPr lang="en-US" sz="38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 App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457200" y="3337560"/>
            <a:ext cx="41148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3474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>
                <a:solidFill>
                  <a:srgbClr val="D2D0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minutes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Outlook Copilot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37160"/>
            <a:ext cx="502920" cy="502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20040" y="960120"/>
            <a:ext cx="4114800" cy="1371600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457200" y="1069848"/>
            <a:ext cx="384048" cy="384048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1069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41832" y="106984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Summarize threads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84632" y="1527048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Catch up on a 50-message thread in 10 seconds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09160" y="960120"/>
            <a:ext cx="4114800" cy="1371600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846320" y="1069848"/>
            <a:ext cx="384048" cy="384048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846320" y="1069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330952" y="106984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Draft with context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873752" y="1527048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Pull in meeting notes, prior emails, and files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20040" y="2514600"/>
            <a:ext cx="4114800" cy="1371600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457200" y="2624328"/>
            <a:ext cx="384048" cy="384048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457200" y="2624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941832" y="262432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Coaching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84632" y="3081528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tone and clarity feedback before you hit send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09160" y="2514600"/>
            <a:ext cx="4114800" cy="1371600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4846320" y="2624328"/>
            <a:ext cx="384048" cy="384048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4846320" y="2624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330952" y="262432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Triage your inbox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873752" y="3081528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Prioritize what matters, ignore what doesn't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365760" y="4370832"/>
            <a:ext cx="8412480" cy="640080"/>
          </a:xfrm>
          <a:prstGeom prst="rect">
            <a:avLst/>
          </a:prstGeom>
          <a:solidFill>
            <a:srgbClr val="FFF8E1"/>
          </a:solidFill>
          <a:ln w="19050">
            <a:solidFill>
              <a:srgbClr val="FFB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365760" y="4370832"/>
            <a:ext cx="164592" cy="64008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4480560"/>
            <a:ext cx="411480" cy="411480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1143000" y="4370832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7A52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 Tip: </a:t>
            </a:r>
            <a:r>
              <a:rPr lang="en-US" sz="120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Summarize this thread and tell me what action I need to take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 Copilot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37160"/>
            <a:ext cx="502920" cy="502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20040" y="960120"/>
            <a:ext cx="4114800" cy="1371600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457200" y="1069848"/>
            <a:ext cx="384048" cy="384048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1069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41832" y="106984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Meeting recap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84632" y="1527048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a summary + action items after any meeting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09160" y="960120"/>
            <a:ext cx="4114800" cy="1371600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846320" y="1069848"/>
            <a:ext cx="384048" cy="384048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846320" y="1069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330952" y="106984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Catch up mid-meeting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873752" y="1527048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 late? Ask 'What did I miss?'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20040" y="2514600"/>
            <a:ext cx="4114800" cy="1371600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457200" y="2624328"/>
            <a:ext cx="384048" cy="384048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457200" y="2624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941832" y="262432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 intelligence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84632" y="3081528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Search across chats to find past decisions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09160" y="2514600"/>
            <a:ext cx="4114800" cy="1371600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4846320" y="2624328"/>
            <a:ext cx="384048" cy="384048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4846320" y="2624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330952" y="262432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Draft a reply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873752" y="3081528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Let Copilot suggest your response in any chat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365760" y="4370832"/>
            <a:ext cx="8412480" cy="640080"/>
          </a:xfrm>
          <a:prstGeom prst="rect">
            <a:avLst/>
          </a:prstGeom>
          <a:solidFill>
            <a:srgbClr val="FFF8E1"/>
          </a:solidFill>
          <a:ln w="19050">
            <a:solidFill>
              <a:srgbClr val="FFB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365760" y="4370832"/>
            <a:ext cx="164592" cy="64008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4480560"/>
            <a:ext cx="411480" cy="411480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1143000" y="4370832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7A52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 Tip: </a:t>
            </a:r>
            <a:r>
              <a:rPr lang="en-US" sz="120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decisions were made and what are the open items?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Word Copilot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37160"/>
            <a:ext cx="502920" cy="502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20040" y="960120"/>
            <a:ext cx="4114800" cy="1371600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457200" y="1069848"/>
            <a:ext cx="384048" cy="384048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1069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41832" y="106984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Draft from scratch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84632" y="1527048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Give an outline, get a full draft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09160" y="960120"/>
            <a:ext cx="4114800" cy="1371600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846320" y="1069848"/>
            <a:ext cx="384048" cy="384048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846320" y="1069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330952" y="106984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Rewrite &amp; improve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873752" y="1527048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 any section, ask for a rewrite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20040" y="2514600"/>
            <a:ext cx="4114800" cy="1371600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457200" y="2624328"/>
            <a:ext cx="384048" cy="384048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457200" y="2624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941832" y="262432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Summarize long docs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84632" y="3081528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a TL;DR for any document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09160" y="2514600"/>
            <a:ext cx="4114800" cy="1371600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4846320" y="2624328"/>
            <a:ext cx="384048" cy="384048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4846320" y="2624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330952" y="262432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 other files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873752" y="3081528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Pull data from Excel or another Word doc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365760" y="4370832"/>
            <a:ext cx="8412480" cy="640080"/>
          </a:xfrm>
          <a:prstGeom prst="rect">
            <a:avLst/>
          </a:prstGeom>
          <a:solidFill>
            <a:srgbClr val="FFF8E1"/>
          </a:solidFill>
          <a:ln w="19050">
            <a:solidFill>
              <a:srgbClr val="FFB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365760" y="4370832"/>
            <a:ext cx="164592" cy="64008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4480560"/>
            <a:ext cx="411480" cy="411480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1143000" y="4370832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7A52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 Tip: </a:t>
            </a:r>
            <a:r>
              <a:rPr lang="en-US" sz="120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Rewrite this section to be more concise and executive-ready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PowerPoint Copilot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37160"/>
            <a:ext cx="502920" cy="502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20040" y="960120"/>
            <a:ext cx="4114800" cy="1371600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457200" y="1069848"/>
            <a:ext cx="384048" cy="384048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1069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41832" y="106984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from prompt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84632" y="1527048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Describe your topic, get a full deck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09160" y="960120"/>
            <a:ext cx="4114800" cy="1371600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846320" y="1069848"/>
            <a:ext cx="384048" cy="384048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846320" y="1069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330952" y="106984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 slides from Word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873752" y="1527048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a Word doc into a slide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20040" y="2514600"/>
            <a:ext cx="4114800" cy="1371600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457200" y="2624328"/>
            <a:ext cx="384048" cy="384048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457200" y="2624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941832" y="262432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Speaker notes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84632" y="3081528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Auto-generate notes for any slide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09160" y="2514600"/>
            <a:ext cx="4114800" cy="1371600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4846320" y="2624328"/>
            <a:ext cx="384048" cy="384048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4846320" y="2624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330952" y="262432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 ideas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873752" y="3081528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layout suggestions instantly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365760" y="4370832"/>
            <a:ext cx="8412480" cy="640080"/>
          </a:xfrm>
          <a:prstGeom prst="rect">
            <a:avLst/>
          </a:prstGeom>
          <a:solidFill>
            <a:srgbClr val="FFF8E1"/>
          </a:solidFill>
          <a:ln w="19050">
            <a:solidFill>
              <a:srgbClr val="FFB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365760" y="4370832"/>
            <a:ext cx="164592" cy="64008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4480560"/>
            <a:ext cx="411480" cy="411480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1143000" y="4370832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7A52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 Tip: </a:t>
            </a:r>
            <a:r>
              <a:rPr lang="en-US" sz="120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a 5-slide deck based on /Q1 Report.docx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 Copilot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37160"/>
            <a:ext cx="502920" cy="502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20040" y="960120"/>
            <a:ext cx="4114800" cy="1371600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457200" y="1069848"/>
            <a:ext cx="384048" cy="384048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1069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41832" y="106984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Formula help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84632" y="1527048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Describe what you need, Copilot writes the formula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09160" y="960120"/>
            <a:ext cx="4114800" cy="1371600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846320" y="1069848"/>
            <a:ext cx="384048" cy="384048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846320" y="1069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330952" y="106984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insights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873752" y="1527048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'What are the top trends in this data?'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20040" y="2514600"/>
            <a:ext cx="4114800" cy="1371600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457200" y="2624328"/>
            <a:ext cx="384048" cy="384048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457200" y="2624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941832" y="262432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 in Excel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84632" y="3081528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advanced analysis with natural language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09160" y="2514600"/>
            <a:ext cx="4114800" cy="1371600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4846320" y="2624328"/>
            <a:ext cx="384048" cy="384048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4846320" y="2624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330952" y="262432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Charts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873752" y="3081528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Copilot to visualize your data automatically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365760" y="4370832"/>
            <a:ext cx="8412480" cy="640080"/>
          </a:xfrm>
          <a:prstGeom prst="rect">
            <a:avLst/>
          </a:prstGeom>
          <a:solidFill>
            <a:srgbClr val="FFF8E1"/>
          </a:solidFill>
          <a:ln w="19050">
            <a:solidFill>
              <a:srgbClr val="FFB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365760" y="4370832"/>
            <a:ext cx="164592" cy="64008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4480560"/>
            <a:ext cx="411480" cy="411480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1143000" y="4370832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7A52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 Tip: </a:t>
            </a:r>
            <a:r>
              <a:rPr lang="en-US" sz="120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 rows where Q1 sales dropped more than 15% vs. last year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45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14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9202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DEMO: Real-World Scenarios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457200" y="3337560"/>
            <a:ext cx="41148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3474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>
                <a:solidFill>
                  <a:srgbClr val="D2D0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minutes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457200" y="4343400"/>
            <a:ext cx="8229600" cy="5029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57200" y="43434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 along on your own device!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Overview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37160"/>
            <a:ext cx="502920" cy="502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20040" y="960120"/>
            <a:ext cx="4114800" cy="1600200"/>
          </a:xfrm>
          <a:prstGeom prst="rect">
            <a:avLst/>
          </a:prstGeom>
          <a:solidFill>
            <a:srgbClr val="004578"/>
          </a:solidFill>
          <a:ln w="12700">
            <a:solidFill>
              <a:srgbClr val="00457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320040" y="960120"/>
            <a:ext cx="182880" cy="16002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94360" y="10698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D2D0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1</a:t>
            </a:r>
            <a:endParaRPr lang="en-US" sz="11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0" y="1097280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46304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Triage Your Inbox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594360" y="213055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>
                <a:solidFill>
                  <a:srgbClr val="D2D0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Outlook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709160" y="960120"/>
            <a:ext cx="4114800" cy="1600200"/>
          </a:xfrm>
          <a:prstGeom prst="rect">
            <a:avLst/>
          </a:prstGeom>
          <a:solidFill>
            <a:srgbClr val="004578"/>
          </a:solidFill>
          <a:ln w="12700">
            <a:solidFill>
              <a:srgbClr val="00457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4709160" y="960120"/>
            <a:ext cx="182880" cy="16002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4983480" y="10698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D2D0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2</a:t>
            </a:r>
            <a:endParaRPr lang="en-US" sz="11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097280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983480" y="146304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 for a Big Meeting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4983480" y="213055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>
                <a:solidFill>
                  <a:srgbClr val="D2D0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 + Outlook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320040" y="2743200"/>
            <a:ext cx="4114800" cy="1600200"/>
          </a:xfrm>
          <a:prstGeom prst="rect">
            <a:avLst/>
          </a:prstGeom>
          <a:solidFill>
            <a:srgbClr val="004578"/>
          </a:solidFill>
          <a:ln w="12700">
            <a:solidFill>
              <a:srgbClr val="00457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320040" y="2743200"/>
            <a:ext cx="182880" cy="16002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/>
          <p:nvPr/>
        </p:nvSpPr>
        <p:spPr>
          <a:xfrm>
            <a:off x="594360" y="28529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D2D0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3</a:t>
            </a:r>
            <a:endParaRPr lang="en-US" sz="11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49040" y="2880360"/>
            <a:ext cx="502920" cy="5029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94360" y="324612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Draft a Report in Minutes</a:t>
            </a:r>
            <a:endParaRPr lang="en-US" sz="1700" dirty="0"/>
          </a:p>
        </p:txBody>
      </p:sp>
      <p:sp>
        <p:nvSpPr>
          <p:cNvPr id="22" name="Text 16"/>
          <p:cNvSpPr/>
          <p:nvPr/>
        </p:nvSpPr>
        <p:spPr>
          <a:xfrm>
            <a:off x="594360" y="3913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>
                <a:solidFill>
                  <a:srgbClr val="D2D0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Word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4709160" y="2743200"/>
            <a:ext cx="4114800" cy="1600200"/>
          </a:xfrm>
          <a:prstGeom prst="rect">
            <a:avLst/>
          </a:prstGeom>
          <a:solidFill>
            <a:srgbClr val="004578"/>
          </a:solidFill>
          <a:ln w="12700">
            <a:solidFill>
              <a:srgbClr val="00457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18"/>
          <p:cNvSpPr/>
          <p:nvPr/>
        </p:nvSpPr>
        <p:spPr>
          <a:xfrm>
            <a:off x="4709160" y="2743200"/>
            <a:ext cx="182880" cy="16002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9"/>
          <p:cNvSpPr/>
          <p:nvPr/>
        </p:nvSpPr>
        <p:spPr>
          <a:xfrm>
            <a:off x="4983480" y="28529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D2D0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4</a:t>
            </a:r>
            <a:endParaRPr lang="en-US" sz="110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8160" y="2880360"/>
            <a:ext cx="502920" cy="50292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983480" y="324612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Unlock Hidden Data Insights</a:t>
            </a:r>
            <a:endParaRPr lang="en-US" sz="1700" dirty="0"/>
          </a:p>
        </p:txBody>
      </p:sp>
      <p:sp>
        <p:nvSpPr>
          <p:cNvPr id="28" name="Text 21"/>
          <p:cNvSpPr/>
          <p:nvPr/>
        </p:nvSpPr>
        <p:spPr>
          <a:xfrm>
            <a:off x="4983480" y="3913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>
                <a:solidFill>
                  <a:srgbClr val="D2D0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1: Triage Your Inbox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37160"/>
            <a:ext cx="502920" cy="502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932688"/>
            <a:ext cx="8412480" cy="594360"/>
          </a:xfrm>
          <a:prstGeom prst="rect">
            <a:avLst/>
          </a:prstGeom>
          <a:solidFill>
            <a:srgbClr val="EFF6FC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02920" y="93268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Scenario: </a:t>
            </a:r>
            <a:r>
              <a:rPr lang="en-US" sz="130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Monday morning, 47 unread emails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1600200"/>
            <a:ext cx="1097280" cy="29260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365760" y="160020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Outlook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554480" y="160020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PROMPT: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65760" y="1920240"/>
            <a:ext cx="8412480" cy="141732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48640" y="1920240"/>
            <a:ext cx="8046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Summarize my unread emails from the last 48 hours. Highlight anything urgent, flag action items, and tell me what I can ignore.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65760" y="3429000"/>
            <a:ext cx="8412480" cy="1417320"/>
          </a:xfrm>
          <a:prstGeom prst="rect">
            <a:avLst/>
          </a:prstGeom>
          <a:solidFill>
            <a:srgbClr val="F0FFF4"/>
          </a:solidFill>
          <a:ln w="1905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65760" y="3429000"/>
            <a:ext cx="182880" cy="14173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40080" y="3474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1E84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Expected Outcome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822192"/>
            <a:ext cx="7955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Urgent items surfaced immediately — no inbox scrolling</a:t>
            </a:r>
            <a:endParaRPr lang="en-US" sz="110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 items extracted and listed by priority</a:t>
            </a:r>
            <a:endParaRPr lang="en-US" sz="110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Low-priority threads identified for bulk archive</a:t>
            </a:r>
            <a:endParaRPr lang="en-US" sz="110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 saved: 20-30 minutes of manual triage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2: Prep for a Big Meeting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37160"/>
            <a:ext cx="502920" cy="502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932688"/>
            <a:ext cx="8412480" cy="594360"/>
          </a:xfrm>
          <a:prstGeom prst="rect">
            <a:avLst/>
          </a:prstGeom>
          <a:solidFill>
            <a:srgbClr val="EFF6FC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02920" y="93268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Scenario: </a:t>
            </a:r>
            <a:r>
              <a:rPr lang="en-US" sz="130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QBR with your VP in 30 minutes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1600200"/>
            <a:ext cx="1097280" cy="29260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365760" y="160020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 + Outlook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554480" y="160020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PROMPT: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65760" y="1920240"/>
            <a:ext cx="8412480" cy="141732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48640" y="1920240"/>
            <a:ext cx="8046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have a QBR with my VP in 30 minutes. Check my last 5 emails with her, my recent Teams messages in the project channel, and my calendar. Give me a 5-point brief with any risks I should flag.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65760" y="3429000"/>
            <a:ext cx="8412480" cy="1417320"/>
          </a:xfrm>
          <a:prstGeom prst="rect">
            <a:avLst/>
          </a:prstGeom>
          <a:solidFill>
            <a:srgbClr val="F0FFF4"/>
          </a:solidFill>
          <a:ln w="1905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65760" y="3429000"/>
            <a:ext cx="182880" cy="14173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40080" y="3474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1E84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Expected Outcome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822192"/>
            <a:ext cx="7955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5-bullet executive brief ready in under 60 seconds</a:t>
            </a:r>
            <a:endParaRPr lang="en-US" sz="110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Risks and open items surfaced from across channels</a:t>
            </a:r>
            <a:endParaRPr lang="en-US" sz="110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walk in prepared — not scrambling for context</a:t>
            </a:r>
            <a:endParaRPr lang="en-US" sz="110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Cross-app: emails + Teams + calendar, unified view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3: Draft a Report in Word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37160"/>
            <a:ext cx="502920" cy="502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932688"/>
            <a:ext cx="8412480" cy="594360"/>
          </a:xfrm>
          <a:prstGeom prst="rect">
            <a:avLst/>
          </a:prstGeom>
          <a:solidFill>
            <a:srgbClr val="EFF6FC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02920" y="93268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Scenario: </a:t>
            </a:r>
            <a:r>
              <a:rPr lang="en-US" sz="130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Need a project status report by EOD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1600200"/>
            <a:ext cx="1097280" cy="29260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365760" y="160020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Word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554480" y="160020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PROMPT: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65760" y="1920240"/>
            <a:ext cx="8412480" cy="141732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48640" y="1920240"/>
            <a:ext cx="8046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 a one-page project status report for the Azure Migration project. Pull from /Project Notes.docx and the last 3 emails with subject 'Azure Migration'. Include: current status, blockers, next steps. Audience: VP level.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65760" y="3429000"/>
            <a:ext cx="8412480" cy="1417320"/>
          </a:xfrm>
          <a:prstGeom prst="rect">
            <a:avLst/>
          </a:prstGeom>
          <a:solidFill>
            <a:srgbClr val="F0FFF4"/>
          </a:solidFill>
          <a:ln w="1905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65760" y="3429000"/>
            <a:ext cx="182880" cy="14173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40080" y="3474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1E84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Expected Outcome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822192"/>
            <a:ext cx="7955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draft generated in seconds — grounded in your files</a:t>
            </a:r>
            <a:endParaRPr lang="en-US" sz="110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Proper structure: status, blockers, next steps</a:t>
            </a:r>
            <a:endParaRPr lang="en-US" sz="110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VP-ready tone applied automatically</a:t>
            </a:r>
            <a:endParaRPr lang="en-US" sz="110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edit and refine instead of starting from scratch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4: Data Insights in Excel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37160"/>
            <a:ext cx="502920" cy="502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932688"/>
            <a:ext cx="8412480" cy="594360"/>
          </a:xfrm>
          <a:prstGeom prst="rect">
            <a:avLst/>
          </a:prstGeom>
          <a:solidFill>
            <a:srgbClr val="EFF6FC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02920" y="93268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Scenario: </a:t>
            </a:r>
            <a:r>
              <a:rPr lang="en-US" sz="130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sales data, need quick insights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1600200"/>
            <a:ext cx="1097280" cy="29260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365760" y="160020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554480" y="160020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PROMPT: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65760" y="1920240"/>
            <a:ext cx="8412480" cy="141732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48640" y="1920240"/>
            <a:ext cx="8046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 at this sales data and tell me: which 3 regions underperformed vs. last quarter, what's the YoY trend, and suggest a chart that would work best for an exec presentation.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65760" y="3429000"/>
            <a:ext cx="8412480" cy="1417320"/>
          </a:xfrm>
          <a:prstGeom prst="rect">
            <a:avLst/>
          </a:prstGeom>
          <a:solidFill>
            <a:srgbClr val="F0FFF4"/>
          </a:solidFill>
          <a:ln w="1905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65760" y="3429000"/>
            <a:ext cx="182880" cy="14173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40080" y="3474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1E84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Expected Outcome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822192"/>
            <a:ext cx="7955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Underperforming regions identified instantly</a:t>
            </a:r>
            <a:endParaRPr lang="en-US" sz="110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YoY trend analysis with natural language explanation</a:t>
            </a:r>
            <a:endParaRPr lang="en-US" sz="110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Chart recommendation matched to exec audience</a:t>
            </a:r>
            <a:endParaRPr lang="en-US" sz="110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 in Excel runs complex analysis without formulas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45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14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9202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Best Practices &amp;</a:t>
            </a:r>
            <a:endParaRPr lang="en-US" sz="3800"/>
          </a:p>
          <a:p>
            <a:pPr marL="0" indent="0" algn="l">
              <a:buNone/>
            </a:pPr>
            <a:r>
              <a:rPr lang="en-US" sz="38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Copilot Playbook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457200" y="3337560"/>
            <a:ext cx="41148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3474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>
                <a:solidFill>
                  <a:srgbClr val="D2D0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minutes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8 Copilot Best Practices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37160"/>
            <a:ext cx="502920" cy="502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914400"/>
            <a:ext cx="3977640" cy="804672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365760" y="914400"/>
            <a:ext cx="164592" cy="804672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612648" y="1033272"/>
            <a:ext cx="384048" cy="384048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12648" y="1033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15568" y="914400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Always give context — who, what, why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572000" y="914400"/>
            <a:ext cx="3977640" cy="804672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572000" y="914400"/>
            <a:ext cx="164592" cy="804672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818888" y="1033272"/>
            <a:ext cx="384048" cy="384048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818888" y="1033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321808" y="914400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Specify your audience and format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365760" y="1810512"/>
            <a:ext cx="3977640" cy="804672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365760" y="1810512"/>
            <a:ext cx="164592" cy="804672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612648" y="1929384"/>
            <a:ext cx="384048" cy="384048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612648" y="1929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115568" y="1810512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Iterate — refine prompts when first answer isn't right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4572000" y="1810512"/>
            <a:ext cx="3977640" cy="804672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4572000" y="1810512"/>
            <a:ext cx="164592" cy="804672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4818888" y="1929384"/>
            <a:ext cx="384048" cy="384048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4818888" y="1929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321808" y="1810512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 specific files with /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365760" y="2706624"/>
            <a:ext cx="3977640" cy="804672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365760" y="2706624"/>
            <a:ext cx="164592" cy="804672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612648" y="2825496"/>
            <a:ext cx="384048" cy="384048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612648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1115568" y="2706624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everything before sending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4572000" y="2706624"/>
            <a:ext cx="3977640" cy="804672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8"/>
          <p:cNvSpPr/>
          <p:nvPr/>
        </p:nvSpPr>
        <p:spPr>
          <a:xfrm>
            <a:off x="4572000" y="2706624"/>
            <a:ext cx="164592" cy="804672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4818888" y="2825496"/>
            <a:ext cx="384048" cy="384048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4818888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5321808" y="2706624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Copilot to catch your own mistakes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365760" y="3602736"/>
            <a:ext cx="3977640" cy="804672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365760" y="3602736"/>
            <a:ext cx="164592" cy="804672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4"/>
          <p:cNvSpPr/>
          <p:nvPr/>
        </p:nvSpPr>
        <p:spPr>
          <a:xfrm>
            <a:off x="612648" y="3721608"/>
            <a:ext cx="384048" cy="384048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612648" y="3721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1115568" y="3602736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 every morning with a briefing</a:t>
            </a:r>
            <a:endParaRPr lang="en-US" sz="1250" dirty="0"/>
          </a:p>
        </p:txBody>
      </p:sp>
      <p:sp>
        <p:nvSpPr>
          <p:cNvPr id="40" name="Shape 37"/>
          <p:cNvSpPr/>
          <p:nvPr/>
        </p:nvSpPr>
        <p:spPr>
          <a:xfrm>
            <a:off x="4572000" y="3602736"/>
            <a:ext cx="3977640" cy="804672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8"/>
          <p:cNvSpPr/>
          <p:nvPr/>
        </p:nvSpPr>
        <p:spPr>
          <a:xfrm>
            <a:off x="4572000" y="3602736"/>
            <a:ext cx="164592" cy="804672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39"/>
          <p:cNvSpPr/>
          <p:nvPr/>
        </p:nvSpPr>
        <p:spPr>
          <a:xfrm>
            <a:off x="4818888" y="3721608"/>
            <a:ext cx="384048" cy="384048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0"/>
          <p:cNvSpPr/>
          <p:nvPr/>
        </p:nvSpPr>
        <p:spPr>
          <a:xfrm>
            <a:off x="4818888" y="3721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300" dirty="0"/>
          </a:p>
        </p:txBody>
      </p:sp>
      <p:sp>
        <p:nvSpPr>
          <p:cNvPr id="44" name="Text 41"/>
          <p:cNvSpPr/>
          <p:nvPr/>
        </p:nvSpPr>
        <p:spPr>
          <a:xfrm>
            <a:off x="5321808" y="3602736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great prompts with your team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Common Pitfalls to Avoid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37160"/>
            <a:ext cx="502920" cy="502920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329184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Don't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Do Instead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4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01F1E"/>
                          </a:solidFill>
                        </a:rPr>
                        <a:t>Send without reviewing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01F1E"/>
                          </a:solidFill>
                        </a:rPr>
                        <a:t>Always review AI-generated content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01F1E"/>
                          </a:solidFill>
                        </a:rPr>
                        <a:t>Use vague one-liners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01F1E"/>
                          </a:solidFill>
                        </a:rPr>
                        <a:t>Add context, format, and audience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01F1E"/>
                          </a:solidFill>
                        </a:rPr>
                        <a:t>Repeat the same failing prompt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01F1E"/>
                          </a:solidFill>
                        </a:rPr>
                        <a:t>Change one variable and retry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01F1E"/>
                          </a:solidFill>
                        </a:rPr>
                        <a:t>Rely on Copilot for facts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01F1E"/>
                          </a:solidFill>
                        </a:rPr>
                        <a:t>Verify statistics and quotes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01F1E"/>
                          </a:solidFill>
                        </a:rPr>
                        <a:t>Ignore the /file reference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01F1E"/>
                          </a:solidFill>
                        </a:rPr>
                        <a:t>Ground Copilot in YOUR data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Copilot Playbook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37160"/>
            <a:ext cx="502920" cy="502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914400"/>
            <a:ext cx="2560320" cy="23774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40080" y="10058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>
                <a:solidFill>
                  <a:srgbClr val="FFFFFF">
                    <a:alpha val="80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640080" y="17373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40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77240" y="2176272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1 manual</a:t>
            </a:r>
            <a:endParaRPr lang="en-US" sz="1300"/>
          </a:p>
          <a:p>
            <a:pPr marL="0" indent="0" algn="ctr">
              <a:buNone/>
            </a:pPr>
            <a:r>
              <a:rPr lang="en-US" sz="130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task per day with Copilot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3246120" y="187452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3611880" y="914400"/>
            <a:ext cx="2560320" cy="2377440"/>
          </a:xfrm>
          <a:prstGeom prst="rect">
            <a:avLst/>
          </a:prstGeom>
          <a:solidFill>
            <a:srgbClr val="038387"/>
          </a:solidFill>
          <a:ln w="12700">
            <a:solidFill>
              <a:srgbClr val="038387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3611880" y="10058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>
                <a:solidFill>
                  <a:srgbClr val="FFFFFF">
                    <a:alpha val="80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5200" dirty="0"/>
          </a:p>
        </p:txBody>
      </p:sp>
      <p:sp>
        <p:nvSpPr>
          <p:cNvPr id="12" name="Text 9"/>
          <p:cNvSpPr/>
          <p:nvPr/>
        </p:nvSpPr>
        <p:spPr>
          <a:xfrm>
            <a:off x="3611880" y="17373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40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749040" y="2176272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a personal</a:t>
            </a:r>
            <a:endParaRPr lang="en-US" sz="1300"/>
          </a:p>
          <a:p>
            <a:pPr marL="0" indent="0" algn="ctr">
              <a:buNone/>
            </a:pPr>
            <a:r>
              <a:rPr lang="en-US" sz="130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prompt library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217920" y="187452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6583680" y="914400"/>
            <a:ext cx="2560320" cy="2377440"/>
          </a:xfrm>
          <a:prstGeom prst="rect">
            <a:avLst/>
          </a:prstGeom>
          <a:solidFill>
            <a:srgbClr val="004578"/>
          </a:solidFill>
          <a:ln w="12700">
            <a:solidFill>
              <a:srgbClr val="00457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583680" y="10058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>
                <a:solidFill>
                  <a:srgbClr val="FFFFFF">
                    <a:alpha val="80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5200" dirty="0"/>
          </a:p>
        </p:txBody>
      </p:sp>
      <p:sp>
        <p:nvSpPr>
          <p:cNvPr id="17" name="Text 14"/>
          <p:cNvSpPr/>
          <p:nvPr/>
        </p:nvSpPr>
        <p:spPr>
          <a:xfrm>
            <a:off x="6583680" y="17373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40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SCALE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720840" y="2176272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wins,</a:t>
            </a:r>
            <a:endParaRPr lang="en-US" sz="1300"/>
          </a:p>
          <a:p>
            <a:pPr marL="0" indent="0" algn="ctr">
              <a:buNone/>
            </a:pPr>
            <a:r>
              <a:rPr lang="en-US" sz="130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team playbooks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365760" y="3456432"/>
            <a:ext cx="8412480" cy="1371600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365760" y="3456432"/>
            <a:ext cx="164592" cy="13716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520440"/>
            <a:ext cx="411480" cy="4114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143000" y="3456432"/>
            <a:ext cx="7406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i="1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teams that win with AI aren't the ones with the fanciest tools.</a:t>
            </a:r>
            <a:endParaRPr lang="en-US" sz="1500"/>
          </a:p>
          <a:p>
            <a:pPr marL="0" indent="0" algn="l">
              <a:buNone/>
            </a:pPr>
            <a:r>
              <a:rPr lang="en-US" sz="1500" i="1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They're the ones who build habits.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C3E315-BF0F-24A3-B4ED-CAB48342A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C9F1A22-0E06-AA2D-9F72-D8E214B4F9A1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3B229C4-F1B7-523C-E09D-F851C26168F7}"/>
              </a:ext>
            </a:extLst>
          </p:cNvPr>
          <p:cNvSpPr/>
          <p:nvPr/>
        </p:nvSpPr>
        <p:spPr>
          <a:xfrm>
            <a:off x="5029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Memory &amp; Custom Instructions</a:t>
            </a:r>
          </a:p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Segoe UI" pitchFamily="34" charset="0"/>
                <a:cs typeface="Segoe UI" pitchFamily="34" charset="-120"/>
              </a:rPr>
              <a:t>Access Custom Instructions in Settings - Personalization</a:t>
            </a:r>
            <a:endParaRPr lang="en-US" sz="800" dirty="0"/>
          </a:p>
        </p:txBody>
      </p:sp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F8F8CEAF-0EC6-984C-0CB6-99C249272C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37160"/>
            <a:ext cx="502920" cy="50292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04DECBF4-E5B2-F0D3-B611-54D1022AB654}"/>
              </a:ext>
            </a:extLst>
          </p:cNvPr>
          <p:cNvSpPr txBox="1"/>
          <p:nvPr/>
        </p:nvSpPr>
        <p:spPr>
          <a:xfrm>
            <a:off x="69056" y="914400"/>
            <a:ext cx="4579144" cy="4078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Copilot prioritizes accuracy, clarity, and trust.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Always distinguish verified facts from inferred reasoning.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Never present assumptions or context-based reasoning as fact.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Avoid cascade errors by rechecking each step before responding.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Think deeply before answering.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>
                <a:highlight>
                  <a:srgbClr val="FFFF00"/>
                </a:highlight>
              </a:rPr>
              <a:t>When uncertain, ask clarifying questions or present two to three vetted options with pros and cons.</a:t>
            </a:r>
          </a:p>
          <a:p>
            <a:endParaRPr lang="en-US" sz="700" dirty="0"/>
          </a:p>
          <a:p>
            <a:r>
              <a:rPr lang="en-US" sz="700" dirty="0"/>
              <a:t>Internal or Collaborative Audience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Collaborative and supportive.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Slightly informal and pragmatic.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Quick confirmations and concise language.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Use only when the audience is clearly internal.</a:t>
            </a:r>
          </a:p>
          <a:p>
            <a:r>
              <a:rPr lang="en-US" sz="700" dirty="0"/>
              <a:t>Example language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Thanks for sharing.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Would it work to proceed this way?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Appreciate your support.</a:t>
            </a:r>
          </a:p>
          <a:p>
            <a:r>
              <a:rPr lang="en-US" sz="700" dirty="0"/>
              <a:t>Customer or External Audience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Professional, courteous, and reassuring.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Formal greetings and closings.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Avoid jargon unless contextually relevant and explained.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No slang or overly casual language.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Provide clear next steps and timelines.</a:t>
            </a:r>
          </a:p>
          <a:p>
            <a:r>
              <a:rPr lang="en-US" sz="700" dirty="0"/>
              <a:t>Example language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Looking forward to discussing the way forward.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We completely understand the need to address this carefully.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Sounds like a great opportunity.</a:t>
            </a:r>
          </a:p>
          <a:p>
            <a:endParaRPr lang="en-US" sz="700" dirty="0"/>
          </a:p>
          <a:p>
            <a:r>
              <a:rPr lang="en-US" sz="700" dirty="0">
                <a:highlight>
                  <a:srgbClr val="FFFF00"/>
                </a:highlight>
              </a:rPr>
              <a:t>Use explicit labels consistently.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>
                <a:highlight>
                  <a:srgbClr val="FFFF00"/>
                </a:highlight>
              </a:rPr>
              <a:t>[Verified] Facts confirmed by authoritative sources.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>
                <a:highlight>
                  <a:srgbClr val="FFFF00"/>
                </a:highlight>
              </a:rPr>
              <a:t>[Inference] Logical conclusions based on context.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>
                <a:highlight>
                  <a:srgbClr val="FFFF00"/>
                </a:highlight>
              </a:rPr>
              <a:t>[Confidence] Confidence cues for inferred content such as Likely or Based on observed patterns.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>
                <a:highlight>
                  <a:srgbClr val="FFFF00"/>
                </a:highlight>
              </a:rPr>
              <a:t>[Unverified] Claims not yet confirmed.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>
                <a:highlight>
                  <a:srgbClr val="FFFF00"/>
                </a:highlight>
              </a:rPr>
              <a:t>[Glossary] Acronyms clarified on first use.</a:t>
            </a:r>
          </a:p>
          <a:p>
            <a:br>
              <a:rPr lang="en-US" sz="700" dirty="0"/>
            </a:br>
            <a:r>
              <a:rPr lang="en-US" sz="700" dirty="0"/>
              <a:t>When mixing content, present verified facts first, then clearly disclose inferred content with this disclaimer.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The following points are inferred based on available context and may require validation.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D9CFCC-6D52-849A-BAB1-BB4EACA2F72C}"/>
              </a:ext>
            </a:extLst>
          </p:cNvPr>
          <p:cNvSpPr txBox="1"/>
          <p:nvPr/>
        </p:nvSpPr>
        <p:spPr>
          <a:xfrm>
            <a:off x="5109211" y="914400"/>
            <a:ext cx="3646169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Search enterprise content first. Files. Emails. Chats. Meetings. Transcripts.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Resolve contradictions before responding.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Preserve critical qualifiers in summaries.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Never fabricate citations quotes or references.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If confidence is low, state what is known, state what is unknown, recommend next steps.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700" dirty="0"/>
          </a:p>
          <a:p>
            <a:r>
              <a:rPr lang="en-US" sz="700" dirty="0">
                <a:highlight>
                  <a:srgbClr val="FFFF00"/>
                </a:highlight>
              </a:rPr>
              <a:t>For legal or regulatory topics.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>
                <a:highlight>
                  <a:srgbClr val="FFFF00"/>
                </a:highlight>
              </a:rPr>
              <a:t>Verify jurisdiction.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>
                <a:highlight>
                  <a:srgbClr val="FFFF00"/>
                </a:highlight>
              </a:rPr>
              <a:t>Verify effective dates.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700" dirty="0"/>
          </a:p>
          <a:p>
            <a:r>
              <a:rPr lang="en-US" sz="700" dirty="0"/>
              <a:t>For time sensitive topics.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Check date stamps.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Warn about staleness.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Add freshness disclaimers when appropriate.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700" dirty="0"/>
          </a:p>
          <a:p>
            <a:r>
              <a:rPr lang="en-US" sz="700" dirty="0"/>
              <a:t>If no authoritative source exists.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State No authoritative source found.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Propose next steps such as further internal or external research.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Never present inferences as facts.</a:t>
            </a:r>
          </a:p>
          <a:p>
            <a:endParaRPr lang="en-US" sz="7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>
                <a:highlight>
                  <a:srgbClr val="FFFF00"/>
                </a:highlight>
              </a:rPr>
              <a:t>Always include a TLDR at the top of emails and documents.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Present information in a logical order.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Verified facts first.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Inferences second.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Recommendations and next steps last.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Use clear section headings.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Avoid decorative characters such as hyphens when writing text.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Be concise while preserving precision.</a:t>
            </a:r>
          </a:p>
          <a:p>
            <a:endParaRPr lang="en-US" sz="7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Never guess or fill gaps with plausible language.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State clearly when information is missing.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Surface multiple interpretations when they exist and explain tradeoffs.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700" dirty="0"/>
              <a:t>Favor clarity and honesty over completeness when certainty is low.</a:t>
            </a:r>
          </a:p>
        </p:txBody>
      </p:sp>
    </p:spTree>
    <p:extLst>
      <p:ext uri="{BB962C8B-B14F-4D97-AF65-F5344CB8AC3E}">
        <p14:creationId xmlns:p14="http://schemas.microsoft.com/office/powerpoint/2010/main" val="41728901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2611B9-10AA-2802-5881-FC60C46C7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5A9A79C-B6BE-F22A-EEA0-71BE3A64E5CA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E0BC3F0-E468-1A9E-1235-4160019057FA}"/>
              </a:ext>
            </a:extLst>
          </p:cNvPr>
          <p:cNvSpPr/>
          <p:nvPr/>
        </p:nvSpPr>
        <p:spPr>
          <a:xfrm>
            <a:off x="5029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Useful Prompts</a:t>
            </a:r>
            <a:endParaRPr lang="en-US" sz="800" dirty="0"/>
          </a:p>
        </p:txBody>
      </p:sp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38498DE9-F3E5-E1D4-23D9-53827A6B4E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37160"/>
            <a:ext cx="502920" cy="50292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EA851A3-303A-BB04-8510-7DF818B94AF5}"/>
              </a:ext>
            </a:extLst>
          </p:cNvPr>
          <p:cNvSpPr txBox="1"/>
          <p:nvPr/>
        </p:nvSpPr>
        <p:spPr>
          <a:xfrm>
            <a:off x="51196" y="943223"/>
            <a:ext cx="457914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When you want the output to be just a block of text:</a:t>
            </a:r>
            <a:br>
              <a:rPr lang="en-US" sz="1200" b="1" dirty="0"/>
            </a:br>
            <a:r>
              <a:rPr lang="en-US" sz="1200" b="1" dirty="0"/>
              <a:t>“Output the results only as a block of plain text. Do not include any other text. Always treat the block of plain text as a block of code that uses text as the code language. Always include a copy button to copy the contents of the box. Do not include sources.”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EE76DA-E52D-9560-4822-ECB4785E5254}"/>
              </a:ext>
            </a:extLst>
          </p:cNvPr>
          <p:cNvSpPr txBox="1"/>
          <p:nvPr/>
        </p:nvSpPr>
        <p:spPr>
          <a:xfrm>
            <a:off x="51196" y="2069327"/>
            <a:ext cx="4579144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To get the prompt that got you to the current result. Useful when running out of iterations (Maximum of 30 Iterations per Chat):</a:t>
            </a:r>
            <a:br>
              <a:rPr lang="en-US" sz="1100" b="1" dirty="0"/>
            </a:br>
            <a:r>
              <a:rPr lang="en-US" sz="1100" b="1" dirty="0"/>
              <a:t>“What is the resultant prompt so far?”</a:t>
            </a:r>
            <a:endParaRPr lang="en-US" sz="11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A699ED-65D9-01EC-0579-745D492B21EC}"/>
              </a:ext>
            </a:extLst>
          </p:cNvPr>
          <p:cNvSpPr txBox="1"/>
          <p:nvPr/>
        </p:nvSpPr>
        <p:spPr>
          <a:xfrm>
            <a:off x="84534" y="2871832"/>
            <a:ext cx="457914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Blocking Off Calendar:</a:t>
            </a:r>
            <a:br>
              <a:rPr lang="en-US" sz="1200" dirty="0">
                <a:effectLst/>
              </a:rPr>
            </a:br>
            <a:r>
              <a:rPr lang="en-US" sz="1200" b="1" dirty="0">
                <a:effectLst/>
              </a:rPr>
              <a:t>“Place the following hold on my calendar. Call it 'HOLD: Important Meeting' No agenda, no attendees. Just trying to block time that I offered for a QBR. All day event. The date is 6/15/2026.”</a:t>
            </a:r>
            <a:endParaRPr lang="en-US" sz="12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92D1894-0AFF-A9DC-07F3-9583656592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396" y="3702829"/>
            <a:ext cx="2149079" cy="657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1308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045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14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9202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&amp; Coming Soon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457200" y="3337560"/>
            <a:ext cx="41148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3474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D2D0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Edit with Copilot  |  10 minutes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Edit with Copilot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3716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9601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Inline AI editing directly within your documents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36576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 text, choose an action, Copilot rewrites in place.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65760" y="1874520"/>
            <a:ext cx="457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Rewrite for tone, length, or clarity</a:t>
            </a:r>
            <a:endParaRPr lang="en-US"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 or condense any selection</a:t>
            </a:r>
            <a:endParaRPr lang="en-US"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 grammar and polish language</a:t>
            </a:r>
            <a:endParaRPr lang="en-US"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Accept, reject, or refine suggestions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120640" y="914400"/>
            <a:ext cx="3657600" cy="3474720"/>
          </a:xfrm>
          <a:prstGeom prst="rect">
            <a:avLst/>
          </a:prstGeom>
          <a:solidFill>
            <a:srgbClr val="F3F2F1"/>
          </a:solidFill>
          <a:ln w="12700">
            <a:solidFill>
              <a:srgbClr val="F3F2F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5257800" y="1005840"/>
            <a:ext cx="3383280" cy="256032"/>
          </a:xfrm>
          <a:prstGeom prst="rect">
            <a:avLst/>
          </a:prstGeom>
          <a:solidFill>
            <a:srgbClr val="FDDED8"/>
          </a:solidFill>
          <a:ln w="12700">
            <a:solidFill>
              <a:srgbClr val="FDD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257800" y="100584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C039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257800" y="1298448"/>
            <a:ext cx="3383280" cy="91440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t"/>
          <a:lstStyle/>
          <a:p>
            <a:pPr marL="0" indent="0" algn="l">
              <a:buNone/>
            </a:pPr>
            <a:r>
              <a:rPr lang="en-US" sz="1100" i="1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thing about this project is that it has been going on for a while and there have been a lot of issues.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257800" y="224028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Copilot: Make this concise and professional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257800" y="2633472"/>
            <a:ext cx="3383280" cy="256032"/>
          </a:xfrm>
          <a:prstGeom prst="rect">
            <a:avLst/>
          </a:prstGeom>
          <a:solidFill>
            <a:srgbClr val="D5F5E3"/>
          </a:solidFill>
          <a:ln w="12700">
            <a:solidFill>
              <a:srgbClr val="D5F5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257800" y="263347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1E84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257800" y="2926080"/>
            <a:ext cx="3383280" cy="82296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t"/>
          <a:lstStyle/>
          <a:p>
            <a:pPr marL="0" indent="0" algn="l">
              <a:buNone/>
            </a:pPr>
            <a:r>
              <a:rPr lang="en-US" sz="110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project has experienced ongoing delays and significant challenges.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65760" y="4343400"/>
            <a:ext cx="4297680" cy="5029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365760" y="434340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Available now in Word, Outlook, Teams, and PowerPoint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What's Coming Next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3716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932688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Upcoming features on the M365 Copilot roadmap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365760" y="1417320"/>
            <a:ext cx="8412480" cy="822960"/>
          </a:xfrm>
          <a:prstGeom prst="rect">
            <a:avLst/>
          </a:prstGeom>
          <a:solidFill>
            <a:srgbClr val="F3F2F1"/>
          </a:solidFill>
          <a:ln w="6350">
            <a:solidFill>
              <a:srgbClr val="D2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365760" y="1417320"/>
            <a:ext cx="1188720" cy="8229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365760" y="141732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COMING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SOON</a:t>
            </a:r>
            <a:endParaRPr lang="en-US" sz="9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1640" y="160020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286000" y="14630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Copilot in Forms and Loop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2286000" y="1837944"/>
            <a:ext cx="6309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Intelligent form generation and collaborative Loop components powered by Copilot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365760" y="2350008"/>
            <a:ext cx="841248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365760" y="2350008"/>
            <a:ext cx="1188720" cy="8229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365760" y="2350008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COMING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SOON</a:t>
            </a:r>
            <a:endParaRPr lang="en-US" sz="9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1640" y="2532888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286000" y="2395728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Voice-activated Copilot in Teams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2286000" y="2770632"/>
            <a:ext cx="6309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Speak your prompts during live meetings — Copilot listens, summarizes, and acts in real time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365760" y="3282696"/>
            <a:ext cx="8412480" cy="822960"/>
          </a:xfrm>
          <a:prstGeom prst="rect">
            <a:avLst/>
          </a:prstGeom>
          <a:solidFill>
            <a:srgbClr val="F3F2F1"/>
          </a:solidFill>
          <a:ln w="6350">
            <a:solidFill>
              <a:srgbClr val="D2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4"/>
          <p:cNvSpPr/>
          <p:nvPr/>
        </p:nvSpPr>
        <p:spPr>
          <a:xfrm>
            <a:off x="365760" y="3282696"/>
            <a:ext cx="1188720" cy="8229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5"/>
          <p:cNvSpPr/>
          <p:nvPr/>
        </p:nvSpPr>
        <p:spPr>
          <a:xfrm>
            <a:off x="365760" y="3282696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COMING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SOON</a:t>
            </a:r>
            <a:endParaRPr lang="en-US" sz="90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40" y="3465576"/>
            <a:ext cx="457200" cy="4572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2286000" y="332841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Copilot agents for automated workflows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2286000" y="3703320"/>
            <a:ext cx="6309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and deploy autonomous AI agents that handle multi-step processes without manual intervention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365760" y="4215384"/>
            <a:ext cx="841248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365760" y="4215384"/>
            <a:ext cx="1188720" cy="8229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0"/>
          <p:cNvSpPr/>
          <p:nvPr/>
        </p:nvSpPr>
        <p:spPr>
          <a:xfrm>
            <a:off x="365760" y="4215384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COMING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SOON</a:t>
            </a:r>
            <a:endParaRPr lang="en-US" sz="900" dirty="0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1640" y="4398264"/>
            <a:ext cx="457200" cy="45720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2286000" y="4261104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Deeper SharePoint &amp; OneDrive integration</a:t>
            </a:r>
            <a:endParaRPr lang="en-US" sz="1300" dirty="0"/>
          </a:p>
        </p:txBody>
      </p:sp>
      <p:sp>
        <p:nvSpPr>
          <p:cNvPr id="29" name="Text 22"/>
          <p:cNvSpPr/>
          <p:nvPr/>
        </p:nvSpPr>
        <p:spPr>
          <a:xfrm>
            <a:off x="2286000" y="4636008"/>
            <a:ext cx="6309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>
                <a:solidFill>
                  <a:srgbClr val="605E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Copilot surfaces, organizes, and acts on content from across your entire document ecosystem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045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Takeaways &amp; Q&amp;A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5943600" cy="749808"/>
          </a:xfrm>
          <a:prstGeom prst="rect">
            <a:avLst/>
          </a:prstGeom>
          <a:solidFill>
            <a:srgbClr val="0D2D4F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640080" cy="74980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88720" y="960120"/>
            <a:ext cx="5120640" cy="749808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great prompt = Goal + Context + Expectations + Source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1856232"/>
            <a:ext cx="5943600" cy="749808"/>
          </a:xfrm>
          <a:prstGeom prst="rect">
            <a:avLst/>
          </a:prstGeom>
          <a:solidFill>
            <a:srgbClr val="0D2D4F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1856232"/>
            <a:ext cx="640080" cy="74980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185623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88720" y="1856232"/>
            <a:ext cx="5120640" cy="749808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one habit at a time — start with your inbox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752344"/>
            <a:ext cx="5943600" cy="749808"/>
          </a:xfrm>
          <a:prstGeom prst="rect">
            <a:avLst/>
          </a:prstGeom>
          <a:solidFill>
            <a:srgbClr val="0D2D4F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7200" y="2752344"/>
            <a:ext cx="640080" cy="74980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57200" y="2752344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2752344"/>
            <a:ext cx="5120640" cy="749808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your best prompts — the whole team wins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583680" y="960120"/>
            <a:ext cx="2331720" cy="2514600"/>
          </a:xfrm>
          <a:prstGeom prst="rect">
            <a:avLst/>
          </a:prstGeom>
          <a:solidFill>
            <a:srgbClr val="0D2D4F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583680" y="96012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>
                <a:solidFill>
                  <a:srgbClr val="D2D0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Resources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583680" y="1344168"/>
            <a:ext cx="2331720" cy="27432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675120" y="1417320"/>
            <a:ext cx="21488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>
                <a:solidFill>
                  <a:srgbClr val="D2D0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Copilot Lab
</a:t>
            </a:r>
            <a:r>
              <a:rPr lang="en-US" sz="1000">
                <a:solidFill>
                  <a:srgbClr val="7EC8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copilot.cloud.microsoft
</a:t>
            </a:r>
            <a:r>
              <a:rPr lang="en-US" sz="1100" b="1">
                <a:solidFill>
                  <a:srgbClr val="D2D0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Prompt Gallery
</a:t>
            </a:r>
            <a:r>
              <a:rPr lang="en-US" sz="1000">
                <a:solidFill>
                  <a:srgbClr val="7EC8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aka.ms/CopilotPrompts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114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Thanks for joining! Questions?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57200" y="46817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John Rea  |  SR Cloud Solution Architect  |  March 24,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Metadata/LabelInfo.xml><?xml version="1.0" encoding="utf-8"?>
<clbl:labelList xmlns:clbl="http://schemas.microsoft.com/office/2020/mipLabelMetadata">
  <clbl:label id="{f42aa342-8706-4288-bd11-ebb85995028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578</TotalTime>
  <Words>2237</Words>
  <Application>Microsoft Office PowerPoint</Application>
  <PresentationFormat>On-screen Show (16:9)</PresentationFormat>
  <Paragraphs>410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Courier New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M365 Copilot: Tips, Tricks &amp; Real-World Demos</dc:title>
  <dc:subject>PptxGenJS Presentation</dc:subject>
  <dc:creator>John Rea</dc:creator>
  <cp:lastModifiedBy>John Rea</cp:lastModifiedBy>
  <cp:revision>2</cp:revision>
  <dcterms:created xsi:type="dcterms:W3CDTF">2026-03-23T21:18:16Z</dcterms:created>
  <dcterms:modified xsi:type="dcterms:W3CDTF">2026-03-24T15:41:00Z</dcterms:modified>
</cp:coreProperties>
</file>