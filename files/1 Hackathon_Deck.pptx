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515" autoAdjust="0"/>
  </p:normalViewPr>
  <p:slideViewPr>
    <p:cSldViewPr snapToGrid="0" snapToObjects="1">
      <p:cViewPr varScale="1">
        <p:scale>
          <a:sx n="133" d="100"/>
          <a:sy n="133" d="100"/>
        </p:scale>
        <p:origin x="9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ea" userId="d8639818-8097-4ceb-a926-1c095acca351" providerId="ADAL" clId="{0FCD4BB8-3B4B-4ACD-9B0D-ECB696CB557E}"/>
    <pc:docChg chg="undo custSel addSld delSld modSld">
      <pc:chgData name="John Rea" userId="d8639818-8097-4ceb-a926-1c095acca351" providerId="ADAL" clId="{0FCD4BB8-3B4B-4ACD-9B0D-ECB696CB557E}" dt="2026-04-03T20:43:39.934" v="929" actId="404"/>
      <pc:docMkLst>
        <pc:docMk/>
      </pc:docMkLst>
      <pc:sldChg chg="addSp delSp modSp mod modNotes modNotesTx">
        <pc:chgData name="John Rea" userId="d8639818-8097-4ceb-a926-1c095acca351" providerId="ADAL" clId="{0FCD4BB8-3B4B-4ACD-9B0D-ECB696CB557E}" dt="2026-04-03T20:43:39.934" v="929" actId="404"/>
        <pc:sldMkLst>
          <pc:docMk/>
          <pc:sldMk cId="0" sldId="256"/>
        </pc:sldMkLst>
        <pc:spChg chg="mod">
          <ac:chgData name="John Rea" userId="d8639818-8097-4ceb-a926-1c095acca351" providerId="ADAL" clId="{0FCD4BB8-3B4B-4ACD-9B0D-ECB696CB557E}" dt="2026-03-31T12:13:36.374" v="763" actId="20577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John Rea" userId="d8639818-8097-4ceb-a926-1c095acca351" providerId="ADAL" clId="{0FCD4BB8-3B4B-4ACD-9B0D-ECB696CB557E}" dt="2026-04-03T20:43:39.934" v="929" actId="404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9T22:59:56.724" v="58" actId="6549"/>
          <ac:spMkLst>
            <pc:docMk/>
            <pc:sldMk cId="0" sldId="256"/>
            <ac:spMk id="8" creationId="{00000000-0000-0000-0000-000000000000}"/>
          </ac:spMkLst>
        </pc:spChg>
      </pc:sldChg>
      <pc:sldChg chg="delSp modSp mod modNotes">
        <pc:chgData name="John Rea" userId="d8639818-8097-4ceb-a926-1c095acca351" providerId="ADAL" clId="{0FCD4BB8-3B4B-4ACD-9B0D-ECB696CB557E}" dt="2026-03-31T12:40:55.288" v="855" actId="20577"/>
        <pc:sldMkLst>
          <pc:docMk/>
          <pc:sldMk cId="0" sldId="257"/>
        </pc:sldMkLst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4:03.500" v="86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40:14.158" v="807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40:25.423" v="830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2:23.036" v="77" actId="2660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40:55.288" v="855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17:55.542" v="774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18:13.514" v="784" actId="2057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18:21.932" v="79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1:10.782" v="753" actId="20577"/>
          <ac:spMkLst>
            <pc:docMk/>
            <pc:sldMk cId="0" sldId="257"/>
            <ac:spMk id="45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31T12:41:55.776" v="865" actId="6549"/>
        <pc:sldMkLst>
          <pc:docMk/>
          <pc:sldMk cId="0" sldId="258"/>
        </pc:sldMkLst>
        <pc:spChg chg="mod">
          <ac:chgData name="John Rea" userId="d8639818-8097-4ceb-a926-1c095acca351" providerId="ADAL" clId="{0FCD4BB8-3B4B-4ACD-9B0D-ECB696CB557E}" dt="2026-03-31T09:41:43.823" v="231" actId="6549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41:55.776" v="865" actId="6549"/>
          <ac:spMkLst>
            <pc:docMk/>
            <pc:sldMk cId="0" sldId="258"/>
            <ac:spMk id="14" creationId="{00000000-0000-0000-0000-000000000000}"/>
          </ac:spMkLst>
        </pc:spChg>
      </pc:sldChg>
      <pc:sldChg chg="modSp mod modNotesTx">
        <pc:chgData name="John Rea" userId="d8639818-8097-4ceb-a926-1c095acca351" providerId="ADAL" clId="{0FCD4BB8-3B4B-4ACD-9B0D-ECB696CB557E}" dt="2026-03-31T12:58:17.785" v="875" actId="20577"/>
        <pc:sldMkLst>
          <pc:docMk/>
          <pc:sldMk cId="0" sldId="259"/>
        </pc:sldMkLst>
        <pc:spChg chg="mod">
          <ac:chgData name="John Rea" userId="d8639818-8097-4ceb-a926-1c095acca351" providerId="ADAL" clId="{0FCD4BB8-3B4B-4ACD-9B0D-ECB696CB557E}" dt="2026-03-31T12:42:06.411" v="866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31T12:42:35.502" v="874" actId="113"/>
        <pc:sldMkLst>
          <pc:docMk/>
          <pc:sldMk cId="0" sldId="260"/>
        </pc:sldMkLst>
        <pc:spChg chg="mod">
          <ac:chgData name="John Rea" userId="d8639818-8097-4ceb-a926-1c095acca351" providerId="ADAL" clId="{0FCD4BB8-3B4B-4ACD-9B0D-ECB696CB557E}" dt="2026-03-31T12:42:31.173" v="873" actId="113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42:24.412" v="872" actId="11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2:42:35.502" v="874" actId="113"/>
          <ac:spMkLst>
            <pc:docMk/>
            <pc:sldMk cId="0" sldId="260"/>
            <ac:spMk id="23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61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61"/>
            <ac:spMk id="20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62"/>
        </pc:sldMkLst>
        <pc:spChg chg="mod">
          <ac:chgData name="John Rea" userId="d8639818-8097-4ceb-a926-1c095acca351" providerId="ADAL" clId="{0FCD4BB8-3B4B-4ACD-9B0D-ECB696CB557E}" dt="2026-03-31T09:40:45.007" v="225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09:39:49.967" v="211" actId="6549"/>
        <pc:sldMkLst>
          <pc:docMk/>
          <pc:sldMk cId="0" sldId="263"/>
        </pc:sldMkLst>
        <pc:spChg chg="mod">
          <ac:chgData name="John Rea" userId="d8639818-8097-4ceb-a926-1c095acca351" providerId="ADAL" clId="{0FCD4BB8-3B4B-4ACD-9B0D-ECB696CB557E}" dt="2026-03-31T09:39:42.333" v="208"/>
          <ac:spMkLst>
            <pc:docMk/>
            <pc:sldMk cId="0" sldId="263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39:42.333" v="208"/>
          <ac:spMkLst>
            <pc:docMk/>
            <pc:sldMk cId="0" sldId="263"/>
            <ac:spMk id="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39:49.967" v="211" actId="6549"/>
          <ac:spMkLst>
            <pc:docMk/>
            <pc:sldMk cId="0" sldId="263"/>
            <ac:spMk id="8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09:58:56.460" v="700" actId="313"/>
        <pc:sldMkLst>
          <pc:docMk/>
          <pc:sldMk cId="0" sldId="265"/>
        </pc:sldMkLst>
        <pc:spChg chg="mod">
          <ac:chgData name="John Rea" userId="d8639818-8097-4ceb-a926-1c095acca351" providerId="ADAL" clId="{0FCD4BB8-3B4B-4ACD-9B0D-ECB696CB557E}" dt="2026-03-31T09:50:09.520" v="437" actId="266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8:56.460" v="700" actId="31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0:09.520" v="437" actId="2660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0:09.520" v="437" actId="2660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0:09.520" v="437" actId="26606"/>
          <ac:spMkLst>
            <pc:docMk/>
            <pc:sldMk cId="0" sldId="265"/>
            <ac:spMk id="19" creationId="{00000000-0000-0000-0000-000000000000}"/>
          </ac:spMkLst>
        </pc:spChg>
      </pc:sldChg>
      <pc:sldChg chg="addSp delSp modSp mod">
        <pc:chgData name="John Rea" userId="d8639818-8097-4ceb-a926-1c095acca351" providerId="ADAL" clId="{0FCD4BB8-3B4B-4ACD-9B0D-ECB696CB557E}" dt="2026-03-31T09:58:22.823" v="647"/>
        <pc:sldMkLst>
          <pc:docMk/>
          <pc:sldMk cId="0" sldId="266"/>
        </pc:sldMkLst>
        <pc:spChg chg="mod">
          <ac:chgData name="John Rea" userId="d8639818-8097-4ceb-a926-1c095acca351" providerId="ADAL" clId="{0FCD4BB8-3B4B-4ACD-9B0D-ECB696CB557E}" dt="2026-03-31T09:58:22.823" v="64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1:57.727" v="594" actId="113"/>
          <ac:spMkLst>
            <pc:docMk/>
            <pc:sldMk cId="0" sldId="266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49:31.987" v="377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1:23.429" v="478" actId="2057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1:50.310" v="593" actId="20577"/>
          <ac:spMkLst>
            <pc:docMk/>
            <pc:sldMk cId="0" sldId="266"/>
            <ac:spMk id="22" creationId="{00000000-0000-0000-0000-000000000000}"/>
          </ac:spMkLst>
        </pc:spChg>
        <pc:picChg chg="add mod">
          <ac:chgData name="John Rea" userId="d8639818-8097-4ceb-a926-1c095acca351" providerId="ADAL" clId="{0FCD4BB8-3B4B-4ACD-9B0D-ECB696CB557E}" dt="2026-03-31T09:50:59.776" v="440" actId="14100"/>
          <ac:picMkLst>
            <pc:docMk/>
            <pc:sldMk cId="0" sldId="266"/>
            <ac:picMk id="26" creationId="{4296440B-F629-24E3-C43E-F652B34996C1}"/>
          </ac:picMkLst>
        </pc:picChg>
      </pc:sldChg>
      <pc:sldChg chg="modSp mod">
        <pc:chgData name="John Rea" userId="d8639818-8097-4ceb-a926-1c095acca351" providerId="ADAL" clId="{0FCD4BB8-3B4B-4ACD-9B0D-ECB696CB557E}" dt="2026-03-31T09:52:52.290" v="623" actId="20577"/>
        <pc:sldMkLst>
          <pc:docMk/>
          <pc:sldMk cId="0" sldId="267"/>
        </pc:sldMkLst>
        <pc:spChg chg="mod">
          <ac:chgData name="John Rea" userId="d8639818-8097-4ceb-a926-1c095acca351" providerId="ADAL" clId="{0FCD4BB8-3B4B-4ACD-9B0D-ECB696CB557E}" dt="2026-03-31T09:52:52.290" v="623" actId="20577"/>
          <ac:spMkLst>
            <pc:docMk/>
            <pc:sldMk cId="0" sldId="267"/>
            <ac:spMk id="10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68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68"/>
            <ac:spMk id="8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69"/>
        </pc:sldMkLst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69"/>
            <ac:spMk id="16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70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0"/>
            <ac:spMk id="34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71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1"/>
            <ac:spMk id="29" creationId="{00000000-0000-0000-0000-000000000000}"/>
          </ac:spMkLst>
        </pc:spChg>
      </pc:sldChg>
      <pc:sldChg chg="delSp modSp mod modNotes">
        <pc:chgData name="John Rea" userId="d8639818-8097-4ceb-a926-1c095acca351" providerId="ADAL" clId="{0FCD4BB8-3B4B-4ACD-9B0D-ECB696CB557E}" dt="2026-03-31T09:59:57.956" v="704" actId="478"/>
        <pc:sldMkLst>
          <pc:docMk/>
          <pc:sldMk cId="0" sldId="272"/>
        </pc:sldMkLst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09:59:41.206" v="702" actId="6549"/>
          <ac:spMkLst>
            <pc:docMk/>
            <pc:sldMk cId="0" sldId="272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0T23:43:21.865" v="80" actId="26606"/>
          <ac:spMkLst>
            <pc:docMk/>
            <pc:sldMk cId="0" sldId="272"/>
            <ac:spMk id="21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73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3"/>
            <ac:spMk id="22" creationId="{00000000-0000-0000-0000-000000000000}"/>
          </ac:spMkLst>
        </pc:spChg>
      </pc:sldChg>
      <pc:sldChg chg="modSp mod modNotes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74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4"/>
            <ac:spMk id="13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75"/>
        </pc:sldMkLst>
        <pc:spChg chg="mod">
          <ac:chgData name="John Rea" userId="d8639818-8097-4ceb-a926-1c095acca351" providerId="ADAL" clId="{0FCD4BB8-3B4B-4ACD-9B0D-ECB696CB557E}" dt="2026-03-31T10:00:29.804" v="730" actId="20577"/>
          <ac:spMkLst>
            <pc:docMk/>
            <pc:sldMk cId="0" sldId="275"/>
            <ac:spMk id="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0:24.186" v="718" actId="20577"/>
          <ac:spMkLst>
            <pc:docMk/>
            <pc:sldMk cId="0" sldId="275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0:42.421" v="741" actId="20577"/>
          <ac:spMkLst>
            <pc:docMk/>
            <pc:sldMk cId="0" sldId="275"/>
            <ac:spMk id="2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5"/>
            <ac:spMk id="23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31T10:05:22.054" v="759" actId="26606"/>
        <pc:sldMkLst>
          <pc:docMk/>
          <pc:sldMk cId="0" sldId="276"/>
        </pc:sldMkLst>
        <pc:spChg chg="mod">
          <ac:chgData name="John Rea" userId="d8639818-8097-4ceb-a926-1c095acca351" providerId="ADAL" clId="{0FCD4BB8-3B4B-4ACD-9B0D-ECB696CB557E}" dt="2026-03-31T10:05:22.054" v="759" actId="26606"/>
          <ac:spMkLst>
            <pc:docMk/>
            <pc:sldMk cId="0" sldId="276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9T23:00:21.683" v="76" actId="20577"/>
          <ac:spMkLst>
            <pc:docMk/>
            <pc:sldMk cId="0" sldId="27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78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room. Introduce yourself: John Rea, Senior CSA at Microsoft. Keep this brief — 2 minutes max. Set the tone: this is going to be hands-on and fun. </a:t>
            </a:r>
            <a:r>
              <a:rPr lang="en-US"/>
              <a:t>Goal </a:t>
            </a:r>
            <a:r>
              <a:rPr lang="en-US" dirty="0"/>
              <a:t>by 4:00 PM: every team has a working agent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through the full day. Key message: most of the day is building, not watching slides. The hackathon build phase is 2.5 hours of focused work time. Every team demos at 3:45 PM — no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This is a safe space to experiment. No wrong answers in ideation. By end of day, every team will have something to show. A proof-of-concept doesn't have to be perfect — it just needs to demonstrate the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 of a smart new employee. A chatbot answers questions. An AI agent can actually DO things — it reads your systems, understands </a:t>
            </a:r>
            <a:r>
              <a:rPr lang="en-US"/>
              <a:t>the goals, </a:t>
            </a:r>
            <a:r>
              <a:rPr lang="en-US" dirty="0"/>
              <a:t>and takes multi-step autonomous action. Key differentiator from regular Copilot: agents act proactively and can chain multiple steps without being prompted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 attendees identify which category fits their scenario. Pre-built = day-1 value with zero config. Declarative = sweet spot for most knowledge worker scenarios, fast to build. Custom (Copilot Studio) = for complex process automation. Most teams today will work with Declarative or Custom agents. Ask: "Has anyone used Copilot in Teams or Outlook yet?"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concrete for </a:t>
            </a:r>
            <a:r>
              <a:rPr lang="en-US"/>
              <a:t>the audience</a:t>
            </a:r>
            <a:r>
              <a:rPr lang="en-US" dirty="0"/>
              <a:t>. Ask the room: "Where do your teams spend the most time on repetitive tasks today?" Common pain points: daily reporting, </a:t>
            </a:r>
            <a:r>
              <a:rPr lang="en-US"/>
              <a:t>team </a:t>
            </a:r>
            <a:r>
              <a:rPr lang="en-US" dirty="0"/>
              <a:t>check-ins, complaint triage, new hire onboarding. These are all prime agent scenarios. Listen to their answers — this seeds the hackathon ideation.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starting points grounded in common </a:t>
            </a:r>
            <a:r>
              <a:rPr lang="en-US"/>
              <a:t>business </a:t>
            </a:r>
            <a:r>
              <a:rPr lang="en-US" dirty="0"/>
              <a:t>pain points. Encourage the room: "Does this resonate? What's missing?" Best scenarios often come from attendees themselves. These same cards will appear in the hackathon with difficulty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everything lives inside the M365 Copilot security and compliance boundary. Agents use the same permissions model as M365 — they only access what the user has rights to see. No data leaves the Microsoft cloud. This directly addresses the #1 concern organizations have about AI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open their laptops. This section is about building familiarity before the pressure of the hackathon. Reassure nervous attendees: these are guided exercises and you're here to help. Total exercise time: ~60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Prompt Coach is a great first agent because everyone benefits from better prompts. Walk the room through finding </a:t>
            </a:r>
            <a:r>
              <a:rPr lang="en-US" dirty="0"/>
              <a:t>it </a:t>
            </a:r>
            <a:r>
              <a:rPr lang="en-US"/>
              <a:t>in the Agents pane</a:t>
            </a:r>
            <a:r>
              <a:rPr lang="en-US" dirty="0"/>
              <a:t>. If </a:t>
            </a:r>
            <a:r>
              <a:rPr lang="en-US"/>
              <a:t>anyone can't see it</a:t>
            </a:r>
            <a:r>
              <a:rPr lang="en-US" dirty="0"/>
              <a:t>, </a:t>
            </a:r>
            <a:r>
              <a:rPr lang="en-US"/>
              <a:t>they may need to install it from the agent catalog first</a:t>
            </a:r>
            <a:r>
              <a:rPr lang="en-US" dirty="0"/>
              <a:t>.</a:t>
            </a:r>
            <a:r>
              <a:rPr lang="en-US"/>
              <a:t> Encourage real prompts from their daily work — "Summarize this document" is just the starting point</a:t>
            </a:r>
            <a:r>
              <a:rPr lang="en-US" dirty="0"/>
              <a:t>. As they work, circulate and ask "</a:t>
            </a:r>
            <a:r>
              <a:rPr lang="en-US"/>
              <a:t>How </a:t>
            </a:r>
            <a:r>
              <a:rPr lang="en-US" dirty="0"/>
              <a:t>did </a:t>
            </a:r>
            <a:r>
              <a:rPr lang="en-US"/>
              <a:t>Prompt Coach change your prompt</a:t>
            </a:r>
            <a:r>
              <a:rPr lang="en-US" dirty="0"/>
              <a:t>? What surprised you?" This </a:t>
            </a:r>
            <a:r>
              <a:rPr lang="en-US"/>
              <a:t>builds prompt-writing skills they'll use all day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exercise — most teams will use declarative agents during the hackathon. Common issues: instructions too vague, knowledge source not indexed yet (wait 2–3 min), agent giving wrong answers (iterate on instructions). Coach them to refine, not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Studio has more depth but a steeper learning curve. Goal here is orientation — can attendees create a new agent and test one interaction? Steer struggling attendees back to the declarative agent path. Advanced teams can go deep in Copilot Studio during the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High-energy transition. Re-energize the room after lunch in 60 seconds. Remind them: 2.5 hours is enough time to build something impressive. Set the key expectation: by 3:00 PM, stop building and start preparing the demo. Every team presents — no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rules: 1) Every team demos — non-negotiable. 2) Scope down — a narrow scenario done well beats an ambitious one half-built. 3) Build, don't plan — after 10 minutes, start building. If a team is still ideating at 1:30 PM check-in, intervene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nervous teams toward Easy scenarios. Guide confident or technical teams toward Medium/Hard. All are achievable in 2.5 hours with the right scope. Encourage narrowing: "Build the onboarding agent specifically for new shift supervisors</a:t>
            </a:r>
            <a:r>
              <a:rPr lang="en-US"/>
              <a:t> in one department</a:t>
            </a:r>
            <a:r>
              <a:rPr lang="en-US" dirty="0"/>
              <a:t>" is better than "build a general onboarding agent."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 of the day. Teams that skip planning waste 45+ minutes building the wrong thing. Give them exactly 10 minutes to complete this as a team. Walk around and check each canvas — if they can't describe "Key Actions" clearly, they're not ready to build yet. Printed version is in their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1:30 PM check-in is the most critical moment. If you find a team still in planning mode, give them 5 minutes to explain their agent to you, then tell them to start building exactly what they described. A tiny working scope is worth more than a well-planned agent that was never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this at 3:00 PM so teams can prep. Key messages: 1) Live demo only — no screenshots. 2) Business impact matters as much as the technical demo. 3) Use a visible timer to keep to 5 minutes. After all demos, ask the group: "Which scenario has the most immediate potential for </a:t>
            </a:r>
            <a:r>
              <a:rPr lang="en-US"/>
              <a:t>your organization</a:t>
            </a:r>
            <a:r>
              <a:rPr lang="en-US" dirty="0"/>
              <a:t>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at hackathon start. Equal weight on Business Value and Technical Execution is intentional — a beautiful agent that solves no real problem shouldn't win. A group vote works well for winner recognition. Everyone walks away with </a:t>
            </a:r>
            <a:r>
              <a:rPr lang="en-US"/>
              <a:t>a</a:t>
            </a:r>
            <a:r>
              <a:rPr lang="en-US" dirty="0"/>
              <a:t> use case they built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specific proposal ready before this slide. Say: "Based on today's demos, I'd recommend we start with [specific scenario] as our pilot." Follow up within 48 hours — hackathon momentum is powerful but fragile. Worst outcome: great demos, no follow-up, and nothing moves forward. Don't let that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moment — make it memorable. Recap: "Today we moved from talking about AI agents to actually building them." Call out standout demos or aha moments. End with a clear commitment: "I'll follow up with each team's next step recommendation within 2 business days." Exchange contact info, capture follow-up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4114800" cy="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</a:t>
            </a:r>
            <a:br>
              <a:rPr lang="en-US" sz="17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4851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  |  Sr CSA - Copilot  |  Microsoft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 the 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74320" y="1147572"/>
            <a:ext cx="8595360" cy="32461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480" y="11750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9:30 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2024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80360" y="11750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490472"/>
            <a:ext cx="859536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1480" y="15179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10:30 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15453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80360" y="15179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- Agents &amp; M365 Copilot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833372"/>
            <a:ext cx="8595360" cy="324612"/>
          </a:xfrm>
          <a:prstGeom prst="rect">
            <a:avLst/>
          </a:prstGeom>
          <a:solidFill>
            <a:srgbClr val="F5F2FA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1480" y="18608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– 10:45 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18882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80360" y="18608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859536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1480" y="22037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11:45 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22311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80360" y="22037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- Hands-On Exercises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519172"/>
            <a:ext cx="8595360" cy="324612"/>
          </a:xfrm>
          <a:prstGeom prst="rect">
            <a:avLst/>
          </a:prstGeom>
          <a:solidFill>
            <a:srgbClr val="F5F2FA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1480" y="25466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 AM – 12:30 PM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25740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880360" y="25466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862072"/>
            <a:ext cx="859536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1480" y="28895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 – 1:00 PM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0" y="29169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880360" y="28895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– Pick Teams/Form Ideas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204972"/>
            <a:ext cx="8595360" cy="32461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74320" y="3204972"/>
            <a:ext cx="91440" cy="3246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1480" y="32324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2:45 PM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0" y="32598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80360" y="32324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 — Create Your Agent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547872"/>
            <a:ext cx="8595360" cy="324612"/>
          </a:xfrm>
          <a:prstGeom prst="rect">
            <a:avLst/>
          </a:prstGeom>
          <a:solidFill>
            <a:srgbClr val="F5F2FA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1480" y="35753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 – 3:00 PM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36027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880360" y="35753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890772"/>
            <a:ext cx="8595360" cy="32461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1480" y="3918204"/>
            <a:ext cx="2331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4:00 PM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0" y="3945636"/>
            <a:ext cx="0" cy="214884"/>
          </a:xfrm>
          <a:prstGeom prst="line">
            <a:avLst/>
          </a:prstGeom>
          <a:noFill/>
          <a:ln w="9525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880360" y="3918204"/>
            <a:ext cx="58521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Demos and Wrap-Up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Here to Accomplish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77824"/>
            <a:ext cx="109728" cy="10058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1078992"/>
            <a:ext cx="594360" cy="59436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44752" y="102412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Copilot Agents can drive business value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109728" cy="10058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5800" y="2340864"/>
            <a:ext cx="594360" cy="5943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23408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44752" y="228600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hands-on experience building agents in Copilot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109728" cy="1005840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85800" y="3602736"/>
            <a:ext cx="594360" cy="594360"/>
          </a:xfrm>
          <a:prstGeom prst="ellipse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3602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44752" y="35478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with a working proof-of-concept and a clear pilot roadmap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960120"/>
          </a:xfrm>
          <a:prstGeom prst="rect">
            <a:avLst/>
          </a:prstGeom>
          <a:solidFill>
            <a:srgbClr val="DCE9F5"/>
          </a:solidFill>
          <a:ln w="12700">
            <a:solidFill>
              <a:srgbClr val="8BB5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772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is a Copilot-powered application that can understand goals, plan steps, and take autonomous actions — connecting to your data, systems, and workflows."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56032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emails, documents, and systems to understand context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35808" y="2766060"/>
            <a:ext cx="192024" cy="0"/>
          </a:xfrm>
          <a:prstGeom prst="line">
            <a:avLst/>
          </a:prstGeom>
          <a:noFill/>
          <a:ln w="254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256032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4612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goals, breaks them into steps, decides what to 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24728" y="2766060"/>
            <a:ext cx="192024" cy="0"/>
          </a:xfrm>
          <a:prstGeom prst="line">
            <a:avLst/>
          </a:prstGeom>
          <a:noFill/>
          <a:ln w="254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57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35040" y="1920240"/>
            <a:ext cx="2560320" cy="502920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350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72200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messages, updates records, triggers workflows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Spectrum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697480" cy="3611880"/>
          </a:xfrm>
          <a:prstGeom prst="rect">
            <a:avLst/>
          </a:prstGeom>
          <a:solidFill>
            <a:srgbClr val="F0FAF4"/>
          </a:solidFill>
          <a:ln w="15240">
            <a:solidFill>
              <a:srgbClr val="107C4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2697480" cy="566928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4320" y="7955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 — no configuration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Copilot</a:t>
            </a:r>
            <a:endParaRPr lang="en-US" sz="1150" b="1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 required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Teams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Outlook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SharePoint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20140" y="4023360"/>
            <a:ext cx="1005840" cy="25603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0140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795528"/>
            <a:ext cx="2697480" cy="3611880"/>
          </a:xfrm>
          <a:prstGeom prst="rect">
            <a:avLst/>
          </a:prstGeom>
          <a:solidFill>
            <a:srgbClr val="EEF5FB"/>
          </a:solidFill>
          <a:ln w="15240">
            <a:solidFill>
              <a:srgbClr val="0078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18688" y="795528"/>
            <a:ext cx="2697480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18688" y="7955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28416" y="14356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for your business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9856" y="184708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</a:t>
            </a: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50" b="1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/ low-code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SharePoint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your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4508" y="4023360"/>
            <a:ext cx="100584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64508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795528"/>
            <a:ext cx="2697480" cy="3611880"/>
          </a:xfrm>
          <a:prstGeom prst="rect">
            <a:avLst/>
          </a:prstGeom>
          <a:solidFill>
            <a:srgbClr val="DCE9F5"/>
          </a:solidFill>
          <a:ln w="15240">
            <a:solidFill>
              <a:srgbClr val="00308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63056" y="795528"/>
            <a:ext cx="2697480" cy="56692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63056" y="7955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&amp; Autonomous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14356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and automation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64224" y="184708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</a:t>
            </a: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150" b="1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any API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automation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business logic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08876" y="4023360"/>
            <a:ext cx="1005840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08876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Agents? The Business Case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91440" cy="16276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344" y="9326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" y="1316736"/>
            <a:ext cx="37856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repetitive tasks — save hours per employee per week. Franchise managers get daily ops summaries in seconds instead of building them manually.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91440" cy="16276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38344" y="9326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38344" y="1316736"/>
            <a:ext cx="37856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multi-step manual workflows end to end. Guest complaints, supply reorders, compliance reports — automated and tracked.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2651760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28600" y="2651760"/>
            <a:ext cx="91440" cy="1627632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344" y="27614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" y="3145536"/>
            <a:ext cx="37856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right information at the right moment. Store managers get real-time signals and suggested actions without digging through multiple systems.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651760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00600" y="2651760"/>
            <a:ext cx="91440" cy="1627632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38344" y="27614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38344" y="3145536"/>
            <a:ext cx="37856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serves thousands of employees consistently. Onboarding a new hire </a:t>
            </a:r>
            <a:r>
              <a:rPr lang="en-US" sz="115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location</a:t>
            </a: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gets the same great experience every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Areas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6888" y="804672"/>
            <a:ext cx="269748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308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6888" y="804672"/>
            <a:ext cx="269748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6888" y="804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Operations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6616" y="133502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check-ins, compliance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ops scorecards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91256" y="804672"/>
            <a:ext cx="269748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91256" y="804672"/>
            <a:ext cx="269748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91256" y="804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00984" y="133502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resolution, loyalty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escalation routing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35624" y="804672"/>
            <a:ext cx="269748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857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35624" y="804672"/>
            <a:ext cx="2697480" cy="457200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5624" y="804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Onboarding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45352" y="133502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Q&amp;A, policy access,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checklists for new hires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6888" y="2560320"/>
            <a:ext cx="269748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D4750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6888" y="2560320"/>
            <a:ext cx="2697480" cy="457200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6888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Inventory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6616" y="309067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queries, reorder alerts,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notifications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91256" y="2560320"/>
            <a:ext cx="269748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1A5FA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191256" y="2560320"/>
            <a:ext cx="2697480" cy="457200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91256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00984" y="309067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generation, approval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multi-brand distribution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35624" y="2560320"/>
            <a:ext cx="269748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A4262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135624" y="2560320"/>
            <a:ext cx="2697480" cy="457200"/>
          </a:xfrm>
          <a:prstGeom prst="rect">
            <a:avLst/>
          </a:prstGeom>
          <a:solidFill>
            <a:srgbClr val="A4262C"/>
          </a:solidFill>
          <a:ln w="12700">
            <a:solidFill>
              <a:srgbClr val="A426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35624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&amp; Compliance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45352" y="309067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prep, incident reporting,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checklists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in M365 Copilot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3977640"/>
          </a:xfrm>
          <a:prstGeom prst="rect">
            <a:avLst/>
          </a:prstGeom>
          <a:solidFill>
            <a:srgbClr val="F5F9FF"/>
          </a:solidFill>
          <a:ln w="12700">
            <a:solidFill>
              <a:srgbClr val="B8C9E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Security &amp; Compliance Boundary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—  User-Facing Interface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74904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Builder / SharePoint)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393192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&amp; Autonomous Agents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(Copilot Studio)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1645920"/>
            <a:ext cx="0" cy="22860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629400" y="1645920"/>
            <a:ext cx="0" cy="22860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Systems 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783080" cy="502920"/>
          </a:xfrm>
          <a:prstGeom prst="rect">
            <a:avLst/>
          </a:prstGeom>
          <a:solidFill>
            <a:srgbClr val="E8F4EA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880360"/>
            <a:ext cx="1783080" cy="502920"/>
          </a:xfrm>
          <a:prstGeom prst="rect">
            <a:avLst/>
          </a:prstGeom>
          <a:solidFill>
            <a:srgbClr val="E8F4EA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6032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880360"/>
            <a:ext cx="1783080" cy="502920"/>
          </a:xfrm>
          <a:prstGeom prst="rect">
            <a:avLst/>
          </a:prstGeom>
          <a:solidFill>
            <a:srgbClr val="E8F4EA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880360"/>
            <a:ext cx="1783080" cy="502920"/>
          </a:xfrm>
          <a:prstGeom prst="rect">
            <a:avLst/>
          </a:prstGeom>
          <a:solidFill>
            <a:srgbClr val="E8F4EA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8368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514600"/>
            <a:ext cx="0" cy="36576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629400" y="2514600"/>
            <a:ext cx="0" cy="36576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840480" cy="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999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exercises to build your skills before the hackathon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Explore a Pre-Built 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132320" y="795528"/>
            <a:ext cx="1737360" cy="41148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0" y="795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150" i="1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Prompt Coach </a:t>
            </a:r>
            <a:r>
              <a:rPr lang="en-US" sz="11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r>
              <a:rPr lang="en-US" sz="1150" i="1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 how better prompts lead to better results</a:t>
            </a:r>
            <a:r>
              <a:rPr lang="en-US" sz="11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142646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microsoft365.com/copilot → click Agents in the left pane → select Prompt Coach (if you don’t see it, look under “All Agents”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13969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rough prompt like “Summarize this document” and ask Prompt Coach to improve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285292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improved prompt — notice how it adds Goal, Context, Sources, and Expectations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56616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2–3 more prompts from your daily work, then share ONE takeaway with the group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Build a Declarative 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132320" y="795528"/>
            <a:ext cx="173736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0" y="795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Create a no-code declarative agent scoped to your own instructions and knowledge source.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140817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microsoft365.com → in the left sidebar → click New agent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02996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the </a:t>
            </a:r>
            <a:r>
              <a:rPr lang="en-US" sz="13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and enter a short description of its purpose and expectations.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26517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sure to include what it should do and what it should avoid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2735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knowledge source (if needed) i.e., a website, a file, etc.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38953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— ask it questions and refine your instructions based on answers. If you need to make changes, return to the describe tab and tell Copilot what changes you want to make.</a:t>
            </a:r>
            <a:endParaRPr lang="en-US" sz="13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296440B-F629-24E3-C43E-F652B349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331750"/>
            <a:ext cx="1680972" cy="318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Explore Copilot Studio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132320" y="795528"/>
            <a:ext cx="17373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0" y="7955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Get oriented in Copilot Studio — the environment for building custom, autonomous agents.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140817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copilotstudio.microsoft.com and login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02996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agent — give it a clear name and purpose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26517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topic: set trigger phrases (what users will say to start a conversation)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2735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action: send a message, look up information, or call an API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20624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38953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the built-in chat canvas — see how it responds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20" y="4544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Goal is orientation, not mastery. If anyone gets stuck, focus on the Declarative Agent path — it's the faster route to a working POC.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1A42"/>
          </a:solidFill>
          <a:ln w="12700">
            <a:solidFill>
              <a:srgbClr val="001A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D4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4206240" cy="0"/>
          </a:xfrm>
          <a:prstGeom prst="line">
            <a:avLst/>
          </a:prstGeom>
          <a:noFill/>
          <a:ln w="3175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mission: Build an agent that solves a real </a:t>
            </a:r>
            <a:r>
              <a:rPr lang="en-US" sz="1600">
                <a:solidFill>
                  <a:srgbClr val="F0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1600" dirty="0">
                <a:solidFill>
                  <a:srgbClr val="F0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5217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Phase: 1:00 – 3:30 PM  ·  Demos: 3:45 PM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Rules &amp; Format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85953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850392"/>
            <a:ext cx="82296" cy="66751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905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3–5 people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79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 now — mix roles and skill levels for best results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66751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2296" cy="66751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6824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hours to 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 – 3:30 PM. Use the time wisely — plan 10 min, then build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04872"/>
            <a:ext cx="85953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82296" cy="66751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920" y="2459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scenario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7340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the list or bring your own </a:t>
            </a:r>
            <a:r>
              <a:rPr lang="en-US" sz="115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challenge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8595360" cy="66751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74320" y="3182112"/>
            <a:ext cx="82296" cy="66751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POC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511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need to be perfect — it needs to demo one scenario end to end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959352"/>
            <a:ext cx="85953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74320" y="3959352"/>
            <a:ext cx="82296" cy="66751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40142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+ 2-minute pitch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288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agent working, explain the business value, describe next steps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Scenarios — Pick One (or Bring Your Own)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6888" y="795528"/>
            <a:ext cx="2697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6888" y="795528"/>
            <a:ext cx="2697480" cy="438912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8328" y="795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Daily Ops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271016"/>
            <a:ext cx="685800" cy="201168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94560" y="12710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154533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daily ops reports for franchise managers. Answer questions about store performance, compliance status, and open issues.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91256" y="795528"/>
            <a:ext cx="2697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91256" y="795528"/>
            <a:ext cx="2697480" cy="438912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82696" y="795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Recovery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38928" y="1271016"/>
            <a:ext cx="685800" cy="201168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38928" y="12710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82696" y="154533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respond to guest complaints across all brands. Suggest recovery actions and escalate when needed.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795528"/>
            <a:ext cx="2697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35624" y="795528"/>
            <a:ext cx="2697480" cy="438912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7064" y="795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Onboarding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271016"/>
            <a:ext cx="685800" cy="201168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83296" y="12710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27064" y="154533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new employee questions about policies, benefits, and first-week tasks. Personalized by brand and role.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" y="2551176"/>
            <a:ext cx="2697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6888" y="2551176"/>
            <a:ext cx="2697480" cy="438912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8328" y="25511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Reorder Agent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026664"/>
            <a:ext cx="685800" cy="201168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94560" y="30266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8328" y="33009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 levels and generate reorder alerts with suggested vendor contacts and order quantities.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2551176"/>
            <a:ext cx="2697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191256" y="2551176"/>
            <a:ext cx="2697480" cy="438912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82696" y="25511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Content Agent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38928" y="3026664"/>
            <a:ext cx="685800" cy="201168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38928" y="30266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82696" y="33009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social and in-store content for promotions. Apply brand guidelines </a:t>
            </a:r>
            <a:r>
              <a:rPr lang="en-US" sz="100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across business units</a:t>
            </a: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35624" y="2551176"/>
            <a:ext cx="2697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8C9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135624" y="2551176"/>
            <a:ext cx="2697480" cy="438912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27064" y="25511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Audit Agent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83296" y="3026664"/>
            <a:ext cx="685800" cy="201168"/>
          </a:xfrm>
          <a:prstGeom prst="rect">
            <a:avLst/>
          </a:prstGeom>
          <a:solidFill>
            <a:srgbClr val="A4262C"/>
          </a:solidFill>
          <a:ln w="12700">
            <a:solidFill>
              <a:srgbClr val="A426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83296" y="30266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27064" y="33009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store teams through safety audit prep. Flag open items, surface required documentation, generate summary reports.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Canvas — Plan Before You Build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7589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"Fill this in as a team before you write a single line of configuration."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393192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393192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4048" y="116128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63624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pain point are you solving?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61288"/>
            <a:ext cx="393192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0" y="1161288"/>
            <a:ext cx="393192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81728" y="116128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563624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use this agent? What is their role </a:t>
            </a:r>
            <a:r>
              <a:rPr lang="en-US" sz="110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organization</a:t>
            </a: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86584"/>
            <a:ext cx="393192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2386584"/>
            <a:ext cx="3931920" cy="347472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4048" y="238658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788920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/ Declarative / Custom (Copilot Studio)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86584"/>
            <a:ext cx="393192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0" y="2386584"/>
            <a:ext cx="3931920" cy="347472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81728" y="238658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81728" y="2788920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data, documents, or systems does it need to access?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393192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3931920" cy="347472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4048" y="36118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014216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agent actually DO when triggered?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611880"/>
            <a:ext cx="3931920" cy="1042416"/>
          </a:xfrm>
          <a:prstGeom prst="rect">
            <a:avLst/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0" y="3611880"/>
            <a:ext cx="3931920" cy="34747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81728" y="36118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4014216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this is working </a:t>
            </a:r>
            <a:r>
              <a:rPr lang="en-US" sz="110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organization</a:t>
            </a: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 — Timeline &amp; Checkpoints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7863840" cy="0"/>
          </a:xfrm>
          <a:prstGeom prst="line">
            <a:avLst/>
          </a:prstGeom>
          <a:noFill/>
          <a:ln w="381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2258568"/>
            <a:ext cx="457200" cy="457200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-9144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91440" y="2816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9144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58568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9456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816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2258568"/>
            <a:ext cx="457200" cy="457200"/>
          </a:xfrm>
          <a:prstGeom prst="ellipse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056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816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2258568"/>
            <a:ext cx="457200" cy="457200"/>
          </a:xfrm>
          <a:prstGeom prst="ellipse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800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PM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816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3:45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Format — 5 Minutes Per 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850392"/>
            <a:ext cx="82296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640080" cy="42062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43584" y="905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43584" y="11795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business challenge you chose and who experiences it </a:t>
            </a:r>
            <a:r>
              <a:rPr lang="en-US" sz="115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organization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8595360" cy="658368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82296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1728216"/>
            <a:ext cx="640080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17282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43584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43584" y="1938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agent working in real time — a live interaction, not a screenshot or video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368296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74320" y="2368296"/>
            <a:ext cx="82296" cy="658368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640080" cy="420624"/>
          </a:xfrm>
          <a:prstGeom prst="ellipse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2487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43584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26974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value: time saved, errors reduced, experience improved for </a:t>
            </a:r>
            <a:r>
              <a:rPr lang="en-US" sz="115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127248"/>
            <a:ext cx="8595360" cy="658368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74320" y="3127248"/>
            <a:ext cx="82296" cy="658368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640080" cy="420624"/>
          </a:xfrm>
          <a:prstGeom prst="ellipse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43584" y="3182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43584" y="34564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take to move from POC to production? Who owns it? What's the timeline?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82296" cy="658368"/>
          </a:xfrm>
          <a:prstGeom prst="rect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57200" y="4005072"/>
            <a:ext cx="640080" cy="420624"/>
          </a:xfrm>
          <a:prstGeom prst="ellipse">
            <a:avLst/>
          </a:prstGeom>
          <a:solidFill>
            <a:srgbClr val="D47500"/>
          </a:solidFill>
          <a:ln w="12700">
            <a:solidFill>
              <a:srgbClr val="D475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40050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43584" y="3941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43584" y="42153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from the room — the best insights often come from other attendees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8595360" cy="384048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63440" y="795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0" y="795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91440" cy="7132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3075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28930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0" y="1325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ROI, tied to a real </a:t>
            </a:r>
            <a:r>
              <a:rPr lang="en-US" sz="110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challenge with quantifiable 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8595360" cy="71323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91440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920" y="2130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problem choice, fresh approach, or unexpected application of agents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91440" cy="713232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" y="29535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93522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 in demo, right type chosen, knowledge sources properly connected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713232"/>
          </a:xfrm>
          <a:prstGeom prst="rect">
            <a:avLst/>
          </a:prstGeom>
          <a:solidFill>
            <a:srgbClr val="DCE9F5"/>
          </a:solidFill>
          <a:ln w="6350">
            <a:solidFill>
              <a:srgbClr val="B8C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91440" cy="713232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920" y="37764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Quality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3758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6928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story, compelling pitch, confident delivery within 5 minutes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53128"/>
            <a:ext cx="8595360" cy="32918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7200" y="44531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100%  —  All teams present, winner recognized at end of demos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— Your Roadmap from Here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6888" y="795528"/>
            <a:ext cx="2697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08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6888" y="795528"/>
            <a:ext cx="269748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6888" y="795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05256" y="79552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 Pilot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Productivity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" y="1545336"/>
            <a:ext cx="244144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1–2 of today's POCs and scale to production. Identify a pilot group, define success metrics, and launch within 60 days.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" y="3675888"/>
            <a:ext cx="2697480" cy="640080"/>
          </a:xfrm>
          <a:prstGeom prst="rect">
            <a:avLst/>
          </a:prstGeom>
          <a:solidFill>
            <a:srgbClr val="DCE9F5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328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Knowledge worker scenarios — onboarding, ops reporting, content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91256" y="795528"/>
            <a:ext cx="2697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91256" y="795528"/>
            <a:ext cx="269748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91256" y="795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49624" y="79552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 Pilot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Automation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545336"/>
            <a:ext cx="244144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 end-to-end business process identified today. Map the full workflow, select the agent type, and build with Microsoft support.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91256" y="3675888"/>
            <a:ext cx="2697480" cy="640080"/>
          </a:xfrm>
          <a:prstGeom prst="rect">
            <a:avLst/>
          </a:prstGeom>
          <a:solidFill>
            <a:srgbClr val="DCE9F5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82696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Supply chain, guest recovery, compliance scenarios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35624" y="795528"/>
            <a:ext cx="2697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57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5624" y="795528"/>
            <a:ext cx="2697480" cy="640080"/>
          </a:xfrm>
          <a:prstGeom prst="rect">
            <a:avLst/>
          </a:prstGeom>
          <a:solidFill>
            <a:srgbClr val="00857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5624" y="795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93992" y="795528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Workshop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545336"/>
            <a:ext cx="244144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policies, security model, and adoption framework to scale agents across </a:t>
            </a:r>
            <a:r>
              <a:rPr lang="en-US" sz="110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</a:t>
            </a: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Set up a Center of Excellence.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35624" y="3675888"/>
            <a:ext cx="2697480" cy="640080"/>
          </a:xfrm>
          <a:prstGeom prst="rect">
            <a:avLst/>
          </a:prstGeom>
          <a:solidFill>
            <a:srgbClr val="DCE9F5"/>
          </a:solidFill>
          <a:ln w="12700">
            <a:solidFill>
              <a:srgbClr val="0085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27064" y="36758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IT, security, compliance, and platform teams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us today.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4754880" cy="0"/>
          </a:xfrm>
          <a:prstGeom prst="line">
            <a:avLst/>
          </a:prstGeom>
          <a:noFill/>
          <a:ln w="317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615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you build today could transform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60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</a:t>
            </a:r>
            <a:r>
              <a:rPr lang="en-US" sz="16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operates tomorrow.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572000" cy="685800"/>
          </a:xfrm>
          <a:prstGeom prst="rect">
            <a:avLst/>
          </a:prstGeom>
          <a:solidFill>
            <a:srgbClr val="001840"/>
          </a:solidFill>
          <a:ln w="9525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675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john.rea@microsoft.com  ·  Sr CSA - Copilot, Microsoft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2809</Words>
  <Application>Microsoft Office PowerPoint</Application>
  <PresentationFormat>On-screen Show (16:9)</PresentationFormat>
  <Paragraphs>308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Agents Hack-a-Thon – Inspire Brands</dc:title>
  <dc:subject>PptxGenJS Presentation</dc:subject>
  <dc:creator>John Rea</dc:creator>
  <cp:lastModifiedBy>John Rea</cp:lastModifiedBy>
  <cp:revision>1</cp:revision>
  <dcterms:created xsi:type="dcterms:W3CDTF">2026-03-27T15:17:48Z</dcterms:created>
  <dcterms:modified xsi:type="dcterms:W3CDTF">2026-04-03T20:43:45Z</dcterms:modified>
</cp:coreProperties>
</file>