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33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Rea" userId="d8639818-8097-4ceb-a926-1c095acca351" providerId="ADAL" clId="{0FCD4BB8-3B4B-4ACD-9B0D-ECB696CB557E}"/>
    <pc:docChg chg="custSel modSld">
      <pc:chgData name="John Rea" userId="d8639818-8097-4ceb-a926-1c095acca351" providerId="ADAL" clId="{0FCD4BB8-3B4B-4ACD-9B0D-ECB696CB557E}" dt="2026-03-26T23:34:38.269" v="0" actId="26606"/>
      <pc:docMkLst>
        <pc:docMk/>
      </pc:docMkLst>
      <pc:sldChg chg="modSp mod">
        <pc:chgData name="John Rea" userId="d8639818-8097-4ceb-a926-1c095acca351" providerId="ADAL" clId="{0FCD4BB8-3B4B-4ACD-9B0D-ECB696CB557E}" dt="2026-03-26T23:34:38.269" v="0" actId="26606"/>
        <pc:sldMkLst>
          <pc:docMk/>
          <pc:sldMk cId="0" sldId="258"/>
        </pc:sldMkLst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58"/>
            <ac:spMk id="15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23:34:38.269" v="0" actId="26606"/>
        <pc:sldMkLst>
          <pc:docMk/>
          <pc:sldMk cId="0" sldId="262"/>
        </pc:sldMkLst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62"/>
            <ac:spMk id="25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23:34:38.269" v="0" actId="26606"/>
        <pc:sldMkLst>
          <pc:docMk/>
          <pc:sldMk cId="0" sldId="263"/>
        </pc:sldMkLst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63"/>
            <ac:spMk id="29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63"/>
            <ac:spMk id="30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63"/>
            <ac:spMk id="31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63"/>
            <ac:spMk id="3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63"/>
            <ac:spMk id="36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23:34:38.269" v="0" actId="26606"/>
        <pc:sldMkLst>
          <pc:docMk/>
          <pc:sldMk cId="0" sldId="264"/>
        </pc:sldMkLst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64"/>
            <ac:spMk id="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64"/>
            <ac:spMk id="11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23:34:38.269" v="0" actId="26606"/>
        <pc:sldMkLst>
          <pc:docMk/>
          <pc:sldMk cId="0" sldId="265"/>
        </pc:sldMkLst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65"/>
            <ac:spMk id="37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23:34:38.269" v="0" actId="26606"/>
        <pc:sldMkLst>
          <pc:docMk/>
          <pc:sldMk cId="0" sldId="270"/>
        </pc:sldMkLst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70"/>
            <ac:spMk id="25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23:34:38.269" v="0" actId="26606"/>
        <pc:sldMkLst>
          <pc:docMk/>
          <pc:sldMk cId="0" sldId="271"/>
        </pc:sldMkLst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71"/>
            <ac:spMk id="11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23:34:38.269" v="0" actId="26606"/>
        <pc:sldMkLst>
          <pc:docMk/>
          <pc:sldMk cId="0" sldId="272"/>
        </pc:sldMkLst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72"/>
            <ac:spMk id="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72"/>
            <ac:spMk id="11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23:34:38.269" v="0" actId="26606"/>
        <pc:sldMkLst>
          <pc:docMk/>
          <pc:sldMk cId="0" sldId="275"/>
        </pc:sldMkLst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75"/>
            <ac:spMk id="22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23:34:38.269" v="0" actId="26606"/>
        <pc:sldMkLst>
          <pc:docMk/>
          <pc:sldMk cId="0" sldId="284"/>
        </pc:sldMkLst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84"/>
            <ac:spMk id="36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84"/>
            <ac:spMk id="37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23:34:38.269" v="0" actId="26606"/>
        <pc:sldMkLst>
          <pc:docMk/>
          <pc:sldMk cId="0" sldId="286"/>
        </pc:sldMkLst>
        <pc:spChg chg="mod">
          <ac:chgData name="John Rea" userId="d8639818-8097-4ceb-a926-1c095acca351" providerId="ADAL" clId="{0FCD4BB8-3B4B-4ACD-9B0D-ECB696CB557E}" dt="2026-03-26T23:34:38.269" v="0" actId="26606"/>
          <ac:spMkLst>
            <pc:docMk/>
            <pc:sldMk cId="0" sldId="28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459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29184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329184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2560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640080"/>
            <a:ext cx="2377440" cy="13716"/>
          </a:xfrm>
          <a:prstGeom prst="rect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HACK-A-THON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31, 2026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Boston, 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BRANDS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1298448" cy="3474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274320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Arby's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91640" y="2743200"/>
            <a:ext cx="1298448" cy="3474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91640" y="274320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218688"/>
            <a:ext cx="1298448" cy="3474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21868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91640" y="3218688"/>
            <a:ext cx="1298448" cy="3474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91640" y="321868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Dunkin'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694176"/>
            <a:ext cx="1298448" cy="3474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69417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Baskin-Robbins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6400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Agents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3566160" y="16002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Hack-a-Thon</a:t>
            </a:r>
            <a:endParaRPr lang="en-US" sz="5400" dirty="0"/>
          </a:p>
        </p:txBody>
      </p:sp>
      <p:sp>
        <p:nvSpPr>
          <p:cNvPr id="22" name="Shape 20"/>
          <p:cNvSpPr/>
          <p:nvPr/>
        </p:nvSpPr>
        <p:spPr>
          <a:xfrm>
            <a:off x="3566160" y="2578608"/>
            <a:ext cx="512064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66160" y="26974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Level (200) — Full Day Workshop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312724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 by John Rea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Cloud Solution Architect, Microsoft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Microsoft  |  Inspire Brands  |  Boston, MA  |  March 31,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Agenda — March 31,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91440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9966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– 9:00 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2344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4650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746504"/>
            <a:ext cx="91440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1783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– 9:30 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20208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Goals &amp; Housekeeping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53288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532888"/>
            <a:ext cx="91440" cy="65836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25694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 – 11:00 AM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28072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Education (200-level)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31927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319272"/>
            <a:ext cx="91440" cy="658368"/>
          </a:xfrm>
          <a:prstGeom prst="rect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" y="33558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– 11:15 AM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" y="35935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10565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4105656"/>
            <a:ext cx="91440" cy="65836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8912" y="4142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11:15 AM – 12:30 PM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912" y="43799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96012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0600" y="960120"/>
            <a:ext cx="91440" cy="658368"/>
          </a:xfrm>
          <a:prstGeom prst="rect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65192" y="9966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 – 1:15 PM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65192" y="12344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Discussion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174650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00600" y="1746504"/>
            <a:ext cx="9144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65192" y="1783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– 1:30 PM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65192" y="20208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Kickoff &amp; Team Formation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253288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00600" y="2532888"/>
            <a:ext cx="9144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65192" y="25694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– 4:00 PM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65192" y="28072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 (Hackathon)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00600" y="331927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00600" y="3319272"/>
            <a:ext cx="91440" cy="658368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65192" y="33558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 – 4:45 PM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65192" y="35935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Demos &amp; Judging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00600" y="410565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00600" y="4105656"/>
            <a:ext cx="91440" cy="658368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65192" y="4142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4:45 – 5:00 PM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65192" y="43799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Awards, Next Steps &amp; Close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" y="1161288"/>
            <a:ext cx="530352" cy="530352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161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Agent Landscape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38074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spectrum from pre-built to fully custom autonomous agents in Microsoft 365 &amp; Copilot Studio.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65192" y="1161288"/>
            <a:ext cx="530352" cy="530352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65192" y="1161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2356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Exploration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138074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pre-built agents and build your own declarative agent using </a:t>
            </a:r>
            <a:r>
              <a:rPr lang="en-US" sz="100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Lite</a:t>
            </a: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code required.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8912" y="2487168"/>
            <a:ext cx="530352" cy="530352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2487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377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 for Inspire Brands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70662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real pain points across restaurant ops, franchise management, HR, supply chain, and guest experience.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65192" y="2487168"/>
            <a:ext cx="530352" cy="530352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65192" y="2487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2377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Prototype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270662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functional agent MVP that solves a real Inspire Brands business challenge.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8912" y="3813048"/>
            <a:ext cx="530352" cy="530352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8912" y="3813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3703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Inspire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403250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agent to the group, gather feedback, and identify a path to pilot deployment.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65192" y="3813048"/>
            <a:ext cx="530352" cy="530352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65192" y="3813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23560" y="3703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Next Move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23560" y="403250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 clear next steps: governance considerations, pilot options, and Microsoft support resources.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43584" y="1124712"/>
            <a:ext cx="768096" cy="7680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43584" y="11247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3192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22585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InspireGuest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Provided at your table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82112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69664" y="1124712"/>
            <a:ext cx="768096" cy="768096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69664" y="11247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19272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73552" y="22585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&amp; afternoon breaks scheduled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Restrooms: Down the hall, turn left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08192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95744" y="1124712"/>
            <a:ext cx="768096" cy="7680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95744" y="11247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45352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9632" y="22585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on silent | Questions anytime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all experience levels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243584" y="3044952"/>
            <a:ext cx="768096" cy="768096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43584" y="30449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93192" y="3886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Space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417880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"stupid" questions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 encouraged — mistakes = learning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82112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169664" y="3044952"/>
            <a:ext cx="768096" cy="7680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69664" y="30449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19272" y="3886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Drink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73552" y="417880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Breakfast, lunch &amp; snacks provided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station is always open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08192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095744" y="3044952"/>
            <a:ext cx="768096" cy="768096"/>
          </a:xfrm>
          <a:prstGeom prst="ellipse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95744" y="30449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45352" y="3886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99632" y="417880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Exits: front lobby &amp; rear stairwell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aid: front desk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9728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in Microsoft 365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309067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technology that powers intelligent automation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389120"/>
            <a:ext cx="109728" cy="109728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34440" y="4389120"/>
            <a:ext cx="109728" cy="109728"/>
          </a:xfrm>
          <a:prstGeom prst="ellipse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54480" y="4389120"/>
            <a:ext cx="109728" cy="109728"/>
          </a:xfrm>
          <a:prstGeom prst="ellipse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74520" y="4389120"/>
            <a:ext cx="109728" cy="109728"/>
          </a:xfrm>
          <a:prstGeom prst="ellipse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AI Agents?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09728" cy="8686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is software that perceives its environment, reasons about a goal, and takes actions — autonomously or with human guidance — to achieve a defined outcome.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" y="201168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2011680"/>
            <a:ext cx="201168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41832" y="2157984"/>
            <a:ext cx="640080" cy="6400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41832" y="21579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" y="28712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" y="3218688"/>
            <a:ext cx="18288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data from email, SharePoint, Teams, databases, or external systems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32304" y="201168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32304" y="2011680"/>
            <a:ext cx="2011680" cy="7315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18104" y="2157984"/>
            <a:ext cx="640080" cy="640080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18104" y="21579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32304" y="28712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23744" y="3218688"/>
            <a:ext cx="18288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 LLM to interpret instructions, context, and goals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08576" y="201168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08576" y="2011680"/>
            <a:ext cx="2011680" cy="73152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94376" y="2157984"/>
            <a:ext cx="640080" cy="640080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94376" y="21579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08576" y="28712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00016" y="3218688"/>
            <a:ext cx="18288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messages, updates records, calls APIs, generates documents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84848" y="201168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84848" y="2011680"/>
            <a:ext cx="20116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70648" y="2157984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70648" y="21579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84848" y="28712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76288" y="3218688"/>
            <a:ext cx="18288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with feedback, memory, and grounding in your knowledge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Ecosystem — A Spectrum of Capability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347472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2743200" cy="3474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108960" y="1115568"/>
            <a:ext cx="3017520" cy="34747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26480" y="1115568"/>
            <a:ext cx="2651760" cy="347472"/>
          </a:xfrm>
          <a:prstGeom prst="rect">
            <a:avLst/>
          </a:prstGeom>
          <a:solidFill>
            <a:srgbClr val="132D6B"/>
          </a:solidFill>
          <a:ln w="12700">
            <a:solidFill>
              <a:srgbClr val="132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481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Complexity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08960" y="14813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Complexity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0" y="14813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3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874520"/>
            <a:ext cx="27889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874520"/>
            <a:ext cx="278892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195681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Agents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23225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26517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05409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&amp; Analyst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4564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Agents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8587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426110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configuration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63240" y="1874520"/>
            <a:ext cx="27889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063240" y="1874520"/>
            <a:ext cx="278892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0" y="195681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Agents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00400" y="23225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Lite / SharePoint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55848" y="26517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persona &amp; tone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55848" y="305409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knowledge sources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55848" y="34564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configuration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55848" y="38587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Teams/SharePoint/M365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55848" y="426110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topic scope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80760" y="1874520"/>
            <a:ext cx="27889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80760" y="1874520"/>
            <a:ext cx="2788920" cy="54864"/>
          </a:xfrm>
          <a:prstGeom prst="rect">
            <a:avLst/>
          </a:prstGeom>
          <a:solidFill>
            <a:srgbClr val="132D6B"/>
          </a:solidFill>
          <a:ln w="12700">
            <a:solidFill>
              <a:srgbClr val="132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195681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17920" y="23225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3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73368" y="26517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workflows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73368" y="305409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73368" y="34564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connectors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73368" y="38587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&amp; actions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73368" y="426110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&amp; escalation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Agents in Microsoft 365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 today — no configuration required. Available in Copilot Chat, Teams, and Microsoft 365 apps.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" y="1636776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636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50876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1819656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AI assistant across Microsoft 365. Search, summarize, draft, and analyze across your org's data.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19472" y="1636776"/>
            <a:ext cx="566928" cy="566928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19472" y="1636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96128" y="150876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96128" y="1819656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research on any topic using web and organizational content. Ideal for market analysis or competitive intel.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87752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912" y="2807208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2807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" y="267919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299008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and visualization. Connect to datasets and get instant charts, summaries, and insights via Python.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587752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19472" y="2807208"/>
            <a:ext cx="566928" cy="566928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9472" y="2807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96128" y="267919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Agents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96128" y="299008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about any SharePoint site or document library. Great for SOPs, policy docs, and training materials.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758184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38912" y="3977640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8912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15568" y="384962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Agent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5568" y="41605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live during </a:t>
            </a: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r>
              <a:rPr lang="en-US" sz="100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capture notes</a:t>
            </a: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</a:t>
            </a: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items, and </a:t>
            </a:r>
            <a:r>
              <a:rPr lang="en-US" sz="100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</a:t>
            </a: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</a:t>
            </a:r>
            <a:r>
              <a:rPr lang="en-US" sz="100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in Planner </a:t>
            </a: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Teams calls.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758184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19472" y="3977640"/>
            <a:ext cx="566928" cy="566928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19472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96128" y="384962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</a:t>
            </a:r>
            <a:r>
              <a:rPr lang="en-US" sz="1300" b="1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96128" y="41605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refines </a:t>
            </a: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decks </a:t>
            </a:r>
            <a:r>
              <a:rPr lang="en-US" sz="100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natural conversation</a:t>
            </a: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Useful for franchise reporting and exec communications.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Agents — </a:t>
            </a: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Lite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SharePoint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11480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424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Declarative Agents?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517904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Copilot persona with a specific name, role, and tone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21408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specific knowledge sources (SharePoint, files, URLs)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72491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minutes using </a:t>
            </a:r>
            <a:r>
              <a:rPr lang="en-US" sz="110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Lite</a:t>
            </a: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coding required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328416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Microsoft Teams, SharePoint, or Copilot Chat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93192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via natural language instructions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41148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0424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4813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docs/SOPs that employees constantly ask about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88366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a scoped Q&amp;A bot without coding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policy, training materials, compliance guides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4114800" cy="1965960"/>
          </a:xfrm>
          <a:prstGeom prst="rect">
            <a:avLst/>
          </a:prstGeom>
          <a:solidFill>
            <a:srgbClr val="0D1B3E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41148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29992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Brands Example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401568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"Franchise Ops Assistant" — scoped to the Franchise Operations SharePoint site. Answers questions about royalty schedules, brand standards, equipment specs, and opening checklists. Deployed in Teams for all franchise business consultants.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&amp; Autonomous Agents — Copilot Studio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859536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784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enables fully custom agents that can take actions, call APIs, run workflows, and operate autonomously — with or without human-in-the-loop approval.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755648"/>
            <a:ext cx="27889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" y="2157984"/>
            <a:ext cx="603504" cy="60350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21579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18470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70432" y="21945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runs, Teams messages, form submissions, SharePoint events, Power Automate flows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82112" y="1755648"/>
            <a:ext cx="27889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64992" y="2157984"/>
            <a:ext cx="603504" cy="603504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64992" y="21579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96512" y="18470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96512" y="21945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emails, update Dataverse records, call REST APIs, generate documents, create tickets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08192" y="1755648"/>
            <a:ext cx="27889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91072" y="2157984"/>
            <a:ext cx="603504" cy="603504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91072" y="21579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22592" y="18470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22592" y="21945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SharePoint, files, URLs, SQL databases, or custom connectors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3328416"/>
            <a:ext cx="27889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38912" y="3730752"/>
            <a:ext cx="603504" cy="6035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8912" y="37307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70432" y="34198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70432" y="376732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reasoning, topic branching, adaptive responses, and generative answers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82112" y="3328416"/>
            <a:ext cx="27889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364992" y="3730752"/>
            <a:ext cx="603504" cy="603504"/>
          </a:xfrm>
          <a:prstGeom prst="ellipse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64992" y="37307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96512" y="34198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96512" y="376732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policies, admin controls, analytics, usage monitoring, and approval gates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08192" y="3328416"/>
            <a:ext cx="27889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91072" y="3730752"/>
            <a:ext cx="603504" cy="60350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91072" y="37307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22592" y="34198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22592" y="376732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connectors via Power Platform: SAP, Salesforce, ServiceNow, custom APIs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Architecture: Key Building Blocks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29000" y="1920240"/>
            <a:ext cx="228600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29000" y="19202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237744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09728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40817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persona, scope, tone, guardrails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0" y="100584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92240" y="1005840"/>
            <a:ext cx="237744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109728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140817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SharePoint, files, URLs, Dataverse, web search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2377440" cy="54864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46888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Actions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277977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email, update records, call APIs, create tasks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92240" y="237744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92240" y="2377440"/>
            <a:ext cx="23774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0" y="246888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277977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Platform, Microsoft Graph, custom REST APIs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29000" y="3337560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29000" y="3337560"/>
            <a:ext cx="228600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20440" y="342900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20440" y="37398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message, schedule, event, form, workflow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51760" y="1417320"/>
            <a:ext cx="777240" cy="36576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15000" y="1417320"/>
            <a:ext cx="777240" cy="36576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651760" y="2788920"/>
            <a:ext cx="777240" cy="36576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715000" y="2788920"/>
            <a:ext cx="777240" cy="36576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26280" y="3108960"/>
            <a:ext cx="36576" cy="228600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of Agents at Inspire Brands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91440" cy="7132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" y="1033272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033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10149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Experience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103327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personalize loyalty offers, handle order inquiries, respond to reviews, and surface upsell recommendations at drive-thru and kiosk.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63240" y="1124712"/>
            <a:ext cx="18288" cy="384048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76479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764792"/>
            <a:ext cx="91440" cy="71323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1837944"/>
            <a:ext cx="566928" cy="566928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1837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70432" y="18196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Ops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183794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franchise audit prep, brand compliance checks, royalty reporting, and FBC coaching workflows. Reduce time-to-answer for franchisees.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63240" y="1929384"/>
            <a:ext cx="18288" cy="384048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56946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569464"/>
            <a:ext cx="91440" cy="713232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" y="2642616"/>
            <a:ext cx="566928" cy="566928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70432" y="2624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Onboarding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08960" y="2642616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member onboarding agent: answers policy questions, guides paperwork, schedules training, and reduces manager overhead for new hires.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63240" y="2734056"/>
            <a:ext cx="18288" cy="384048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37413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374136"/>
            <a:ext cx="9144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" y="344728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" y="3447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70432" y="3429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108960" y="3447288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inventory levels, flag supplier alerts, assist with demand forecasting, and route procurement queries to the right team.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63240" y="3538728"/>
            <a:ext cx="18288" cy="384048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417880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4178808"/>
            <a:ext cx="91440" cy="71323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" y="4251960"/>
            <a:ext cx="566928" cy="566928"/>
          </a:xfrm>
          <a:prstGeom prst="ellipse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" y="4251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70432" y="4233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108960" y="425196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brand-compliant campaign copy, localize promotions by franchise region, and summarize A/B test results across brands.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063240" y="4343400"/>
            <a:ext cx="18288" cy="384048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Agent Scenarios in Food Service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206240" cy="54864"/>
          </a:xfrm>
          <a:prstGeom prst="rect">
            <a:avLst/>
          </a:prstGeom>
          <a:solidFill>
            <a:srgbClr val="132D6B"/>
          </a:solidFill>
          <a:ln w="12700">
            <a:solidFill>
              <a:srgbClr val="132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Onboarding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356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Arby's / Buffalo Wild Wings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1453896"/>
            <a:ext cx="1508760" cy="237744"/>
          </a:xfrm>
          <a:prstGeom prst="rect">
            <a:avLst/>
          </a:prstGeom>
          <a:solidFill>
            <a:srgbClr val="132D6B"/>
          </a:solidFill>
          <a:ln w="12700">
            <a:solidFill>
              <a:srgbClr val="132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45389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(Custom)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783080"/>
            <a:ext cx="3931920" cy="18288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18562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07568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reduction in manager time spent answering new hire questions. Agent guides crew through paperwork, policy, uniform standards, and first-week schedule.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20624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Compliance Bot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14356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Inspire Brands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0" y="1453896"/>
            <a:ext cx="1508760" cy="23774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0" y="145389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Agent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892040" y="1783080"/>
            <a:ext cx="3931920" cy="18288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8562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07568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business consultants query brand standards 24/7. Agent is grounded in the Brand Standards SharePoint library and escalates gaps to the FBC.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935224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2935224"/>
            <a:ext cx="420624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30266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Flash Analyzer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34107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Sonic / Dunkin'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834640" y="3429000"/>
            <a:ext cx="1508760" cy="2377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834640" y="342900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Agent (Pre-Built)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1480" y="3758184"/>
            <a:ext cx="3931920" cy="18288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38313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405079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paste daily sales data into Copilot Chat. Analyst agent generates variance analysis, flags underperforming dayparts, and drafts action plans automatically.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935224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2935224"/>
            <a:ext cx="4206240" cy="54864"/>
          </a:xfrm>
          <a:prstGeom prst="rect">
            <a:avLst/>
          </a:prstGeom>
          <a:solidFill>
            <a:srgbClr val="132D6B"/>
          </a:solidFill>
          <a:ln w="12700">
            <a:solidFill>
              <a:srgbClr val="132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30266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Escalation Agent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92040" y="34107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/ Jimmy John's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15200" y="3429000"/>
            <a:ext cx="1508760" cy="237744"/>
          </a:xfrm>
          <a:prstGeom prst="rect">
            <a:avLst/>
          </a:prstGeom>
          <a:solidFill>
            <a:srgbClr val="132D6B"/>
          </a:solidFill>
          <a:ln w="12700">
            <a:solidFill>
              <a:srgbClr val="132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15200" y="342900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(Autonomous)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92040" y="3758184"/>
            <a:ext cx="3931920" cy="18288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92040" y="38313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405079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inventory feeds. When stock drops below par, agent automatically emails suppliers, creates a purchase order draft, and alerts the ops manager via Teams.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9728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309067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hands on the technology — no prior experience needed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389120"/>
            <a:ext cx="109728" cy="109728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34440" y="4389120"/>
            <a:ext cx="109728" cy="109728"/>
          </a:xfrm>
          <a:prstGeom prst="ellipse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54480" y="4389120"/>
            <a:ext cx="109728" cy="109728"/>
          </a:xfrm>
          <a:prstGeom prst="ellipse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74520" y="4389120"/>
            <a:ext cx="109728" cy="109728"/>
          </a:xfrm>
          <a:prstGeom prst="ellipse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 — Overview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859536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78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structured exercises to build your confidence with Microsoft 365 agents before the Hackathon. Work at your own pace — facilitators are here to help.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4206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420624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828800"/>
            <a:ext cx="64008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" y="182880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Pre-Built Agents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15798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  |  All Levels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450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Copilot Chat at </a:t>
            </a:r>
            <a:r>
              <a:rPr lang="en-US" sz="100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m365.cloud</a:t>
            </a: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00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0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</a:t>
            </a:r>
            <a:r>
              <a:rPr lang="en-US" sz="100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</a:t>
            </a: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ask it to summarize a document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218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Researcher agent and run a food service topic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6027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Analyst agent with sample restaurant data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9867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what surprised you? What worked well?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737360"/>
            <a:ext cx="4206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1737360"/>
            <a:ext cx="420624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1828800"/>
            <a:ext cx="640080" cy="27432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77840" y="182880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Declarative Agent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15798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  |  Intermediate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83480" y="2450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Microsoft Copilot Studio → </a:t>
            </a:r>
            <a:r>
              <a:rPr lang="en-US" sz="100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Lite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agent (e.g., "Inspire HR Helper")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3218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instructions: role, tone, scope, restrictions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36027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knowledge source (SharePoint URL or file)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39867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agent in the built-in chat panel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43708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deploy to Teams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solidFill>
            <a:srgbClr val="E8E8EE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need: Microsoft 365 login with Copilot license  •  Edge or Chrome browser  •  Access to a SharePoint site or sample document (provided)  •  Copilot Studio access (trial or licensed)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1: Explore Pre-Built Agents in Microsoft 365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Experience how pre-built agents handle real Inspire Brands tasks — no setup required.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75488" cy="10972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298448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1389888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1700784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</a:t>
            </a:r>
            <a:r>
              <a:rPr lang="en-US" sz="100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m365.cloud</a:t>
            </a: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00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0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sign in with your Inspire Brands Microsoft 365 account.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98448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298448"/>
            <a:ext cx="475488" cy="10972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298448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21808" y="1389888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Copilot Chat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21808" y="1700784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"Summarize the top challenges in QSR franchise operations." Then ask it to draft an agenda for a GM performance review.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23744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523744"/>
            <a:ext cx="475488" cy="10972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523744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" y="261518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Researcher Agent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292608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left panel, click Agents → Researcher. Prompt: "Research trends in drive-thru technology for 2025-2026."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523744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2523744"/>
            <a:ext cx="475488" cy="10972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2523744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21808" y="261518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Analyst Agent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1808" y="292608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Agents → Analyst. Paste in the sample weekly sales table (provided). Ask for a daypart breakdown and chart.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7490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749040"/>
            <a:ext cx="475488" cy="10972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374904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41248" y="3840480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SharePoint Agent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" y="4151376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your sample SharePoint site. Click the Copilot icon. Ask: "What are the brand standards for in-store signage?"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7490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3749040"/>
            <a:ext cx="475488" cy="10972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374904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21808" y="3840480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21808" y="4151376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what impressed you and where you see gaps. You'll share 1 insight in the debrief.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2: Create a Declarative Agent with </a:t>
            </a: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Lite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scoped Copilot agent grounded in Inspire Brands knowledge — in under 45 minutes.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75488" cy="109728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298448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1389888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Copilot Studio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1700784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copilotstudio.microsoft.com. Click Create → New Agent. Select "</a:t>
            </a:r>
            <a:r>
              <a:rPr lang="en-US" sz="100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Lite</a:t>
            </a: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(no-code).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98448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298448"/>
            <a:ext cx="475488" cy="109728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298448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21808" y="1389888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Describe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21808" y="1700784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e.g., "Inspire Ops Assistant"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"Helps franchise ops teams find policies and answer procedural questions."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23744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523744"/>
            <a:ext cx="475488" cy="109728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523744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" y="261518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Instructions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292608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example: "You are a helpful assistant for Inspire Brands operations. Answer questions about brand standards, franchise policies, and operational procedures. Keep responses concise and professional. Do not discuss competitor brands."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523744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2523744"/>
            <a:ext cx="475488" cy="109728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2523744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21808" y="261518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Knowledge Source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1808" y="292608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Add knowledge → SharePoint. Paste the sample SharePoint URL provided. Wait for indexing to complete (2-3 min).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7490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749040"/>
            <a:ext cx="475488" cy="109728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374904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41248" y="3840480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Agent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" y="4151376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test panel on the right. Ask: "What are the steps to prepare for a franchise audit?" Refine instructions based on the response.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7490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3749040"/>
            <a:ext cx="475488" cy="109728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374904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21808" y="3840480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Publish to Teams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21808" y="4151376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Publish → Microsoft Teams. Share the link with a colleague to test cross-device.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Debrief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5029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4241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" y="1517904"/>
            <a:ext cx="256032" cy="25603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1517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517904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surprised you most about the pre-built agents?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" y="2176272"/>
            <a:ext cx="256032" cy="25603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" y="2176272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you see the biggest potential for Inspire Brands?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2834640"/>
            <a:ext cx="256032" cy="25603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283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2834640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limitations or gaps did you notice?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" y="3493008"/>
            <a:ext cx="256032" cy="25603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" y="3493008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agent felt most relevant to your day-to-day work?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" y="4151376"/>
            <a:ext cx="256032" cy="25603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4151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" y="4151376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questions do you have before the Hackathon?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77840" y="960120"/>
            <a:ext cx="3291840" cy="1828800"/>
          </a:xfrm>
          <a:prstGeom prst="rect">
            <a:avLst/>
          </a:prstGeom>
          <a:solidFill>
            <a:srgbClr val="0D1B3E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15000" y="10241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Your Insights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15000" y="14264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that impressed me: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15000" y="1682496"/>
            <a:ext cx="3017520" cy="18288"/>
          </a:xfrm>
          <a:prstGeom prst="rect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15000" y="18470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gap or limitation: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15000" y="2103120"/>
            <a:ext cx="3017520" cy="18288"/>
          </a:xfrm>
          <a:prstGeom prst="rect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15000" y="22677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 case for my team: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15000" y="2523744"/>
            <a:ext cx="3017520" cy="18288"/>
          </a:xfrm>
          <a:prstGeom prst="rect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577840" y="2926080"/>
            <a:ext cx="3291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577840" y="2926080"/>
            <a:ext cx="32918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715000" y="29992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into the Hackathon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15000" y="338328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lunch, we move into the Hackathon. Teams will be assigned, scenarios will be provided, and you'll have 2.5 hours to build something real for Inspire Brands.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9728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309067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something real for Inspire Brands in 2.5 hours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389120"/>
            <a:ext cx="109728" cy="109728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34440" y="4389120"/>
            <a:ext cx="109728" cy="109728"/>
          </a:xfrm>
          <a:prstGeom prst="ellipse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54480" y="4389120"/>
            <a:ext cx="109728" cy="109728"/>
          </a:xfrm>
          <a:prstGeom prst="ellipse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74520" y="4389120"/>
            <a:ext cx="109728" cy="109728"/>
          </a:xfrm>
          <a:prstGeom prst="ellipse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Kickoff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PM — Let's Build!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74320" y="2084832"/>
            <a:ext cx="27432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414016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414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52144" y="21762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2144" y="2505456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people per team. Mix roles — bring ops, tech, and business perspectives.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2084832"/>
            <a:ext cx="27432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0" y="2414016"/>
            <a:ext cx="566928" cy="566928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2414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78224" y="21762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78224" y="2505456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the Scenario Starter Pack or propose your own (must be approved by facilitator).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2084832"/>
            <a:ext cx="27432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9360" y="2414016"/>
            <a:ext cx="566928" cy="566928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2414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04304" y="21762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04304" y="2505456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tools available: </a:t>
            </a:r>
            <a:r>
              <a:rPr lang="en-US" sz="95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Lite</a:t>
            </a: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Copilot Studio, or M365 pre-built agents.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547872"/>
            <a:ext cx="27432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877056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877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2144" y="36393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52144" y="3968496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demo at 4:00 PM. Show the agent working + explain the business value.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3547872"/>
            <a:ext cx="27432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383280" y="3877056"/>
            <a:ext cx="566928" cy="566928"/>
          </a:xfrm>
          <a:prstGeom prst="ellipse">
            <a:avLst/>
          </a:prstGeom>
          <a:solidFill>
            <a:srgbClr val="132D6B"/>
          </a:solidFill>
          <a:ln w="12700">
            <a:solidFill>
              <a:srgbClr val="132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83280" y="3877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78224" y="36393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78224" y="3968496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on: Business Value, Feasibility, Creativity, and Completeness.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3547872"/>
            <a:ext cx="27432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09360" y="3877056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09360" y="3877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04304" y="36393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04304" y="3968496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Facilitators circulate throughout. Raise your hand or use the help flag at your table.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 Framework — Find Your Best Agent Scenario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3-step thinking process to identify a high-value agent scenario for Inspire Brands.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2743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25880" y="1426464"/>
            <a:ext cx="640080" cy="6400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5880" y="14264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25237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frustrates your team daily?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626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asks the same questions repeatedly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reports take hours to compile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8039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don't know where to find policies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224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complaints aren't routed consistently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63240" y="2971800"/>
            <a:ext cx="109728" cy="54864"/>
          </a:xfrm>
          <a:prstGeom prst="rect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0" y="13258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1325880"/>
            <a:ext cx="274320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51960" y="1426464"/>
            <a:ext cx="640080" cy="640080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51960" y="14264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37560" y="21396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37560" y="25237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repeatable process underlies it?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29626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lookup → knowledge base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 → reporting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38039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search → onboarding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4224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routing → service resolution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89320" y="2971800"/>
            <a:ext cx="109728" cy="54864"/>
          </a:xfrm>
          <a:prstGeom prst="rect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26480" y="13258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1325880"/>
            <a:ext cx="2743200" cy="54864"/>
          </a:xfrm>
          <a:prstGeom prst="rect">
            <a:avLst/>
          </a:prstGeom>
          <a:solidFill>
            <a:srgbClr val="132D6B"/>
          </a:solidFill>
          <a:ln w="12700">
            <a:solidFill>
              <a:srgbClr val="132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178040" y="1426464"/>
            <a:ext cx="640080" cy="640080"/>
          </a:xfrm>
          <a:prstGeom prst="ellipse">
            <a:avLst/>
          </a:prstGeom>
          <a:solidFill>
            <a:srgbClr val="132D6B"/>
          </a:solidFill>
          <a:ln w="12700">
            <a:solidFill>
              <a:srgbClr val="132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78040" y="14264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63640" y="21396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Type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63640" y="25237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13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agent fits this process?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29626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→ Declarative Agent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Analyst Agent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38039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→ SharePoint Agent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4224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→ Copilot Studio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5010912"/>
            <a:ext cx="8595360" cy="91440"/>
          </a:xfrm>
          <a:prstGeom prst="rect">
            <a:avLst/>
          </a:prstGeom>
          <a:solidFill>
            <a:srgbClr val="E8E8EE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The best scenarios have a clear before/after — pick something where the agent saves real time or reduces errors for restaurant operators.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Brands Scenario Starter Pack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of these scenarios or propose your own. Facilitator must approve custom scenarios.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" y="1572768"/>
            <a:ext cx="530352" cy="53035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572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135331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Member Onboarding Bot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16642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Brands  |  Copilot Studio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8992" y="188366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guides new crew through first-day paperwork, uniform standards, food safety certification steps, and schedule questions. Reduces manager onboarding time.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298448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19472" y="1572768"/>
            <a:ext cx="530352" cy="530352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9472" y="1572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59552" y="135331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Ops Q&amp;A Assistant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59552" y="16642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Brands  |  Declarative Agent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59552" y="188366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franchisee questions about royalties, brand standards, marketing fund contributions, and equipment specs. Grounded in Franchise Ops SharePoint site.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56032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8912" y="2834640"/>
            <a:ext cx="530352" cy="530352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2834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261518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Flash Summarizer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292608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Sonic / Dunkin'  |  Analyst / Copilot Studio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" y="314553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daily sales export, compares to budget and prior week, highlights variance by daypart and channel, and drafts a GM action summary.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56032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19472" y="2834640"/>
            <a:ext cx="530352" cy="5303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9472" y="2834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59552" y="261518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Complaint Routing Agent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59552" y="292608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Buffalo Wild Wings / Arby's  |  Copilot Studio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59552" y="314553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Triages incoming guest feedback (email/form), classifies complaint type, routes to correct team (ops/marketing/legal), and auto-drafts a response.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82219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38912" y="4096512"/>
            <a:ext cx="530352" cy="530352"/>
          </a:xfrm>
          <a:prstGeom prst="ellipse">
            <a:avLst/>
          </a:prstGeom>
          <a:solidFill>
            <a:srgbClr val="132D6B"/>
          </a:solidFill>
          <a:ln w="12700">
            <a:solidFill>
              <a:srgbClr val="132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8912" y="4096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78992" y="38770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Menu Item Launch Prep Agent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78992" y="418795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13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Brands  |  Declarative Agent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" y="440740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store teams through menu launch checklist: training materials, POS update steps, supply confirmation, and marketing asset location in SharePoint.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82219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919472" y="4096512"/>
            <a:ext cx="530352" cy="53035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19472" y="4096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559552" y="38770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Escalation &amp; PO Agent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59552" y="418795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 |  Copilot Studio (Autonomous)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59552" y="440740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inventory levels from the supply system. When stock drops below par, triggers supplier outreach, creates a draft PO, and alerts the ops manager.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 Canvas — Plan Before You Build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canvas as a team before you start building. Share with your facilitator for feedback.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206240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3533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Name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6093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agent called? What does it do in one sentence?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29844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298448"/>
            <a:ext cx="4206240" cy="4572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3533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Type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093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/ Declarative / Custom (Copilot Studio)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084832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084832"/>
            <a:ext cx="2011680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1396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3957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this agent? (GM, crew, FBC, corporate team)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377440" y="2084832"/>
            <a:ext cx="2103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377440" y="2084832"/>
            <a:ext cx="2103120" cy="4572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68880" y="21396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/ Entry Point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23957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agent activated? (message, schedule, event, form)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084832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2084832"/>
            <a:ext cx="2011680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21396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23957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site, files, URLs, database, API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58000" y="2084832"/>
            <a:ext cx="2103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58000" y="2084832"/>
            <a:ext cx="2103120" cy="4572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9440" y="21396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9440" y="23957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DO? (answer, create, send, update, escalate)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0175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3017520"/>
            <a:ext cx="4206240" cy="45720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0723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332841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the user? Time saved? Errors reduced? Better experience?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0175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0" y="3017520"/>
            <a:ext cx="42062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30723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332841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know it worked? (# questions handled, time saved, % reduction in escalations)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3977640"/>
            <a:ext cx="8686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4320" y="3977640"/>
            <a:ext cx="8686800" cy="45720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403250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/ Guardrails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4288536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wrong? What topics should it avoid? What needs human approval?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60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Hours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457200" y="263347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PM — 4:00 PM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71600" y="3310128"/>
            <a:ext cx="6400800" cy="2011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3310128"/>
            <a:ext cx="6400800" cy="201168"/>
          </a:xfrm>
          <a:prstGeom prst="rect">
            <a:avLst/>
          </a:prstGeom>
          <a:solidFill>
            <a:srgbClr val="0078D4">
              <a:alpha val="3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0160" y="3264408"/>
            <a:ext cx="201168" cy="20116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4930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PM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80360" y="3264408"/>
            <a:ext cx="201168" cy="20116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14600" y="34930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 PM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14600" y="37490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80560" y="3264408"/>
            <a:ext cx="201168" cy="20116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0" y="34930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PM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0" y="37490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Mid-point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3264408"/>
            <a:ext cx="201168" cy="20116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15000" y="34930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3:45 PM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15000" y="37490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680960" y="3264408"/>
            <a:ext cx="201168" cy="20116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0" y="34930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 PM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0" y="37490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start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Facilitators will circulate. Use the help flag at your table.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Tips &amp; Best Practices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" y="1143000"/>
            <a:ext cx="530352" cy="53035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143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03327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32588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smallest version first. A working MVP beats an unfinished complex agent every time.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19472" y="1143000"/>
            <a:ext cx="530352" cy="530352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9472" y="1143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103327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Matter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0" y="132588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time on your system prompt. Be specific about persona, tone, scope, and what to avoid.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984248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8912" y="2167128"/>
            <a:ext cx="530352" cy="530352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21671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205740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Knowledge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35000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out. Use clean, well-structured SharePoint docs or files as your knowledge source.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1984248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19472" y="2167128"/>
            <a:ext cx="530352" cy="5303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19472" y="21671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205740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Adversarially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235000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agent off-topic questions and edge cases. Make sure it stays in scope and fails gracefully.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008376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8912" y="3191256"/>
            <a:ext cx="530352" cy="530352"/>
          </a:xfrm>
          <a:prstGeom prst="ellipse">
            <a:avLst/>
          </a:prstGeom>
          <a:solidFill>
            <a:srgbClr val="132D6B"/>
          </a:solidFill>
          <a:ln w="12700">
            <a:solidFill>
              <a:srgbClr val="132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8912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308152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First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337413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tie your agent to a real outcome: time saved, errors reduced, experience improved. Quantify if possible.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008376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19472" y="3191256"/>
            <a:ext cx="530352" cy="53035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19472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77840" y="308152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As You Go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77840" y="337413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your design decisions, what worked, and what you'd change. This helps during the demo and pilot phase.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032504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38912" y="4215384"/>
            <a:ext cx="530352" cy="530352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38912" y="4215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97280" y="410565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Guardrails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97280" y="4398264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agent NOT do? Define restrictions in your system prompt to prevent scope creep and misuse.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4032504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919472" y="4215384"/>
            <a:ext cx="530352" cy="530352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19472" y="4215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577840" y="410565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577840" y="4398264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roles in your team. Ops people know the pain points; tech people know the tools. Both perspectives matter.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97280" cy="38404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&amp; Wrap-Up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309067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you built — celebrate the work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389120"/>
            <a:ext cx="109728" cy="109728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34440" y="4389120"/>
            <a:ext cx="109728" cy="109728"/>
          </a:xfrm>
          <a:prstGeom prst="ellipse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54480" y="4389120"/>
            <a:ext cx="109728" cy="109728"/>
          </a:xfrm>
          <a:prstGeom prst="ellipse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74520" y="4389120"/>
            <a:ext cx="109728" cy="109728"/>
          </a:xfrm>
          <a:prstGeom prst="ellipse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Time — 4:00 PM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859536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has 5 minutes to demo their agent. Keep it focused, live, and business-value oriented.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420624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420624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8105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5-Minute Demo Script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23113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0:00–0:30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71600" y="223113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State the pain point in one sentence. Who feels it? How often?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7249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0:30–1:30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371600" y="272491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Agent: Show the agent name, type, and knowledge sources. Explain your system prompt in plain language.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1868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1:30–3:30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71600" y="321868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Show 2-3 real interactions. Narrate what the agent is doing and why.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71246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3:30–4:30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71600" y="371246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Quantify the impact: time saved, errors reduced, or experience improved.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2062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4:30–5:00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371600" y="420624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Next: If you had more time or resources, what would you add or improve?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737360"/>
            <a:ext cx="4206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1737360"/>
            <a:ext cx="4206240" cy="54864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18105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21762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backup screenshot in case of tech issues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5603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with real-sounding questions, not generic ones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294436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the Inspire Brands use case specifically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32841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OK if it's not perfect — show the potential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346704"/>
            <a:ext cx="4206240" cy="1517904"/>
          </a:xfrm>
          <a:prstGeom prst="rect">
            <a:avLst/>
          </a:prstGeom>
          <a:solidFill>
            <a:srgbClr val="0D1B3E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340156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Criteria Reminder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92040" y="3785616"/>
            <a:ext cx="164592" cy="164592"/>
          </a:xfrm>
          <a:prstGeom prst="ellipse">
            <a:avLst/>
          </a:prstGeom>
          <a:solidFill>
            <a:srgbClr val="50ABF1"/>
          </a:solidFill>
          <a:ln w="12700">
            <a:solidFill>
              <a:srgbClr val="50A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20640" y="37490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4041648"/>
            <a:ext cx="164592" cy="164592"/>
          </a:xfrm>
          <a:prstGeom prst="ellipse">
            <a:avLst/>
          </a:prstGeom>
          <a:solidFill>
            <a:srgbClr val="50ABF1"/>
          </a:solidFill>
          <a:ln w="12700">
            <a:solidFill>
              <a:srgbClr val="50A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20640" y="40050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4297680"/>
            <a:ext cx="164592" cy="164592"/>
          </a:xfrm>
          <a:prstGeom prst="ellipse">
            <a:avLst/>
          </a:prstGeom>
          <a:solidFill>
            <a:srgbClr val="50ABF1"/>
          </a:solidFill>
          <a:ln w="12700">
            <a:solidFill>
              <a:srgbClr val="50A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20640" y="42611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&amp; Innovation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4553712"/>
            <a:ext cx="164592" cy="164592"/>
          </a:xfrm>
          <a:prstGeom prst="ellipse">
            <a:avLst/>
          </a:prstGeom>
          <a:solidFill>
            <a:srgbClr val="50ABF1"/>
          </a:solidFill>
          <a:ln w="12700">
            <a:solidFill>
              <a:srgbClr val="50A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20640" y="451713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Completeness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Scorecard — Judging Criteria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score each team on four dimensions. Maximum 25 points per category. Total: 100 points.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20624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20624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03320" y="1389888"/>
            <a:ext cx="658368" cy="475488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03320" y="138988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03320" y="1810512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1389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175564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agent solve a real Inspire Brands problem? Is the value clearly articulated? Could leadership prioritize this for pilot?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286000"/>
            <a:ext cx="3931920" cy="13716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331720"/>
            <a:ext cx="128016" cy="128016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3042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21–25: Clear business case, quantified impact, leadership-ready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551176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25237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11–20: Good idea, some value articulated, needs refinement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2770632"/>
            <a:ext cx="128016" cy="128016"/>
          </a:xfrm>
          <a:prstGeom prst="ellipse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27432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0–10: Unclear value or not tied to Inspire Brands operations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298448"/>
            <a:ext cx="420624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1298448"/>
            <a:ext cx="420624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83880" y="1389888"/>
            <a:ext cx="658368" cy="47548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83880" y="138988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183880" y="1810512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92040" y="1389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175564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agent architecturally sound? Does it use the right agent type? Could this actually be deployed in a production M365 environment?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92040" y="2286000"/>
            <a:ext cx="3931920" cy="13716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92040" y="2331720"/>
            <a:ext cx="128016" cy="128016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74920" y="23042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21–25: Solid architecture, correct agent type, deployment-ready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92040" y="2551176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74920" y="25237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11–20: Works in demo, some gaps in production readiness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92040" y="2770632"/>
            <a:ext cx="128016" cy="128016"/>
          </a:xfrm>
          <a:prstGeom prst="ellipse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74920" y="27432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0–10: Significant technical issues or wrong tool choice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127248"/>
            <a:ext cx="420624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4320" y="3127248"/>
            <a:ext cx="4206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703320" y="3218688"/>
            <a:ext cx="65836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703320" y="321868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703320" y="3639312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1480" y="32186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&amp; Innovation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11480" y="358444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novel use of AI agents for QSR/food service? Does it go beyond the obvious? Does it inspire others?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1480" y="4114800"/>
            <a:ext cx="3931920" cy="13716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11480" y="4160520"/>
            <a:ext cx="128016" cy="128016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94360" y="41330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21–25: Unexpected, inspiring, opens new possibilities for the brand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11480" y="4379976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94360" y="43525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11–20: Solid idea, some creative elements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11480" y="4599432"/>
            <a:ext cx="128016" cy="128016"/>
          </a:xfrm>
          <a:prstGeom prst="ellipse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94360" y="45720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0–10: Expected or derivative solution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54880" y="3127248"/>
            <a:ext cx="420624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754880" y="3127248"/>
            <a:ext cx="4206240" cy="54864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183880" y="3218688"/>
            <a:ext cx="658368" cy="475488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183880" y="321868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8183880" y="3639312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92040" y="32186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Completeness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892040" y="358444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5-minute demo clear, live, and well-structured? Did the team articulate the problem, solution, and next steps?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92040" y="4114800"/>
            <a:ext cx="3931920" cy="13716"/>
          </a:xfrm>
          <a:prstGeom prst="rect">
            <a:avLst/>
          </a:prstGeom>
          <a:solidFill>
            <a:srgbClr val="E8E8EE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892040" y="4160520"/>
            <a:ext cx="128016" cy="128016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074920" y="41330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21–25: Well-rehearsed, clear narrative, compelling live demo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892040" y="4379976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074920" y="43525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11–20: Good demo, some rough edges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892040" y="4599432"/>
            <a:ext cx="128016" cy="128016"/>
          </a:xfrm>
          <a:prstGeom prst="ellipse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074920" y="45720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0–10: Incomplete or unclear presentation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Microsoft Resources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20624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424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517904"/>
            <a:ext cx="274320" cy="2743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49961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17190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Agent Design Canvas with your manager and identify your top scenario for pilot.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157984"/>
            <a:ext cx="274320" cy="2743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" y="213969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April 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23591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30-minute follow-up with John Rea to discuss pilot feasibility and licensing.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798064"/>
            <a:ext cx="274320" cy="2743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" y="277977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29992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Microsoft FastTrack or CSAM for a Copilot Studio governance review.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438144"/>
            <a:ext cx="274320" cy="2743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" y="34198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363931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30-day pilot with 5-10 users. Measure baseline vs. post-agent time-on-task.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4078224"/>
            <a:ext cx="274320" cy="2743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" y="405993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42793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Inspire Brands Copilot Champions community to share learnings across brands.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96012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960120"/>
            <a:ext cx="420624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10424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Resources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92040" y="1481328"/>
            <a:ext cx="54864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148132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Docs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16824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learn.microsoft.com/copilot-studio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1956816"/>
            <a:ext cx="54864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0" y="195681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Lite</a:t>
            </a: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(M365)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21579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m365.cloud</a:t>
            </a:r>
            <a:r>
              <a:rPr lang="en-US" sz="9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90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r>
              <a:rPr lang="en-US" sz="9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90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2432304"/>
            <a:ext cx="54864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0" y="243230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Adoption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0" y="26334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adoption.microsoft.com/copilot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92040" y="2907792"/>
            <a:ext cx="54864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29200" y="290779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Samples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0" y="31089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aka.ms/CopilotStudioSamples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92040" y="3383280"/>
            <a:ext cx="54864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29200" y="33832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Navigator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0" y="35844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learn.microsoft.com/training/ai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92040" y="3858768"/>
            <a:ext cx="54864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29200" y="38587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FastTrack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0" y="40599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fasttrack.microsoft.com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92040" y="4334256"/>
            <a:ext cx="54864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29200" y="433425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Brands CSAM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29200" y="45354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John Rea, Microsoft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4864" cy="53035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After This Hackathon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the spark. Here's how Inspire Brands can build on this momentum.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20624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Pilot Program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17556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 Structured Pilot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1-2 agents from today's hackathon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0545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pilot scope: brand, region, or team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88950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baseline metrics before launch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27355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5-25 pilot users with feedback loop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check-in with Microsoft CSAM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readout: ROI, adoption, issues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42569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gate: expand, iterate, or stop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298448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1298448"/>
            <a:ext cx="420624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13898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Workshop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17556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 Microsoft-Led Workshop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12140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Inspire Brands AI usage policy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50545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 &amp; agent permissions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88950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policies for Copilot Studio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327355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approval and publishing process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65760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 in Microsoft 365 Admin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04164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analytics &amp; audit logs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442569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training &amp; adoption plan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474720" cy="5486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347472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Rea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13385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Cloud Solution Architect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73936"/>
            <a:ext cx="2743200" cy="18288"/>
          </a:xfrm>
          <a:prstGeom prst="rect">
            <a:avLst/>
          </a:prstGeom>
          <a:solidFill>
            <a:srgbClr val="9B9BAD"/>
          </a:solidFill>
          <a:ln w="12700">
            <a:solidFill>
              <a:srgbClr val="9B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88366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Resources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m365.cloud</a:t>
            </a: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95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95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268833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copilotstudio.microsoft.com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309067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adoption.microsoft.com/copilot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349300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aka.ms/CopilotStudioSamples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6400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15" name="Shape 13"/>
          <p:cNvSpPr/>
          <p:nvPr/>
        </p:nvSpPr>
        <p:spPr>
          <a:xfrm>
            <a:off x="3840480" y="1965960"/>
            <a:ext cx="50292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40480" y="2103120"/>
            <a:ext cx="201168" cy="201168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33088" y="2084832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something real today — that takes courage and creativity.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0" y="2761488"/>
            <a:ext cx="201168" cy="201168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33088" y="274320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great product started as a hackathon idea. Yours could be next.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40480" y="3419856"/>
            <a:ext cx="201168" cy="201168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33088" y="3401568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is here to support your AI Agents journey. Reach out anytime.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39502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the brands that serve millions every day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4315968"/>
            <a:ext cx="1115568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0" y="43159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Arby's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74920" y="4315968"/>
            <a:ext cx="1115568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74920" y="43159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BWW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309360" y="4315968"/>
            <a:ext cx="1115568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43159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Sonic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543800" y="4315968"/>
            <a:ext cx="1115568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43800" y="43159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Dunkin'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840480" y="4663440"/>
            <a:ext cx="1115568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0" y="4663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Baskin-Robbins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074920" y="4663440"/>
            <a:ext cx="1115568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74920" y="4663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Jimmy John's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309360" y="4663440"/>
            <a:ext cx="1115568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09360" y="4663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Rusty Taco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Brands Copilot Agents Hack-a-Thon  |  March 31, 2026  |  Boston, MA  |  Presented by Microsoft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3868</Words>
  <Application>Microsoft Office PowerPoint</Application>
  <PresentationFormat>On-screen Show (16:9)</PresentationFormat>
  <Paragraphs>601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Agents Hack-a-Thon — Inspire Brands</dc:title>
  <dc:subject>PptxGenJS Presentation</dc:subject>
  <dc:creator>John Rea, Microsoft</dc:creator>
  <cp:lastModifiedBy>John Rea</cp:lastModifiedBy>
  <cp:revision>2</cp:revision>
  <dcterms:created xsi:type="dcterms:W3CDTF">2026-03-26T22:33:29Z</dcterms:created>
  <dcterms:modified xsi:type="dcterms:W3CDTF">2026-03-26T23:34:48Z</dcterms:modified>
</cp:coreProperties>
</file>